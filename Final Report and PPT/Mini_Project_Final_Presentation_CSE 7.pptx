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40"/>
  </p:notesMasterIdLst>
  <p:handoutMasterIdLst>
    <p:handoutMasterId r:id="rId41"/>
  </p:handoutMasterIdLst>
  <p:sldIdLst>
    <p:sldId id="264" r:id="rId2"/>
    <p:sldId id="413" r:id="rId3"/>
    <p:sldId id="440" r:id="rId4"/>
    <p:sldId id="441" r:id="rId5"/>
    <p:sldId id="495" r:id="rId6"/>
    <p:sldId id="465" r:id="rId7"/>
    <p:sldId id="470" r:id="rId8"/>
    <p:sldId id="463" r:id="rId9"/>
    <p:sldId id="471" r:id="rId10"/>
    <p:sldId id="472" r:id="rId11"/>
    <p:sldId id="475" r:id="rId12"/>
    <p:sldId id="476" r:id="rId13"/>
    <p:sldId id="477" r:id="rId14"/>
    <p:sldId id="479" r:id="rId15"/>
    <p:sldId id="482" r:id="rId16"/>
    <p:sldId id="481" r:id="rId17"/>
    <p:sldId id="469" r:id="rId18"/>
    <p:sldId id="480" r:id="rId19"/>
    <p:sldId id="478" r:id="rId20"/>
    <p:sldId id="483" r:id="rId21"/>
    <p:sldId id="484" r:id="rId22"/>
    <p:sldId id="473" r:id="rId23"/>
    <p:sldId id="485" r:id="rId24"/>
    <p:sldId id="486" r:id="rId25"/>
    <p:sldId id="488" r:id="rId26"/>
    <p:sldId id="489" r:id="rId27"/>
    <p:sldId id="490" r:id="rId28"/>
    <p:sldId id="491" r:id="rId29"/>
    <p:sldId id="492" r:id="rId30"/>
    <p:sldId id="493" r:id="rId31"/>
    <p:sldId id="494" r:id="rId32"/>
    <p:sldId id="497" r:id="rId33"/>
    <p:sldId id="498" r:id="rId34"/>
    <p:sldId id="487" r:id="rId35"/>
    <p:sldId id="496" r:id="rId36"/>
    <p:sldId id="464" r:id="rId37"/>
    <p:sldId id="434" r:id="rId38"/>
    <p:sldId id="448" r:id="rId39"/>
  </p:sldIdLst>
  <p:sldSz cx="10799763" cy="6858000"/>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402"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FF6600"/>
    <a:srgbClr val="D47D26"/>
    <a:srgbClr val="CCFFFF"/>
    <a:srgbClr val="66FFFF"/>
    <a:srgbClr val="FFFF66"/>
    <a:srgbClr val="FFFF00"/>
    <a:srgbClr val="FFFFCC"/>
    <a:srgbClr val="FF99FF"/>
    <a:srgbClr val="99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4F90EC3-C22D-4309-2373-8A8393B94140}" v="33" dt="2025-10-16T07:47:49.010"/>
    <p1510:client id="{17A704BF-49F4-9A34-98D6-6F65C8AEBE3B}" v="85" dt="2025-10-16T08:23:26.876"/>
    <p1510:client id="{2F37C50E-D1FC-43D3-5CD8-9349E841150C}" v="65" dt="2025-10-15T10:28:15.455"/>
    <p1510:client id="{3C0735DE-E524-9BAB-A006-CD976B2769FA}" v="3" dt="2025-10-14T14:20:22.500"/>
    <p1510:client id="{3DF1211A-B56C-7257-A528-3CAA1DC43663}" v="74" dt="2025-10-15T13:43:24.021"/>
    <p1510:client id="{4F11B451-6707-B897-DE4E-475F8F11F69D}" v="3" dt="2025-10-16T08:21:56.618"/>
    <p1510:client id="{65F552BB-D7B5-B782-7172-61A56C79EF75}" v="212" dt="2025-10-15T13:21:59.954"/>
    <p1510:client id="{71910295-761B-6D61-66EC-50F7B07917C2}" v="4" dt="2025-10-15T16:11:03.208"/>
    <p1510:client id="{7653F3FF-3A03-D3D6-A894-DD89F6B1EFD7}" v="11" dt="2025-10-16T08:03:16.150"/>
    <p1510:client id="{80885813-97A9-D7A4-3279-EF7828AE9674}" v="186" dt="2025-10-15T08:08:41.193"/>
    <p1510:client id="{92D10C06-6CC9-1AED-F5D9-A3135886C761}" v="492" dt="2025-10-15T15:27:58.626"/>
    <p1510:client id="{A627C448-5883-427D-8DC2-2FDD67673487}" v="81" dt="2025-10-16T01:10:45.993"/>
    <p1510:client id="{B934B61B-2824-7C27-794C-1C71CFC5E4DB}" v="557" dt="2025-10-16T05:48:41.192"/>
    <p1510:client id="{D14941B7-6AFE-70C6-31FB-A7044F5F5058}" v="241" dt="2025-10-14T14:38:46.630"/>
    <p1510:client id="{E6DAE0C0-87D2-9452-212C-E6815FE74B50}" v="39" dt="2025-10-15T05:31:14.404"/>
    <p1510:client id="{F53102AD-D005-892D-3912-BEA913233296}" v="317" dt="2025-10-15T16:00:13.842"/>
    <p1510:client id="{F6FB1555-9EA0-2ECA-4D94-17CE63BFB098}" v="9" dt="2025-10-15T00:22:32.51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402"/>
      </p:guideLst>
    </p:cSldViewPr>
  </p:slide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3075"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3076"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3077"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419E7B17-C078-4C50-9935-3DE50FC9DB26}" type="slidenum">
              <a:rPr lang="en-US"/>
              <a:pPr>
                <a:defRPr/>
              </a:pPr>
              <a:t>‹#›</a:t>
            </a:fld>
            <a:endParaRPr lang="en-US"/>
          </a:p>
        </p:txBody>
      </p:sp>
    </p:spTree>
    <p:extLst>
      <p:ext uri="{BB962C8B-B14F-4D97-AF65-F5344CB8AC3E}">
        <p14:creationId xmlns:p14="http://schemas.microsoft.com/office/powerpoint/2010/main" val="92650635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512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14340" name="Rectangle 4"/>
          <p:cNvSpPr>
            <a:spLocks noGrp="1" noRot="1" noChangeAspect="1" noChangeArrowheads="1" noTextEdit="1"/>
          </p:cNvSpPr>
          <p:nvPr>
            <p:ph type="sldImg" idx="2"/>
          </p:nvPr>
        </p:nvSpPr>
        <p:spPr bwMode="auto">
          <a:xfrm>
            <a:off x="730250" y="685800"/>
            <a:ext cx="5397500" cy="3429000"/>
          </a:xfrm>
          <a:prstGeom prst="rect">
            <a:avLst/>
          </a:prstGeom>
          <a:noFill/>
          <a:ln w="9525">
            <a:solidFill>
              <a:srgbClr val="000000"/>
            </a:solidFill>
            <a:miter lim="800000"/>
            <a:headEnd/>
            <a:tailEnd/>
          </a:ln>
        </p:spPr>
      </p:sp>
      <p:sp>
        <p:nvSpPr>
          <p:cNvPr id="512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12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512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65E4430F-96D5-4F5E-AF15-BF5EB88FA4B6}" type="slidenum">
              <a:rPr lang="en-US"/>
              <a:pPr>
                <a:defRPr/>
              </a:pPr>
              <a:t>‹#›</a:t>
            </a:fld>
            <a:endParaRPr lang="en-US"/>
          </a:p>
        </p:txBody>
      </p:sp>
    </p:spTree>
    <p:extLst>
      <p:ext uri="{BB962C8B-B14F-4D97-AF65-F5344CB8AC3E}">
        <p14:creationId xmlns:p14="http://schemas.microsoft.com/office/powerpoint/2010/main" val="1194302353"/>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30250" y="685800"/>
            <a:ext cx="53975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65E4430F-96D5-4F5E-AF15-BF5EB88FA4B6}" type="slidenum">
              <a:rPr lang="en-US" smtClean="0"/>
              <a:pPr>
                <a:defRPr/>
              </a:pPr>
              <a:t>1</a:t>
            </a:fld>
            <a:endParaRPr lang="en-US"/>
          </a:p>
        </p:txBody>
      </p:sp>
    </p:spTree>
    <p:extLst>
      <p:ext uri="{BB962C8B-B14F-4D97-AF65-F5344CB8AC3E}">
        <p14:creationId xmlns:p14="http://schemas.microsoft.com/office/powerpoint/2010/main" val="28994165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pPr>
              <a:defRPr/>
            </a:pPr>
            <a:fld id="{65E4430F-96D5-4F5E-AF15-BF5EB88FA4B6}" type="slidenum">
              <a:rPr lang="en-US" smtClean="0"/>
              <a:pPr>
                <a:defRPr/>
              </a:pPr>
              <a:t>8</a:t>
            </a:fld>
            <a:endParaRPr lang="en-US"/>
          </a:p>
        </p:txBody>
      </p:sp>
    </p:spTree>
    <p:extLst>
      <p:ext uri="{BB962C8B-B14F-4D97-AF65-F5344CB8AC3E}">
        <p14:creationId xmlns:p14="http://schemas.microsoft.com/office/powerpoint/2010/main" val="26354585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C610D4-C796-810B-819B-FECEBCAE0E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6FC432-449F-5F15-5B02-05DCDD0CE4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637EE8-805A-CC72-E6B4-396CD192AF4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5D0F12D-7C70-74CE-4C6F-E8B177E81255}"/>
              </a:ext>
            </a:extLst>
          </p:cNvPr>
          <p:cNvSpPr>
            <a:spLocks noGrp="1"/>
          </p:cNvSpPr>
          <p:nvPr>
            <p:ph type="sldNum" sz="quarter" idx="10"/>
          </p:nvPr>
        </p:nvSpPr>
        <p:spPr/>
        <p:txBody>
          <a:bodyPr/>
          <a:lstStyle/>
          <a:p>
            <a:pPr>
              <a:defRPr/>
            </a:pPr>
            <a:fld id="{65E4430F-96D5-4F5E-AF15-BF5EB88FA4B6}" type="slidenum">
              <a:rPr lang="en-US" smtClean="0"/>
              <a:pPr>
                <a:defRPr/>
              </a:pPr>
              <a:t>9</a:t>
            </a:fld>
            <a:endParaRPr lang="en-US"/>
          </a:p>
        </p:txBody>
      </p:sp>
    </p:spTree>
    <p:extLst>
      <p:ext uri="{BB962C8B-B14F-4D97-AF65-F5344CB8AC3E}">
        <p14:creationId xmlns:p14="http://schemas.microsoft.com/office/powerpoint/2010/main" val="30119475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82DD3D-4DC1-51B1-8BE4-B6EF8BE236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CF4F5D-0390-DB0F-C286-EE8E38D53A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1B5CA8-20DE-CA17-8FC9-D879D559F780}"/>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60486288-0388-5295-DE08-4E275904663F}"/>
              </a:ext>
            </a:extLst>
          </p:cNvPr>
          <p:cNvSpPr>
            <a:spLocks noGrp="1"/>
          </p:cNvSpPr>
          <p:nvPr>
            <p:ph type="sldNum" sz="quarter" idx="10"/>
          </p:nvPr>
        </p:nvSpPr>
        <p:spPr/>
        <p:txBody>
          <a:bodyPr/>
          <a:lstStyle/>
          <a:p>
            <a:pPr>
              <a:defRPr/>
            </a:pPr>
            <a:fld id="{65E4430F-96D5-4F5E-AF15-BF5EB88FA4B6}" type="slidenum">
              <a:rPr lang="en-US" smtClean="0"/>
              <a:pPr>
                <a:defRPr/>
              </a:pPr>
              <a:t>10</a:t>
            </a:fld>
            <a:endParaRPr lang="en-US"/>
          </a:p>
        </p:txBody>
      </p:sp>
    </p:spTree>
    <p:extLst>
      <p:ext uri="{BB962C8B-B14F-4D97-AF65-F5344CB8AC3E}">
        <p14:creationId xmlns:p14="http://schemas.microsoft.com/office/powerpoint/2010/main" val="40096040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57FE7E-1044-AAAE-E2F3-D4B4E1F1E3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53CFE0-AB8E-3BE8-9FF0-ED5FB693DC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1EA4C0-304E-06B4-7696-B0CA93146432}"/>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0423EF2-815B-7DDE-989F-0577DC8162FB}"/>
              </a:ext>
            </a:extLst>
          </p:cNvPr>
          <p:cNvSpPr>
            <a:spLocks noGrp="1"/>
          </p:cNvSpPr>
          <p:nvPr>
            <p:ph type="sldNum" sz="quarter" idx="10"/>
          </p:nvPr>
        </p:nvSpPr>
        <p:spPr/>
        <p:txBody>
          <a:bodyPr/>
          <a:lstStyle/>
          <a:p>
            <a:pPr>
              <a:defRPr/>
            </a:pPr>
            <a:fld id="{65E4430F-96D5-4F5E-AF15-BF5EB88FA4B6}" type="slidenum">
              <a:rPr lang="en-US" smtClean="0"/>
              <a:pPr>
                <a:defRPr/>
              </a:pPr>
              <a:t>11</a:t>
            </a:fld>
            <a:endParaRPr lang="en-US"/>
          </a:p>
        </p:txBody>
      </p:sp>
    </p:spTree>
    <p:extLst>
      <p:ext uri="{BB962C8B-B14F-4D97-AF65-F5344CB8AC3E}">
        <p14:creationId xmlns:p14="http://schemas.microsoft.com/office/powerpoint/2010/main" val="36494062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028FD8-32C8-0139-C1CF-D664BD1104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11800D-15A6-422C-CF9B-340BE7AB01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2EAD66-0010-E6E6-DC94-F860E81D5D60}"/>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C2B53DC6-646B-C946-59CB-3ECBD9114AD7}"/>
              </a:ext>
            </a:extLst>
          </p:cNvPr>
          <p:cNvSpPr>
            <a:spLocks noGrp="1"/>
          </p:cNvSpPr>
          <p:nvPr>
            <p:ph type="sldNum" sz="quarter" idx="10"/>
          </p:nvPr>
        </p:nvSpPr>
        <p:spPr/>
        <p:txBody>
          <a:bodyPr/>
          <a:lstStyle/>
          <a:p>
            <a:pPr>
              <a:defRPr/>
            </a:pPr>
            <a:fld id="{65E4430F-96D5-4F5E-AF15-BF5EB88FA4B6}" type="slidenum">
              <a:rPr lang="en-US" smtClean="0"/>
              <a:pPr>
                <a:defRPr/>
              </a:pPr>
              <a:t>12</a:t>
            </a:fld>
            <a:endParaRPr lang="en-US"/>
          </a:p>
        </p:txBody>
      </p:sp>
    </p:spTree>
    <p:extLst>
      <p:ext uri="{BB962C8B-B14F-4D97-AF65-F5344CB8AC3E}">
        <p14:creationId xmlns:p14="http://schemas.microsoft.com/office/powerpoint/2010/main" val="16805754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1B0564-917C-285E-7C27-56E9D0C668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84364D-F28A-0056-19F5-50A3475B84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AD2124-D55A-0431-37BA-173C35703F5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ABF36784-0D32-E661-B8DC-95F78426EC39}"/>
              </a:ext>
            </a:extLst>
          </p:cNvPr>
          <p:cNvSpPr>
            <a:spLocks noGrp="1"/>
          </p:cNvSpPr>
          <p:nvPr>
            <p:ph type="sldNum" sz="quarter" idx="10"/>
          </p:nvPr>
        </p:nvSpPr>
        <p:spPr/>
        <p:txBody>
          <a:bodyPr/>
          <a:lstStyle/>
          <a:p>
            <a:pPr>
              <a:defRPr/>
            </a:pPr>
            <a:fld id="{65E4430F-96D5-4F5E-AF15-BF5EB88FA4B6}" type="slidenum">
              <a:rPr lang="en-US" smtClean="0"/>
              <a:pPr>
                <a:defRPr/>
              </a:pPr>
              <a:t>13</a:t>
            </a:fld>
            <a:endParaRPr lang="en-US"/>
          </a:p>
        </p:txBody>
      </p:sp>
    </p:spTree>
    <p:extLst>
      <p:ext uri="{BB962C8B-B14F-4D97-AF65-F5344CB8AC3E}">
        <p14:creationId xmlns:p14="http://schemas.microsoft.com/office/powerpoint/2010/main" val="33788102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D428A3-8AAA-6F4A-A872-B7CC6CCB25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DFFBFE-99C8-06F3-DEE6-FAA24E6B4D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C62453-EDD3-B9F1-BA96-12A26448AB3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6C45559-74F2-EA4D-DBD2-37CE9D4D1A96}"/>
              </a:ext>
            </a:extLst>
          </p:cNvPr>
          <p:cNvSpPr>
            <a:spLocks noGrp="1"/>
          </p:cNvSpPr>
          <p:nvPr>
            <p:ph type="sldNum" sz="quarter" idx="10"/>
          </p:nvPr>
        </p:nvSpPr>
        <p:spPr/>
        <p:txBody>
          <a:bodyPr/>
          <a:lstStyle/>
          <a:p>
            <a:pPr>
              <a:defRPr/>
            </a:pPr>
            <a:fld id="{65E4430F-96D5-4F5E-AF15-BF5EB88FA4B6}" type="slidenum">
              <a:rPr lang="en-US" smtClean="0"/>
              <a:pPr>
                <a:defRPr/>
              </a:pPr>
              <a:t>14</a:t>
            </a:fld>
            <a:endParaRPr lang="en-US"/>
          </a:p>
        </p:txBody>
      </p:sp>
    </p:spTree>
    <p:extLst>
      <p:ext uri="{BB962C8B-B14F-4D97-AF65-F5344CB8AC3E}">
        <p14:creationId xmlns:p14="http://schemas.microsoft.com/office/powerpoint/2010/main" val="169589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4ECF6B-CBC0-06CB-6B06-386465FD1D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1EE1CF-C030-5EB8-5C8B-F9079E0CEB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CC4712-61FE-4F65-37B5-F8EF43D39BC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935DF762-0BE9-F1EA-F710-ECFF5A6B5D88}"/>
              </a:ext>
            </a:extLst>
          </p:cNvPr>
          <p:cNvSpPr>
            <a:spLocks noGrp="1"/>
          </p:cNvSpPr>
          <p:nvPr>
            <p:ph type="sldNum" sz="quarter" idx="10"/>
          </p:nvPr>
        </p:nvSpPr>
        <p:spPr/>
        <p:txBody>
          <a:bodyPr/>
          <a:lstStyle/>
          <a:p>
            <a:pPr>
              <a:defRPr/>
            </a:pPr>
            <a:fld id="{65E4430F-96D5-4F5E-AF15-BF5EB88FA4B6}" type="slidenum">
              <a:rPr lang="en-US" smtClean="0"/>
              <a:pPr>
                <a:defRPr/>
              </a:pPr>
              <a:t>15</a:t>
            </a:fld>
            <a:endParaRPr lang="en-US"/>
          </a:p>
        </p:txBody>
      </p:sp>
    </p:spTree>
    <p:extLst>
      <p:ext uri="{BB962C8B-B14F-4D97-AF65-F5344CB8AC3E}">
        <p14:creationId xmlns:p14="http://schemas.microsoft.com/office/powerpoint/2010/main" val="33945342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F0FD9-DBB5-07B3-6AE0-EA5ED876BC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086903-876F-00A9-51D1-66F11D4410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E84912-2FDA-2FC3-4013-05BB02E1C3EB}"/>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8516378E-79A2-A395-7FD0-B81BF366EA77}"/>
              </a:ext>
            </a:extLst>
          </p:cNvPr>
          <p:cNvSpPr>
            <a:spLocks noGrp="1"/>
          </p:cNvSpPr>
          <p:nvPr>
            <p:ph type="sldNum" sz="quarter" idx="10"/>
          </p:nvPr>
        </p:nvSpPr>
        <p:spPr/>
        <p:txBody>
          <a:bodyPr/>
          <a:lstStyle/>
          <a:p>
            <a:pPr>
              <a:defRPr/>
            </a:pPr>
            <a:fld id="{65E4430F-96D5-4F5E-AF15-BF5EB88FA4B6}" type="slidenum">
              <a:rPr lang="en-US" smtClean="0"/>
              <a:pPr>
                <a:defRPr/>
              </a:pPr>
              <a:t>16</a:t>
            </a:fld>
            <a:endParaRPr lang="en-US"/>
          </a:p>
        </p:txBody>
      </p:sp>
    </p:spTree>
    <p:extLst>
      <p:ext uri="{BB962C8B-B14F-4D97-AF65-F5344CB8AC3E}">
        <p14:creationId xmlns:p14="http://schemas.microsoft.com/office/powerpoint/2010/main" val="13320356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D867E-F932-07A4-66D6-F16BD391F0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7709DD-AE13-554A-6912-4E2AA76632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211B01-6EF6-ED46-1C32-623CBF0F5579}"/>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D618B33A-5A6F-CA09-A4F3-7C0056907783}"/>
              </a:ext>
            </a:extLst>
          </p:cNvPr>
          <p:cNvSpPr>
            <a:spLocks noGrp="1"/>
          </p:cNvSpPr>
          <p:nvPr>
            <p:ph type="sldNum" sz="quarter" idx="10"/>
          </p:nvPr>
        </p:nvSpPr>
        <p:spPr/>
        <p:txBody>
          <a:bodyPr/>
          <a:lstStyle/>
          <a:p>
            <a:pPr>
              <a:defRPr/>
            </a:pPr>
            <a:fld id="{65E4430F-96D5-4F5E-AF15-BF5EB88FA4B6}" type="slidenum">
              <a:rPr lang="en-US" smtClean="0"/>
              <a:pPr>
                <a:defRPr/>
              </a:pPr>
              <a:t>17</a:t>
            </a:fld>
            <a:endParaRPr lang="en-US"/>
          </a:p>
        </p:txBody>
      </p:sp>
    </p:spTree>
    <p:extLst>
      <p:ext uri="{BB962C8B-B14F-4D97-AF65-F5344CB8AC3E}">
        <p14:creationId xmlns:p14="http://schemas.microsoft.com/office/powerpoint/2010/main" val="13542581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16E8F5-679A-9211-BA53-1AF5E08C83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AE2F8A-A2B3-AB9D-70DE-42E973F81C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BF7DA2-8561-FFC6-9C85-7DAD8E49D102}"/>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D4CB1AE7-1484-E299-645C-992DB7962608}"/>
              </a:ext>
            </a:extLst>
          </p:cNvPr>
          <p:cNvSpPr>
            <a:spLocks noGrp="1"/>
          </p:cNvSpPr>
          <p:nvPr>
            <p:ph type="sldNum" sz="quarter" idx="10"/>
          </p:nvPr>
        </p:nvSpPr>
        <p:spPr/>
        <p:txBody>
          <a:bodyPr/>
          <a:lstStyle/>
          <a:p>
            <a:pPr>
              <a:defRPr/>
            </a:pPr>
            <a:fld id="{65E4430F-96D5-4F5E-AF15-BF5EB88FA4B6}" type="slidenum">
              <a:rPr lang="en-US" smtClean="0"/>
              <a:pPr>
                <a:defRPr/>
              </a:pPr>
              <a:t>18</a:t>
            </a:fld>
            <a:endParaRPr lang="en-US"/>
          </a:p>
        </p:txBody>
      </p:sp>
    </p:spTree>
    <p:extLst>
      <p:ext uri="{BB962C8B-B14F-4D97-AF65-F5344CB8AC3E}">
        <p14:creationId xmlns:p14="http://schemas.microsoft.com/office/powerpoint/2010/main" val="30236533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77C6F-9E8B-A9A1-23E6-5C86A9461B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165051-6152-2991-5C26-369107F854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969BA5-82E4-8BDA-F9BF-3FBF6F4B7EF3}"/>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322CE33B-CE92-893B-FDB7-31281676C8D1}"/>
              </a:ext>
            </a:extLst>
          </p:cNvPr>
          <p:cNvSpPr>
            <a:spLocks noGrp="1"/>
          </p:cNvSpPr>
          <p:nvPr>
            <p:ph type="sldNum" sz="quarter" idx="10"/>
          </p:nvPr>
        </p:nvSpPr>
        <p:spPr/>
        <p:txBody>
          <a:bodyPr/>
          <a:lstStyle/>
          <a:p>
            <a:pPr>
              <a:defRPr/>
            </a:pPr>
            <a:fld id="{65E4430F-96D5-4F5E-AF15-BF5EB88FA4B6}" type="slidenum">
              <a:rPr lang="en-US" smtClean="0"/>
              <a:pPr>
                <a:defRPr/>
              </a:pPr>
              <a:t>19</a:t>
            </a:fld>
            <a:endParaRPr lang="en-US"/>
          </a:p>
        </p:txBody>
      </p:sp>
    </p:spTree>
    <p:extLst>
      <p:ext uri="{BB962C8B-B14F-4D97-AF65-F5344CB8AC3E}">
        <p14:creationId xmlns:p14="http://schemas.microsoft.com/office/powerpoint/2010/main" val="13436122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F23268-2053-CA69-ECC5-0863E04BAF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676F7A-EE82-96F6-B034-ECC0F5C2B9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6062F0-B1BC-231F-53B3-B6EC189CB217}"/>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0701B3AC-02B6-F770-9F7C-19869FEC7B37}"/>
              </a:ext>
            </a:extLst>
          </p:cNvPr>
          <p:cNvSpPr>
            <a:spLocks noGrp="1"/>
          </p:cNvSpPr>
          <p:nvPr>
            <p:ph type="sldNum" sz="quarter" idx="10"/>
          </p:nvPr>
        </p:nvSpPr>
        <p:spPr/>
        <p:txBody>
          <a:bodyPr/>
          <a:lstStyle/>
          <a:p>
            <a:pPr>
              <a:defRPr/>
            </a:pPr>
            <a:fld id="{65E4430F-96D5-4F5E-AF15-BF5EB88FA4B6}" type="slidenum">
              <a:rPr lang="en-US" smtClean="0"/>
              <a:pPr>
                <a:defRPr/>
              </a:pPr>
              <a:t>20</a:t>
            </a:fld>
            <a:endParaRPr lang="en-US"/>
          </a:p>
        </p:txBody>
      </p:sp>
    </p:spTree>
    <p:extLst>
      <p:ext uri="{BB962C8B-B14F-4D97-AF65-F5344CB8AC3E}">
        <p14:creationId xmlns:p14="http://schemas.microsoft.com/office/powerpoint/2010/main" val="5220722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BA283-EBCE-AA67-5EE3-26C86DCE04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3E22CC-7862-FF81-14D6-F2E72FB2C8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F5F84D-0B20-21E1-069B-5AF525F7F079}"/>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81A8D7B6-01CD-0FDA-1A7A-E954D14B3D31}"/>
              </a:ext>
            </a:extLst>
          </p:cNvPr>
          <p:cNvSpPr>
            <a:spLocks noGrp="1"/>
          </p:cNvSpPr>
          <p:nvPr>
            <p:ph type="sldNum" sz="quarter" idx="10"/>
          </p:nvPr>
        </p:nvSpPr>
        <p:spPr/>
        <p:txBody>
          <a:bodyPr/>
          <a:lstStyle/>
          <a:p>
            <a:pPr>
              <a:defRPr/>
            </a:pPr>
            <a:fld id="{65E4430F-96D5-4F5E-AF15-BF5EB88FA4B6}" type="slidenum">
              <a:rPr lang="en-US" smtClean="0"/>
              <a:pPr>
                <a:defRPr/>
              </a:pPr>
              <a:t>21</a:t>
            </a:fld>
            <a:endParaRPr lang="en-US"/>
          </a:p>
        </p:txBody>
      </p:sp>
    </p:spTree>
    <p:extLst>
      <p:ext uri="{BB962C8B-B14F-4D97-AF65-F5344CB8AC3E}">
        <p14:creationId xmlns:p14="http://schemas.microsoft.com/office/powerpoint/2010/main" val="21613077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B0A1B-FB5F-5F01-62AE-A0CBD0DFA5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C5BC78-0790-A494-25DD-EF103045EE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8B5D65-AE31-5F04-5B20-E8E18555378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CA216440-71F1-54FE-D50C-F1D447339D60}"/>
              </a:ext>
            </a:extLst>
          </p:cNvPr>
          <p:cNvSpPr>
            <a:spLocks noGrp="1"/>
          </p:cNvSpPr>
          <p:nvPr>
            <p:ph type="sldNum" sz="quarter" idx="10"/>
          </p:nvPr>
        </p:nvSpPr>
        <p:spPr/>
        <p:txBody>
          <a:bodyPr/>
          <a:lstStyle/>
          <a:p>
            <a:pPr>
              <a:defRPr/>
            </a:pPr>
            <a:fld id="{65E4430F-96D5-4F5E-AF15-BF5EB88FA4B6}" type="slidenum">
              <a:rPr lang="en-US" smtClean="0"/>
              <a:pPr>
                <a:defRPr/>
              </a:pPr>
              <a:t>22</a:t>
            </a:fld>
            <a:endParaRPr lang="en-US"/>
          </a:p>
        </p:txBody>
      </p:sp>
    </p:spTree>
    <p:extLst>
      <p:ext uri="{BB962C8B-B14F-4D97-AF65-F5344CB8AC3E}">
        <p14:creationId xmlns:p14="http://schemas.microsoft.com/office/powerpoint/2010/main" val="13464715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B2E2B2-072A-06DE-C4D1-56A5823A45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FFDDFA-52DC-8D15-063A-96AD1AA551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90B9FA-14C2-8319-22EF-DF68495F4698}"/>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37C8B85-1FB6-6B8B-DFB2-9C4B68EB05A2}"/>
              </a:ext>
            </a:extLst>
          </p:cNvPr>
          <p:cNvSpPr>
            <a:spLocks noGrp="1"/>
          </p:cNvSpPr>
          <p:nvPr>
            <p:ph type="sldNum" sz="quarter" idx="10"/>
          </p:nvPr>
        </p:nvSpPr>
        <p:spPr/>
        <p:txBody>
          <a:bodyPr/>
          <a:lstStyle/>
          <a:p>
            <a:pPr>
              <a:defRPr/>
            </a:pPr>
            <a:fld id="{65E4430F-96D5-4F5E-AF15-BF5EB88FA4B6}" type="slidenum">
              <a:rPr lang="en-US" smtClean="0"/>
              <a:pPr>
                <a:defRPr/>
              </a:pPr>
              <a:t>23</a:t>
            </a:fld>
            <a:endParaRPr lang="en-US"/>
          </a:p>
        </p:txBody>
      </p:sp>
    </p:spTree>
    <p:extLst>
      <p:ext uri="{BB962C8B-B14F-4D97-AF65-F5344CB8AC3E}">
        <p14:creationId xmlns:p14="http://schemas.microsoft.com/office/powerpoint/2010/main" val="161950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FED91D-618C-6663-E14B-2D6DA53E7B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35C663-0191-E789-76D3-F0440CE78F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4E4EDF-112F-2A32-9E42-CB547CE4166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CC52886D-E8F2-A0AA-FFD3-70453A5851D9}"/>
              </a:ext>
            </a:extLst>
          </p:cNvPr>
          <p:cNvSpPr>
            <a:spLocks noGrp="1"/>
          </p:cNvSpPr>
          <p:nvPr>
            <p:ph type="sldNum" sz="quarter" idx="10"/>
          </p:nvPr>
        </p:nvSpPr>
        <p:spPr/>
        <p:txBody>
          <a:bodyPr/>
          <a:lstStyle/>
          <a:p>
            <a:pPr>
              <a:defRPr/>
            </a:pPr>
            <a:fld id="{65E4430F-96D5-4F5E-AF15-BF5EB88FA4B6}" type="slidenum">
              <a:rPr lang="en-US" smtClean="0"/>
              <a:pPr>
                <a:defRPr/>
              </a:pPr>
              <a:t>24</a:t>
            </a:fld>
            <a:endParaRPr lang="en-US"/>
          </a:p>
        </p:txBody>
      </p:sp>
    </p:spTree>
    <p:extLst>
      <p:ext uri="{BB962C8B-B14F-4D97-AF65-F5344CB8AC3E}">
        <p14:creationId xmlns:p14="http://schemas.microsoft.com/office/powerpoint/2010/main" val="33787766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A12380-8D92-ACEA-0308-AE134ADE6F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AA282E-096C-3BC5-C9DF-207484AC41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A0829F-0C32-884D-1B8F-0EB880694661}"/>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98CF4A9-9862-8648-7057-6CE274651C00}"/>
              </a:ext>
            </a:extLst>
          </p:cNvPr>
          <p:cNvSpPr>
            <a:spLocks noGrp="1"/>
          </p:cNvSpPr>
          <p:nvPr>
            <p:ph type="sldNum" sz="quarter" idx="10"/>
          </p:nvPr>
        </p:nvSpPr>
        <p:spPr/>
        <p:txBody>
          <a:bodyPr/>
          <a:lstStyle/>
          <a:p>
            <a:pPr>
              <a:defRPr/>
            </a:pPr>
            <a:fld id="{65E4430F-96D5-4F5E-AF15-BF5EB88FA4B6}" type="slidenum">
              <a:rPr lang="en-US" smtClean="0"/>
              <a:pPr>
                <a:defRPr/>
              </a:pPr>
              <a:t>31</a:t>
            </a:fld>
            <a:endParaRPr lang="en-US"/>
          </a:p>
        </p:txBody>
      </p:sp>
    </p:spTree>
    <p:extLst>
      <p:ext uri="{BB962C8B-B14F-4D97-AF65-F5344CB8AC3E}">
        <p14:creationId xmlns:p14="http://schemas.microsoft.com/office/powerpoint/2010/main" val="89767588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5E1493-35EB-9A52-D309-5E4076A30C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0250A4-385E-A200-DCD5-F159A41F2B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56AAA0-1C4F-1CE0-52F6-2147E45452C2}"/>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5E743830-75D9-049B-CD88-D12A5922BE6C}"/>
              </a:ext>
            </a:extLst>
          </p:cNvPr>
          <p:cNvSpPr>
            <a:spLocks noGrp="1"/>
          </p:cNvSpPr>
          <p:nvPr>
            <p:ph type="sldNum" sz="quarter" idx="10"/>
          </p:nvPr>
        </p:nvSpPr>
        <p:spPr/>
        <p:txBody>
          <a:bodyPr/>
          <a:lstStyle/>
          <a:p>
            <a:pPr>
              <a:defRPr/>
            </a:pPr>
            <a:fld id="{65E4430F-96D5-4F5E-AF15-BF5EB88FA4B6}" type="slidenum">
              <a:rPr lang="en-US" smtClean="0"/>
              <a:pPr>
                <a:defRPr/>
              </a:pPr>
              <a:t>32</a:t>
            </a:fld>
            <a:endParaRPr lang="en-US"/>
          </a:p>
        </p:txBody>
      </p:sp>
    </p:spTree>
    <p:extLst>
      <p:ext uri="{BB962C8B-B14F-4D97-AF65-F5344CB8AC3E}">
        <p14:creationId xmlns:p14="http://schemas.microsoft.com/office/powerpoint/2010/main" val="1491171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317522-D688-DE28-9CEB-575360E767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62E3EA-FF4F-4D89-B8DF-878C43CA28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853F00-B7BE-184C-94E5-AA5531468D38}"/>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744280F8-3C69-A318-9280-1C00447DEEB8}"/>
              </a:ext>
            </a:extLst>
          </p:cNvPr>
          <p:cNvSpPr>
            <a:spLocks noGrp="1"/>
          </p:cNvSpPr>
          <p:nvPr>
            <p:ph type="sldNum" sz="quarter" idx="10"/>
          </p:nvPr>
        </p:nvSpPr>
        <p:spPr/>
        <p:txBody>
          <a:bodyPr/>
          <a:lstStyle/>
          <a:p>
            <a:pPr>
              <a:defRPr/>
            </a:pPr>
            <a:fld id="{65E4430F-96D5-4F5E-AF15-BF5EB88FA4B6}" type="slidenum">
              <a:rPr lang="en-US" smtClean="0"/>
              <a:pPr>
                <a:defRPr/>
              </a:pPr>
              <a:t>33</a:t>
            </a:fld>
            <a:endParaRPr lang="en-US"/>
          </a:p>
        </p:txBody>
      </p:sp>
    </p:spTree>
    <p:extLst>
      <p:ext uri="{BB962C8B-B14F-4D97-AF65-F5344CB8AC3E}">
        <p14:creationId xmlns:p14="http://schemas.microsoft.com/office/powerpoint/2010/main" val="26614869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C73E8-BA7B-7D75-07BB-BDEFC51C36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843084-2859-502A-533F-4D5112748A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9E9207-F45F-E341-2696-BA86417E4E8F}"/>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713827A-1AF8-9139-FD72-0B2290FEC383}"/>
              </a:ext>
            </a:extLst>
          </p:cNvPr>
          <p:cNvSpPr>
            <a:spLocks noGrp="1"/>
          </p:cNvSpPr>
          <p:nvPr>
            <p:ph type="sldNum" sz="quarter" idx="10"/>
          </p:nvPr>
        </p:nvSpPr>
        <p:spPr/>
        <p:txBody>
          <a:bodyPr/>
          <a:lstStyle/>
          <a:p>
            <a:pPr>
              <a:defRPr/>
            </a:pPr>
            <a:fld id="{65E4430F-96D5-4F5E-AF15-BF5EB88FA4B6}" type="slidenum">
              <a:rPr lang="en-US" smtClean="0"/>
              <a:pPr>
                <a:defRPr/>
              </a:pPr>
              <a:t>34</a:t>
            </a:fld>
            <a:endParaRPr lang="en-US"/>
          </a:p>
        </p:txBody>
      </p:sp>
    </p:spTree>
    <p:extLst>
      <p:ext uri="{BB962C8B-B14F-4D97-AF65-F5344CB8AC3E}">
        <p14:creationId xmlns:p14="http://schemas.microsoft.com/office/powerpoint/2010/main" val="14285668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pPr>
              <a:defRPr/>
            </a:pPr>
            <a:fld id="{65E4430F-96D5-4F5E-AF15-BF5EB88FA4B6}" type="slidenum">
              <a:rPr lang="en-US" smtClean="0"/>
              <a:pPr>
                <a:defRPr/>
              </a:pPr>
              <a:t>36</a:t>
            </a:fld>
            <a:endParaRPr lang="en-US"/>
          </a:p>
        </p:txBody>
      </p:sp>
    </p:spTree>
    <p:extLst>
      <p:ext uri="{BB962C8B-B14F-4D97-AF65-F5344CB8AC3E}">
        <p14:creationId xmlns:p14="http://schemas.microsoft.com/office/powerpoint/2010/main" val="19235385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pPr>
              <a:defRPr/>
            </a:pPr>
            <a:fld id="{65E4430F-96D5-4F5E-AF15-BF5EB88FA4B6}" type="slidenum">
              <a:rPr lang="en-US" smtClean="0"/>
              <a:pPr>
                <a:defRPr/>
              </a:pPr>
              <a:t>38</a:t>
            </a:fld>
            <a:endParaRPr lang="en-US"/>
          </a:p>
        </p:txBody>
      </p:sp>
    </p:spTree>
    <p:extLst>
      <p:ext uri="{BB962C8B-B14F-4D97-AF65-F5344CB8AC3E}">
        <p14:creationId xmlns:p14="http://schemas.microsoft.com/office/powerpoint/2010/main" val="11695497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09982" y="2130426"/>
            <a:ext cx="9179799" cy="1470025"/>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1619965" y="3886200"/>
            <a:ext cx="7559834"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39988" y="274638"/>
            <a:ext cx="9719787" cy="11430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539988" y="1600201"/>
            <a:ext cx="9719787"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53107" y="4406901"/>
            <a:ext cx="9179799" cy="1362075"/>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853107" y="2906713"/>
            <a:ext cx="9179799"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39988" y="274638"/>
            <a:ext cx="9719787" cy="11430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539988" y="1600201"/>
            <a:ext cx="4769895"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489880" y="1600201"/>
            <a:ext cx="4769895"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9988" y="274638"/>
            <a:ext cx="9719787" cy="114300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39988" y="1535113"/>
            <a:ext cx="4771771"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39988" y="2174875"/>
            <a:ext cx="4771771"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486130" y="1535113"/>
            <a:ext cx="477364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486130" y="2174875"/>
            <a:ext cx="477364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39988" y="274638"/>
            <a:ext cx="9719787" cy="1143000"/>
          </a:xfrm>
          <a:prstGeom prst="rect">
            <a:avLst/>
          </a:prstGeom>
        </p:spPr>
        <p:txBody>
          <a:bodyPr/>
          <a:lstStyle/>
          <a:p>
            <a:r>
              <a:rPr lang="en-US"/>
              <a:t>Click to edit Master title style</a:t>
            </a:r>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3" name="Line 8"/>
          <p:cNvSpPr>
            <a:spLocks noChangeShapeType="1"/>
          </p:cNvSpPr>
          <p:nvPr userDrawn="1"/>
        </p:nvSpPr>
        <p:spPr bwMode="auto">
          <a:xfrm>
            <a:off x="0" y="723900"/>
            <a:ext cx="10829762" cy="0"/>
          </a:xfrm>
          <a:prstGeom prst="line">
            <a:avLst/>
          </a:prstGeom>
          <a:noFill/>
          <a:ln w="57150" cmpd="thinThick">
            <a:solidFill>
              <a:srgbClr val="CC6600"/>
            </a:solidFill>
            <a:round/>
            <a:headEnd/>
            <a:tailEnd/>
          </a:ln>
          <a:effectLst/>
        </p:spPr>
        <p:txBody>
          <a:bodyPr/>
          <a:lstStyle/>
          <a:p>
            <a:pPr>
              <a:defRPr/>
            </a:pPr>
            <a:endParaRPr lang="en-US"/>
          </a:p>
        </p:txBody>
      </p:sp>
      <p:sp>
        <p:nvSpPr>
          <p:cNvPr id="4" name="Text Box 10"/>
          <p:cNvSpPr txBox="1">
            <a:spLocks noChangeArrowheads="1"/>
          </p:cNvSpPr>
          <p:nvPr userDrawn="1"/>
        </p:nvSpPr>
        <p:spPr bwMode="auto">
          <a:xfrm>
            <a:off x="-719" y="6553200"/>
            <a:ext cx="10799763" cy="304800"/>
          </a:xfrm>
          <a:prstGeom prst="rect">
            <a:avLst/>
          </a:prstGeom>
          <a:solidFill>
            <a:srgbClr val="CC6600">
              <a:alpha val="85001"/>
            </a:srgbClr>
          </a:solidFill>
          <a:ln w="9525">
            <a:noFill/>
            <a:miter lim="800000"/>
            <a:headEnd/>
            <a:tailEnd/>
          </a:ln>
          <a:effectLst/>
        </p:spPr>
        <p:txBody>
          <a:bodyPr/>
          <a:lstStyle/>
          <a:p>
            <a:pPr algn="ctr">
              <a:spcBef>
                <a:spcPct val="50000"/>
              </a:spcBef>
              <a:defRPr/>
            </a:pPr>
            <a:endParaRPr lang="en-US" sz="1200" b="1" i="1"/>
          </a:p>
        </p:txBody>
      </p:sp>
      <p:sp>
        <p:nvSpPr>
          <p:cNvPr id="5" name="Text Box 5"/>
          <p:cNvSpPr txBox="1">
            <a:spLocks noChangeArrowheads="1"/>
          </p:cNvSpPr>
          <p:nvPr userDrawn="1"/>
        </p:nvSpPr>
        <p:spPr bwMode="auto">
          <a:xfrm>
            <a:off x="2609943" y="6572250"/>
            <a:ext cx="5669876" cy="285750"/>
          </a:xfrm>
          <a:prstGeom prst="rect">
            <a:avLst/>
          </a:prstGeom>
          <a:noFill/>
          <a:ln w="9525">
            <a:noFill/>
            <a:miter lim="800000"/>
            <a:headEnd/>
            <a:tailEnd/>
          </a:ln>
          <a:effectLst/>
        </p:spPr>
        <p:txBody>
          <a:bodyPr>
            <a:spAutoFit/>
          </a:bodyPr>
          <a:lstStyle/>
          <a:p>
            <a:pPr algn="ctr">
              <a:spcBef>
                <a:spcPct val="50000"/>
              </a:spcBef>
              <a:defRPr/>
            </a:pPr>
            <a:r>
              <a:rPr lang="en-US" sz="1200" b="1">
                <a:latin typeface="Sabon LT Std" panose="02020602060506020403" pitchFamily="18" charset="0"/>
              </a:rPr>
              <a:t>MANIPAL SCHOOL OF</a:t>
            </a:r>
            <a:r>
              <a:rPr lang="en-US" sz="1200" b="1" baseline="0">
                <a:latin typeface="Sabon LT Std" panose="02020602060506020403" pitchFamily="18" charset="0"/>
              </a:rPr>
              <a:t> INFORMATION SCIENCES</a:t>
            </a:r>
            <a:r>
              <a:rPr lang="en-US" sz="1200" b="1">
                <a:latin typeface="Sabon LT Std" panose="02020602060506020403" pitchFamily="18" charset="0"/>
              </a:rPr>
              <a:t>, MAHE - MANIPAL</a:t>
            </a:r>
          </a:p>
        </p:txBody>
      </p:sp>
      <p:sp>
        <p:nvSpPr>
          <p:cNvPr id="6" name="TextBox 5"/>
          <p:cNvSpPr txBox="1"/>
          <p:nvPr userDrawn="1"/>
        </p:nvSpPr>
        <p:spPr>
          <a:xfrm>
            <a:off x="70886" y="6550223"/>
            <a:ext cx="1214196" cy="307777"/>
          </a:xfrm>
          <a:prstGeom prst="rect">
            <a:avLst/>
          </a:prstGeom>
          <a:noFill/>
        </p:spPr>
        <p:txBody>
          <a:bodyPr wrap="square" rtlCol="0">
            <a:spAutoFit/>
          </a:bodyPr>
          <a:lstStyle/>
          <a:p>
            <a:fld id="{14FF2BDA-0CCF-4808-8004-9C3749E0E8B5}" type="datetime1">
              <a:rPr lang="en-IN" sz="1400" b="1" smtClean="0">
                <a:latin typeface="Sabon LT Std" panose="02020602060506020403" pitchFamily="18" charset="0"/>
              </a:rPr>
              <a:pPr/>
              <a:t>17-11-2025</a:t>
            </a:fld>
            <a:endParaRPr lang="en-IN" sz="1400" b="1">
              <a:latin typeface="Sabon LT Std" panose="02020602060506020403" pitchFamily="18" charset="0"/>
            </a:endParaRPr>
          </a:p>
        </p:txBody>
      </p:sp>
      <p:sp>
        <p:nvSpPr>
          <p:cNvPr id="8" name="TextBox 7"/>
          <p:cNvSpPr txBox="1"/>
          <p:nvPr userDrawn="1"/>
        </p:nvSpPr>
        <p:spPr>
          <a:xfrm>
            <a:off x="8823623" y="6549395"/>
            <a:ext cx="1965821" cy="307777"/>
          </a:xfrm>
          <a:prstGeom prst="rect">
            <a:avLst/>
          </a:prstGeom>
          <a:noFill/>
        </p:spPr>
        <p:txBody>
          <a:bodyPr wrap="square" rtlCol="0">
            <a:spAutoFit/>
          </a:bodyPr>
          <a:lstStyle/>
          <a:p>
            <a:r>
              <a:rPr lang="en-IN" sz="1400" b="1">
                <a:latin typeface="Sabon LT Std" panose="02020602060506020403" pitchFamily="18" charset="0"/>
              </a:rPr>
              <a:t>Project</a:t>
            </a:r>
            <a:r>
              <a:rPr lang="en-IN" sz="1400"/>
              <a:t> </a:t>
            </a:r>
            <a:fld id="{2B6BCCB2-68F9-4474-BBCE-CCA9053E752F}" type="slidenum">
              <a:rPr lang="en-IN" sz="1400" b="1" smtClean="0">
                <a:latin typeface="Sabon LT Std" panose="02020602060506020403" pitchFamily="18" charset="0"/>
              </a:rPr>
              <a:pPr/>
              <a:t>‹#›</a:t>
            </a:fld>
            <a:endParaRPr lang="en-IN" sz="1400" b="1">
              <a:latin typeface="Sabon LT Std" panose="02020602060506020403" pitchFamily="18" charset="0"/>
            </a:endParaRPr>
          </a:p>
        </p:txBody>
      </p:sp>
      <p:pic>
        <p:nvPicPr>
          <p:cNvPr id="7" name="Picture 6" descr="A sign in the dark&#10;&#10;Description generated with very high confidence">
            <a:extLst>
              <a:ext uri="{FF2B5EF4-FFF2-40B4-BE49-F238E27FC236}">
                <a16:creationId xmlns:a16="http://schemas.microsoft.com/office/drawing/2014/main" id="{99AC11E8-FD3B-40F3-B55A-C0B10FA721A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8374"/>
            <a:ext cx="2609943" cy="772826"/>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6" name="Line 8"/>
          <p:cNvSpPr>
            <a:spLocks noChangeShapeType="1"/>
          </p:cNvSpPr>
          <p:nvPr userDrawn="1"/>
        </p:nvSpPr>
        <p:spPr bwMode="auto">
          <a:xfrm>
            <a:off x="0" y="723900"/>
            <a:ext cx="10829762" cy="0"/>
          </a:xfrm>
          <a:prstGeom prst="line">
            <a:avLst/>
          </a:prstGeom>
          <a:noFill/>
          <a:ln w="57150" cmpd="thinThick">
            <a:solidFill>
              <a:srgbClr val="CC6600"/>
            </a:solidFill>
            <a:round/>
            <a:headEnd/>
            <a:tailEnd/>
          </a:ln>
          <a:effectLst/>
        </p:spPr>
        <p:txBody>
          <a:bodyPr/>
          <a:lstStyle/>
          <a:p>
            <a:pPr>
              <a:defRPr/>
            </a:pPr>
            <a:endParaRPr lang="en-US"/>
          </a:p>
        </p:txBody>
      </p:sp>
      <p:sp>
        <p:nvSpPr>
          <p:cNvPr id="8" name="Text Box 10"/>
          <p:cNvSpPr txBox="1">
            <a:spLocks noChangeArrowheads="1"/>
          </p:cNvSpPr>
          <p:nvPr userDrawn="1"/>
        </p:nvSpPr>
        <p:spPr bwMode="auto">
          <a:xfrm>
            <a:off x="0" y="6553200"/>
            <a:ext cx="10799763" cy="304800"/>
          </a:xfrm>
          <a:prstGeom prst="rect">
            <a:avLst/>
          </a:prstGeom>
          <a:solidFill>
            <a:srgbClr val="CC6600">
              <a:alpha val="85001"/>
            </a:srgbClr>
          </a:solidFill>
          <a:ln w="9525">
            <a:noFill/>
            <a:miter lim="800000"/>
            <a:headEnd/>
            <a:tailEnd/>
          </a:ln>
          <a:effectLst/>
        </p:spPr>
        <p:txBody>
          <a:bodyPr/>
          <a:lstStyle/>
          <a:p>
            <a:pPr algn="ctr">
              <a:spcBef>
                <a:spcPct val="50000"/>
              </a:spcBef>
              <a:defRPr/>
            </a:pPr>
            <a:endParaRPr lang="en-US" sz="1200" b="1" i="1"/>
          </a:p>
        </p:txBody>
      </p:sp>
      <p:sp>
        <p:nvSpPr>
          <p:cNvPr id="2" name="Title 1"/>
          <p:cNvSpPr>
            <a:spLocks noGrp="1"/>
          </p:cNvSpPr>
          <p:nvPr>
            <p:ph type="title"/>
          </p:nvPr>
        </p:nvSpPr>
        <p:spPr>
          <a:xfrm>
            <a:off x="539989" y="273050"/>
            <a:ext cx="3553048" cy="1162050"/>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222407" y="273051"/>
            <a:ext cx="6037368"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39989" y="1435101"/>
            <a:ext cx="3553048"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6" name="Text Box 5"/>
          <p:cNvSpPr txBox="1">
            <a:spLocks noChangeArrowheads="1"/>
          </p:cNvSpPr>
          <p:nvPr userDrawn="1"/>
        </p:nvSpPr>
        <p:spPr bwMode="auto">
          <a:xfrm>
            <a:off x="2609943" y="6572250"/>
            <a:ext cx="5669876" cy="285750"/>
          </a:xfrm>
          <a:prstGeom prst="rect">
            <a:avLst/>
          </a:prstGeom>
          <a:noFill/>
          <a:ln w="9525">
            <a:noFill/>
            <a:miter lim="800000"/>
            <a:headEnd/>
            <a:tailEnd/>
          </a:ln>
          <a:effectLst/>
        </p:spPr>
        <p:txBody>
          <a:bodyPr>
            <a:spAutoFit/>
          </a:bodyPr>
          <a:lstStyle/>
          <a:p>
            <a:pPr algn="ctr">
              <a:spcBef>
                <a:spcPct val="50000"/>
              </a:spcBef>
              <a:defRPr/>
            </a:pPr>
            <a:r>
              <a:rPr lang="en-US" sz="1200" b="1">
                <a:latin typeface="Sabon LT Std" panose="02020602060506020403" pitchFamily="18" charset="0"/>
              </a:rPr>
              <a:t>MANIPAL SCHOOL OF</a:t>
            </a:r>
            <a:r>
              <a:rPr lang="en-US" sz="1200" b="1" baseline="0">
                <a:latin typeface="Sabon LT Std" panose="02020602060506020403" pitchFamily="18" charset="0"/>
              </a:rPr>
              <a:t> INFORMATION SCIENCES</a:t>
            </a:r>
            <a:r>
              <a:rPr lang="en-US" sz="1200" b="1">
                <a:latin typeface="Sabon LT Std" panose="02020602060506020403" pitchFamily="18" charset="0"/>
              </a:rPr>
              <a:t>, MAHE</a:t>
            </a:r>
            <a:r>
              <a:rPr lang="en-US" sz="1200" b="1" baseline="0">
                <a:latin typeface="Sabon LT Std" panose="02020602060506020403" pitchFamily="18" charset="0"/>
              </a:rPr>
              <a:t> -</a:t>
            </a:r>
            <a:r>
              <a:rPr lang="en-US" sz="1200" b="1">
                <a:latin typeface="Sabon LT Std" panose="02020602060506020403" pitchFamily="18" charset="0"/>
              </a:rPr>
              <a:t> MANIPAL</a:t>
            </a:r>
          </a:p>
        </p:txBody>
      </p:sp>
      <p:sp>
        <p:nvSpPr>
          <p:cNvPr id="17" name="TextBox 16"/>
          <p:cNvSpPr txBox="1"/>
          <p:nvPr userDrawn="1"/>
        </p:nvSpPr>
        <p:spPr>
          <a:xfrm>
            <a:off x="70886" y="6550223"/>
            <a:ext cx="1214196" cy="307777"/>
          </a:xfrm>
          <a:prstGeom prst="rect">
            <a:avLst/>
          </a:prstGeom>
          <a:noFill/>
        </p:spPr>
        <p:txBody>
          <a:bodyPr wrap="square" rtlCol="0">
            <a:spAutoFit/>
          </a:bodyPr>
          <a:lstStyle/>
          <a:p>
            <a:fld id="{14FF2BDA-0CCF-4808-8004-9C3749E0E8B5}" type="datetime1">
              <a:rPr lang="en-IN" sz="1400" b="1" smtClean="0">
                <a:latin typeface="Sabon LT Std" panose="02020602060506020403" pitchFamily="18" charset="0"/>
              </a:rPr>
              <a:pPr/>
              <a:t>17-11-2025</a:t>
            </a:fld>
            <a:endParaRPr lang="en-IN" sz="1400" b="1">
              <a:latin typeface="Sabon LT Std" panose="02020602060506020403" pitchFamily="18" charset="0"/>
            </a:endParaRPr>
          </a:p>
        </p:txBody>
      </p:sp>
      <p:sp>
        <p:nvSpPr>
          <p:cNvPr id="18" name="TextBox 17"/>
          <p:cNvSpPr txBox="1"/>
          <p:nvPr userDrawn="1"/>
        </p:nvSpPr>
        <p:spPr>
          <a:xfrm>
            <a:off x="8823623" y="6549395"/>
            <a:ext cx="1965821" cy="307777"/>
          </a:xfrm>
          <a:prstGeom prst="rect">
            <a:avLst/>
          </a:prstGeom>
          <a:noFill/>
        </p:spPr>
        <p:txBody>
          <a:bodyPr wrap="square" rtlCol="0">
            <a:spAutoFit/>
          </a:bodyPr>
          <a:lstStyle/>
          <a:p>
            <a:r>
              <a:rPr lang="en-IN" sz="1400" b="1">
                <a:latin typeface="Sabon LT Std" panose="02020602060506020403" pitchFamily="18" charset="0"/>
              </a:rPr>
              <a:t>Project</a:t>
            </a:r>
            <a:r>
              <a:rPr lang="en-IN" sz="1400"/>
              <a:t> </a:t>
            </a:r>
            <a:fld id="{2B6BCCB2-68F9-4474-BBCE-CCA9053E752F}" type="slidenum">
              <a:rPr lang="en-IN" sz="1400" b="1" smtClean="0">
                <a:latin typeface="Sabon LT Std" panose="02020602060506020403" pitchFamily="18" charset="0"/>
              </a:rPr>
              <a:pPr/>
              <a:t>‹#›</a:t>
            </a:fld>
            <a:endParaRPr lang="en-IN" sz="1400" b="1">
              <a:latin typeface="Sabon LT Std" panose="02020602060506020403" pitchFamily="18" charset="0"/>
            </a:endParaRPr>
          </a:p>
        </p:txBody>
      </p:sp>
      <p:pic>
        <p:nvPicPr>
          <p:cNvPr id="11" name="Picture 10" descr="A sign in the dark&#10;&#10;Description generated with very high confidence">
            <a:extLst>
              <a:ext uri="{FF2B5EF4-FFF2-40B4-BE49-F238E27FC236}">
                <a16:creationId xmlns:a16="http://schemas.microsoft.com/office/drawing/2014/main" id="{EA04BEC8-6F6B-40C9-A38F-02E85B06B9A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0886" y="0"/>
            <a:ext cx="2088635" cy="618462"/>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6" name="Line 8"/>
          <p:cNvSpPr>
            <a:spLocks noChangeShapeType="1"/>
          </p:cNvSpPr>
          <p:nvPr userDrawn="1"/>
        </p:nvSpPr>
        <p:spPr bwMode="auto">
          <a:xfrm>
            <a:off x="0" y="723900"/>
            <a:ext cx="10829762" cy="0"/>
          </a:xfrm>
          <a:prstGeom prst="line">
            <a:avLst/>
          </a:prstGeom>
          <a:noFill/>
          <a:ln w="57150" cmpd="thinThick">
            <a:solidFill>
              <a:srgbClr val="CC6600"/>
            </a:solidFill>
            <a:round/>
            <a:headEnd/>
            <a:tailEnd/>
          </a:ln>
          <a:effectLst/>
        </p:spPr>
        <p:txBody>
          <a:bodyPr/>
          <a:lstStyle/>
          <a:p>
            <a:pPr>
              <a:defRPr/>
            </a:pPr>
            <a:endParaRPr lang="en-US"/>
          </a:p>
        </p:txBody>
      </p:sp>
      <p:sp>
        <p:nvSpPr>
          <p:cNvPr id="7" name="Text Box 10"/>
          <p:cNvSpPr txBox="1">
            <a:spLocks noChangeArrowheads="1"/>
          </p:cNvSpPr>
          <p:nvPr userDrawn="1"/>
        </p:nvSpPr>
        <p:spPr bwMode="auto">
          <a:xfrm>
            <a:off x="0" y="6543635"/>
            <a:ext cx="10799763" cy="314365"/>
          </a:xfrm>
          <a:prstGeom prst="rect">
            <a:avLst/>
          </a:prstGeom>
          <a:solidFill>
            <a:srgbClr val="CC6600">
              <a:alpha val="85001"/>
            </a:srgbClr>
          </a:solidFill>
          <a:ln w="9525">
            <a:noFill/>
            <a:miter lim="800000"/>
            <a:headEnd/>
            <a:tailEnd/>
          </a:ln>
          <a:effectLst/>
        </p:spPr>
        <p:txBody>
          <a:bodyPr/>
          <a:lstStyle/>
          <a:p>
            <a:pPr algn="ctr">
              <a:spcBef>
                <a:spcPct val="50000"/>
              </a:spcBef>
              <a:defRPr/>
            </a:pPr>
            <a:endParaRPr lang="en-US" sz="1200" b="1" i="1"/>
          </a:p>
        </p:txBody>
      </p:sp>
      <p:sp>
        <p:nvSpPr>
          <p:cNvPr id="2" name="Title 1"/>
          <p:cNvSpPr>
            <a:spLocks noGrp="1"/>
          </p:cNvSpPr>
          <p:nvPr>
            <p:ph type="title"/>
          </p:nvPr>
        </p:nvSpPr>
        <p:spPr>
          <a:xfrm>
            <a:off x="2116829" y="4800600"/>
            <a:ext cx="6479858" cy="566738"/>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116829" y="612775"/>
            <a:ext cx="6479858"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116829" y="5367338"/>
            <a:ext cx="6479858"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7" name="Text Box 5"/>
          <p:cNvSpPr txBox="1">
            <a:spLocks noChangeArrowheads="1"/>
          </p:cNvSpPr>
          <p:nvPr userDrawn="1"/>
        </p:nvSpPr>
        <p:spPr bwMode="auto">
          <a:xfrm>
            <a:off x="2609943" y="6572250"/>
            <a:ext cx="5669876" cy="285750"/>
          </a:xfrm>
          <a:prstGeom prst="rect">
            <a:avLst/>
          </a:prstGeom>
          <a:noFill/>
          <a:ln w="9525">
            <a:noFill/>
            <a:miter lim="800000"/>
            <a:headEnd/>
            <a:tailEnd/>
          </a:ln>
          <a:effectLst/>
        </p:spPr>
        <p:txBody>
          <a:bodyPr>
            <a:spAutoFit/>
          </a:bodyPr>
          <a:lstStyle/>
          <a:p>
            <a:pPr algn="ctr">
              <a:spcBef>
                <a:spcPct val="50000"/>
              </a:spcBef>
              <a:defRPr/>
            </a:pPr>
            <a:r>
              <a:rPr lang="en-US" sz="1200" b="1">
                <a:latin typeface="Sabon LT Std" panose="02020602060506020403" pitchFamily="18" charset="0"/>
              </a:rPr>
              <a:t>MANIPAL SCHOOL OF</a:t>
            </a:r>
            <a:r>
              <a:rPr lang="en-US" sz="1200" b="1" baseline="0">
                <a:latin typeface="Sabon LT Std" panose="02020602060506020403" pitchFamily="18" charset="0"/>
              </a:rPr>
              <a:t> INFORMATION SCIENCES</a:t>
            </a:r>
            <a:r>
              <a:rPr lang="en-US" sz="1200" b="1">
                <a:latin typeface="Sabon LT Std" panose="02020602060506020403" pitchFamily="18" charset="0"/>
              </a:rPr>
              <a:t>, MAHE</a:t>
            </a:r>
            <a:r>
              <a:rPr lang="en-US" sz="1200" b="1" baseline="0">
                <a:latin typeface="Sabon LT Std" panose="02020602060506020403" pitchFamily="18" charset="0"/>
              </a:rPr>
              <a:t> -</a:t>
            </a:r>
            <a:r>
              <a:rPr lang="en-US" sz="1200" b="1">
                <a:latin typeface="Sabon LT Std" panose="02020602060506020403" pitchFamily="18" charset="0"/>
              </a:rPr>
              <a:t> MANIPAL</a:t>
            </a:r>
          </a:p>
        </p:txBody>
      </p:sp>
      <p:sp>
        <p:nvSpPr>
          <p:cNvPr id="18" name="TextBox 17"/>
          <p:cNvSpPr txBox="1"/>
          <p:nvPr userDrawn="1"/>
        </p:nvSpPr>
        <p:spPr>
          <a:xfrm>
            <a:off x="70886" y="6550223"/>
            <a:ext cx="1214196" cy="307777"/>
          </a:xfrm>
          <a:prstGeom prst="rect">
            <a:avLst/>
          </a:prstGeom>
          <a:noFill/>
        </p:spPr>
        <p:txBody>
          <a:bodyPr wrap="square" rtlCol="0">
            <a:spAutoFit/>
          </a:bodyPr>
          <a:lstStyle/>
          <a:p>
            <a:fld id="{14FF2BDA-0CCF-4808-8004-9C3749E0E8B5}" type="datetime1">
              <a:rPr lang="en-IN" sz="1400" b="1" smtClean="0">
                <a:latin typeface="Sabon LT Std" panose="02020602060506020403" pitchFamily="18" charset="0"/>
              </a:rPr>
              <a:pPr/>
              <a:t>17-11-2025</a:t>
            </a:fld>
            <a:endParaRPr lang="en-IN" sz="1400" b="1">
              <a:latin typeface="Sabon LT Std" panose="02020602060506020403" pitchFamily="18" charset="0"/>
            </a:endParaRPr>
          </a:p>
        </p:txBody>
      </p:sp>
      <p:sp>
        <p:nvSpPr>
          <p:cNvPr id="19" name="TextBox 18"/>
          <p:cNvSpPr txBox="1"/>
          <p:nvPr userDrawn="1"/>
        </p:nvSpPr>
        <p:spPr>
          <a:xfrm>
            <a:off x="8823623" y="6549395"/>
            <a:ext cx="1965821" cy="307777"/>
          </a:xfrm>
          <a:prstGeom prst="rect">
            <a:avLst/>
          </a:prstGeom>
          <a:noFill/>
        </p:spPr>
        <p:txBody>
          <a:bodyPr wrap="square" rtlCol="0">
            <a:spAutoFit/>
          </a:bodyPr>
          <a:lstStyle/>
          <a:p>
            <a:r>
              <a:rPr lang="en-IN" sz="1400" b="1">
                <a:latin typeface="Sabon LT Std" panose="02020602060506020403" pitchFamily="18" charset="0"/>
              </a:rPr>
              <a:t>Project</a:t>
            </a:r>
            <a:r>
              <a:rPr lang="en-IN" sz="1400"/>
              <a:t> </a:t>
            </a:r>
            <a:fld id="{2B6BCCB2-68F9-4474-BBCE-CCA9053E752F}" type="slidenum">
              <a:rPr lang="en-IN" sz="1400" b="1" smtClean="0">
                <a:latin typeface="Sabon LT Std" panose="02020602060506020403" pitchFamily="18" charset="0"/>
              </a:rPr>
              <a:pPr/>
              <a:t>‹#›</a:t>
            </a:fld>
            <a:endParaRPr lang="en-IN" sz="1400" b="1">
              <a:latin typeface="Sabon LT Std" panose="02020602060506020403" pitchFamily="18" charset="0"/>
            </a:endParaRPr>
          </a:p>
        </p:txBody>
      </p:sp>
      <p:pic>
        <p:nvPicPr>
          <p:cNvPr id="12" name="Picture 11" descr="A sign in the dark&#10;&#10;Description generated with very high confidence">
            <a:extLst>
              <a:ext uri="{FF2B5EF4-FFF2-40B4-BE49-F238E27FC236}">
                <a16:creationId xmlns:a16="http://schemas.microsoft.com/office/drawing/2014/main" id="{10F9D83D-ED4F-4F68-91DF-27D7E1A5F09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0886" y="0"/>
            <a:ext cx="2088635" cy="618462"/>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5" name="Line 8"/>
          <p:cNvSpPr>
            <a:spLocks noChangeShapeType="1"/>
          </p:cNvSpPr>
          <p:nvPr userDrawn="1"/>
        </p:nvSpPr>
        <p:spPr bwMode="auto">
          <a:xfrm>
            <a:off x="0" y="723900"/>
            <a:ext cx="10829762" cy="0"/>
          </a:xfrm>
          <a:prstGeom prst="line">
            <a:avLst/>
          </a:prstGeom>
          <a:noFill/>
          <a:ln w="57150" cmpd="thinThick">
            <a:solidFill>
              <a:srgbClr val="CC6600"/>
            </a:solidFill>
            <a:round/>
            <a:headEnd/>
            <a:tailEnd/>
          </a:ln>
          <a:effectLst/>
        </p:spPr>
        <p:txBody>
          <a:bodyPr/>
          <a:lstStyle/>
          <a:p>
            <a:pPr>
              <a:defRPr/>
            </a:pPr>
            <a:endParaRPr lang="en-US"/>
          </a:p>
        </p:txBody>
      </p:sp>
      <p:sp>
        <p:nvSpPr>
          <p:cNvPr id="2" name="Title 1"/>
          <p:cNvSpPr>
            <a:spLocks noGrp="1"/>
          </p:cNvSpPr>
          <p:nvPr>
            <p:ph type="title"/>
          </p:nvPr>
        </p:nvSpPr>
        <p:spPr>
          <a:xfrm>
            <a:off x="539988" y="274638"/>
            <a:ext cx="9719787" cy="11430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539988" y="1600201"/>
            <a:ext cx="9719787"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Box 10"/>
          <p:cNvSpPr txBox="1">
            <a:spLocks noChangeArrowheads="1"/>
          </p:cNvSpPr>
          <p:nvPr userDrawn="1"/>
        </p:nvSpPr>
        <p:spPr bwMode="auto">
          <a:xfrm>
            <a:off x="0" y="6553200"/>
            <a:ext cx="10799763" cy="304800"/>
          </a:xfrm>
          <a:prstGeom prst="rect">
            <a:avLst/>
          </a:prstGeom>
          <a:solidFill>
            <a:srgbClr val="CC6600">
              <a:alpha val="85001"/>
            </a:srgbClr>
          </a:solidFill>
          <a:ln w="9525">
            <a:noFill/>
            <a:miter lim="800000"/>
            <a:headEnd/>
            <a:tailEnd/>
          </a:ln>
          <a:effectLst/>
        </p:spPr>
        <p:txBody>
          <a:bodyPr/>
          <a:lstStyle/>
          <a:p>
            <a:pPr algn="ctr">
              <a:spcBef>
                <a:spcPct val="50000"/>
              </a:spcBef>
              <a:defRPr/>
            </a:pPr>
            <a:endParaRPr lang="en-US" sz="1200" b="1" i="1"/>
          </a:p>
        </p:txBody>
      </p:sp>
      <p:sp>
        <p:nvSpPr>
          <p:cNvPr id="16" name="Text Box 5"/>
          <p:cNvSpPr txBox="1">
            <a:spLocks noChangeArrowheads="1"/>
          </p:cNvSpPr>
          <p:nvPr userDrawn="1"/>
        </p:nvSpPr>
        <p:spPr bwMode="auto">
          <a:xfrm>
            <a:off x="2609943" y="6572250"/>
            <a:ext cx="5669876" cy="285750"/>
          </a:xfrm>
          <a:prstGeom prst="rect">
            <a:avLst/>
          </a:prstGeom>
          <a:noFill/>
          <a:ln w="9525">
            <a:noFill/>
            <a:miter lim="800000"/>
            <a:headEnd/>
            <a:tailEnd/>
          </a:ln>
          <a:effectLst/>
        </p:spPr>
        <p:txBody>
          <a:bodyPr>
            <a:spAutoFit/>
          </a:bodyPr>
          <a:lstStyle/>
          <a:p>
            <a:pPr algn="ctr">
              <a:spcBef>
                <a:spcPct val="50000"/>
              </a:spcBef>
              <a:defRPr/>
            </a:pPr>
            <a:r>
              <a:rPr lang="en-US" sz="1200" b="1">
                <a:latin typeface="Sabon LT Std" panose="02020602060506020403" pitchFamily="18" charset="0"/>
              </a:rPr>
              <a:t>MANIPAL SCHOOL OF</a:t>
            </a:r>
            <a:r>
              <a:rPr lang="en-US" sz="1200" b="1" baseline="0">
                <a:latin typeface="Sabon LT Std" panose="02020602060506020403" pitchFamily="18" charset="0"/>
              </a:rPr>
              <a:t> INFORMATION SCIENCES</a:t>
            </a:r>
            <a:r>
              <a:rPr lang="en-US" sz="1200" b="1">
                <a:latin typeface="Sabon LT Std" panose="02020602060506020403" pitchFamily="18" charset="0"/>
              </a:rPr>
              <a:t>, MAHE</a:t>
            </a:r>
            <a:r>
              <a:rPr lang="en-US" sz="1200" b="1" baseline="0">
                <a:latin typeface="Sabon LT Std" panose="02020602060506020403" pitchFamily="18" charset="0"/>
              </a:rPr>
              <a:t> -</a:t>
            </a:r>
            <a:r>
              <a:rPr lang="en-US" sz="1200" b="1">
                <a:latin typeface="Sabon LT Std" panose="02020602060506020403" pitchFamily="18" charset="0"/>
              </a:rPr>
              <a:t> MANIPAL</a:t>
            </a:r>
          </a:p>
        </p:txBody>
      </p:sp>
      <p:sp>
        <p:nvSpPr>
          <p:cNvPr id="17" name="TextBox 16"/>
          <p:cNvSpPr txBox="1"/>
          <p:nvPr userDrawn="1"/>
        </p:nvSpPr>
        <p:spPr>
          <a:xfrm>
            <a:off x="70886" y="6550223"/>
            <a:ext cx="1214196" cy="307777"/>
          </a:xfrm>
          <a:prstGeom prst="rect">
            <a:avLst/>
          </a:prstGeom>
          <a:noFill/>
        </p:spPr>
        <p:txBody>
          <a:bodyPr wrap="square" rtlCol="0">
            <a:spAutoFit/>
          </a:bodyPr>
          <a:lstStyle/>
          <a:p>
            <a:fld id="{14FF2BDA-0CCF-4808-8004-9C3749E0E8B5}" type="datetime1">
              <a:rPr lang="en-IN" sz="1400" b="1" smtClean="0">
                <a:latin typeface="Sabon LT Std" panose="02020602060506020403" pitchFamily="18" charset="0"/>
              </a:rPr>
              <a:pPr/>
              <a:t>17-11-2025</a:t>
            </a:fld>
            <a:endParaRPr lang="en-IN" sz="1400" b="1">
              <a:latin typeface="Sabon LT Std" panose="02020602060506020403" pitchFamily="18" charset="0"/>
            </a:endParaRPr>
          </a:p>
        </p:txBody>
      </p:sp>
      <p:sp>
        <p:nvSpPr>
          <p:cNvPr id="18" name="TextBox 17"/>
          <p:cNvSpPr txBox="1"/>
          <p:nvPr userDrawn="1"/>
        </p:nvSpPr>
        <p:spPr>
          <a:xfrm>
            <a:off x="8823623" y="6549395"/>
            <a:ext cx="1965821" cy="307777"/>
          </a:xfrm>
          <a:prstGeom prst="rect">
            <a:avLst/>
          </a:prstGeom>
          <a:noFill/>
        </p:spPr>
        <p:txBody>
          <a:bodyPr wrap="square" rtlCol="0">
            <a:spAutoFit/>
          </a:bodyPr>
          <a:lstStyle/>
          <a:p>
            <a:r>
              <a:rPr lang="en-IN" sz="1400" b="1">
                <a:latin typeface="Sabon LT Std" panose="02020602060506020403" pitchFamily="18" charset="0"/>
              </a:rPr>
              <a:t>Project</a:t>
            </a:r>
            <a:r>
              <a:rPr lang="en-IN" sz="1400"/>
              <a:t> </a:t>
            </a:r>
            <a:fld id="{2B6BCCB2-68F9-4474-BBCE-CCA9053E752F}" type="slidenum">
              <a:rPr lang="en-IN" sz="1400" b="1" smtClean="0">
                <a:latin typeface="Sabon LT Std" panose="02020602060506020403" pitchFamily="18" charset="0"/>
              </a:rPr>
              <a:pPr/>
              <a:t>‹#›</a:t>
            </a:fld>
            <a:endParaRPr lang="en-IN" sz="1400" b="1">
              <a:latin typeface="Sabon LT Std" panose="02020602060506020403" pitchFamily="18" charset="0"/>
            </a:endParaRPr>
          </a:p>
        </p:txBody>
      </p:sp>
      <p:pic>
        <p:nvPicPr>
          <p:cNvPr id="10" name="Picture 9" descr="A sign in the dark&#10;&#10;Description generated with very high confidence">
            <a:extLst>
              <a:ext uri="{FF2B5EF4-FFF2-40B4-BE49-F238E27FC236}">
                <a16:creationId xmlns:a16="http://schemas.microsoft.com/office/drawing/2014/main" id="{3D44CB01-1FE1-4FBB-9269-80BD254564A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0886" y="0"/>
            <a:ext cx="2088635" cy="618462"/>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5" name="Line 8"/>
          <p:cNvSpPr>
            <a:spLocks noChangeShapeType="1"/>
          </p:cNvSpPr>
          <p:nvPr userDrawn="1"/>
        </p:nvSpPr>
        <p:spPr bwMode="auto">
          <a:xfrm>
            <a:off x="0" y="723900"/>
            <a:ext cx="10829762" cy="0"/>
          </a:xfrm>
          <a:prstGeom prst="line">
            <a:avLst/>
          </a:prstGeom>
          <a:noFill/>
          <a:ln w="57150" cmpd="thinThick">
            <a:solidFill>
              <a:srgbClr val="CC6600"/>
            </a:solidFill>
            <a:round/>
            <a:headEnd/>
            <a:tailEnd/>
          </a:ln>
          <a:effectLst/>
        </p:spPr>
        <p:txBody>
          <a:bodyPr/>
          <a:lstStyle/>
          <a:p>
            <a:pPr>
              <a:defRPr/>
            </a:pPr>
            <a:endParaRPr lang="en-US"/>
          </a:p>
        </p:txBody>
      </p:sp>
      <p:sp>
        <p:nvSpPr>
          <p:cNvPr id="2" name="Vertical Title 1"/>
          <p:cNvSpPr>
            <a:spLocks noGrp="1"/>
          </p:cNvSpPr>
          <p:nvPr>
            <p:ph type="title" orient="vert"/>
          </p:nvPr>
        </p:nvSpPr>
        <p:spPr>
          <a:xfrm>
            <a:off x="7829828" y="274639"/>
            <a:ext cx="2429947"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539988" y="274639"/>
            <a:ext cx="7109844" cy="585152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Box 10"/>
          <p:cNvSpPr txBox="1">
            <a:spLocks noChangeArrowheads="1"/>
          </p:cNvSpPr>
          <p:nvPr userDrawn="1"/>
        </p:nvSpPr>
        <p:spPr bwMode="auto">
          <a:xfrm>
            <a:off x="0" y="6553200"/>
            <a:ext cx="10799763" cy="304800"/>
          </a:xfrm>
          <a:prstGeom prst="rect">
            <a:avLst/>
          </a:prstGeom>
          <a:solidFill>
            <a:srgbClr val="CC6600">
              <a:alpha val="85001"/>
            </a:srgbClr>
          </a:solidFill>
          <a:ln w="9525">
            <a:noFill/>
            <a:miter lim="800000"/>
            <a:headEnd/>
            <a:tailEnd/>
          </a:ln>
          <a:effectLst/>
        </p:spPr>
        <p:txBody>
          <a:bodyPr/>
          <a:lstStyle/>
          <a:p>
            <a:pPr algn="ctr">
              <a:spcBef>
                <a:spcPct val="50000"/>
              </a:spcBef>
              <a:defRPr/>
            </a:pPr>
            <a:endParaRPr lang="en-US" sz="1200" b="1" i="1"/>
          </a:p>
        </p:txBody>
      </p:sp>
      <p:sp>
        <p:nvSpPr>
          <p:cNvPr id="16" name="Text Box 5"/>
          <p:cNvSpPr txBox="1">
            <a:spLocks noChangeArrowheads="1"/>
          </p:cNvSpPr>
          <p:nvPr userDrawn="1"/>
        </p:nvSpPr>
        <p:spPr bwMode="auto">
          <a:xfrm>
            <a:off x="2609943" y="6572250"/>
            <a:ext cx="5669876" cy="285750"/>
          </a:xfrm>
          <a:prstGeom prst="rect">
            <a:avLst/>
          </a:prstGeom>
          <a:noFill/>
          <a:ln w="9525">
            <a:noFill/>
            <a:miter lim="800000"/>
            <a:headEnd/>
            <a:tailEnd/>
          </a:ln>
          <a:effectLst/>
        </p:spPr>
        <p:txBody>
          <a:bodyPr>
            <a:spAutoFit/>
          </a:bodyPr>
          <a:lstStyle/>
          <a:p>
            <a:pPr algn="ctr">
              <a:spcBef>
                <a:spcPct val="50000"/>
              </a:spcBef>
              <a:defRPr/>
            </a:pPr>
            <a:r>
              <a:rPr lang="en-US" sz="1200" b="1">
                <a:latin typeface="Sabon LT Std" panose="02020602060506020403" pitchFamily="18" charset="0"/>
              </a:rPr>
              <a:t>MANIPAL SCHOOL OF</a:t>
            </a:r>
            <a:r>
              <a:rPr lang="en-US" sz="1200" b="1" baseline="0">
                <a:latin typeface="Sabon LT Std" panose="02020602060506020403" pitchFamily="18" charset="0"/>
              </a:rPr>
              <a:t> INFORMATION SCIENCES</a:t>
            </a:r>
            <a:r>
              <a:rPr lang="en-US" sz="1200" b="1">
                <a:latin typeface="Sabon LT Std" panose="02020602060506020403" pitchFamily="18" charset="0"/>
              </a:rPr>
              <a:t>, MAHE</a:t>
            </a:r>
            <a:r>
              <a:rPr lang="en-US" sz="1200" b="1" baseline="0">
                <a:latin typeface="Sabon LT Std" panose="02020602060506020403" pitchFamily="18" charset="0"/>
              </a:rPr>
              <a:t> -</a:t>
            </a:r>
            <a:r>
              <a:rPr lang="en-US" sz="1200" b="1">
                <a:latin typeface="Sabon LT Std" panose="02020602060506020403" pitchFamily="18" charset="0"/>
              </a:rPr>
              <a:t> MANIPAL</a:t>
            </a:r>
          </a:p>
        </p:txBody>
      </p:sp>
      <p:sp>
        <p:nvSpPr>
          <p:cNvPr id="17" name="TextBox 16"/>
          <p:cNvSpPr txBox="1"/>
          <p:nvPr userDrawn="1"/>
        </p:nvSpPr>
        <p:spPr>
          <a:xfrm>
            <a:off x="70886" y="6550223"/>
            <a:ext cx="1214196" cy="307777"/>
          </a:xfrm>
          <a:prstGeom prst="rect">
            <a:avLst/>
          </a:prstGeom>
          <a:noFill/>
        </p:spPr>
        <p:txBody>
          <a:bodyPr wrap="square" rtlCol="0">
            <a:spAutoFit/>
          </a:bodyPr>
          <a:lstStyle/>
          <a:p>
            <a:fld id="{14FF2BDA-0CCF-4808-8004-9C3749E0E8B5}" type="datetime1">
              <a:rPr lang="en-IN" sz="1400" b="1" smtClean="0">
                <a:latin typeface="Sabon LT Std" panose="02020602060506020403" pitchFamily="18" charset="0"/>
              </a:rPr>
              <a:pPr/>
              <a:t>17-11-2025</a:t>
            </a:fld>
            <a:endParaRPr lang="en-IN" sz="1400" b="1">
              <a:latin typeface="Sabon LT Std" panose="02020602060506020403" pitchFamily="18" charset="0"/>
            </a:endParaRPr>
          </a:p>
        </p:txBody>
      </p:sp>
      <p:sp>
        <p:nvSpPr>
          <p:cNvPr id="18" name="TextBox 17"/>
          <p:cNvSpPr txBox="1"/>
          <p:nvPr userDrawn="1"/>
        </p:nvSpPr>
        <p:spPr>
          <a:xfrm>
            <a:off x="8823623" y="6549395"/>
            <a:ext cx="1965821" cy="307777"/>
          </a:xfrm>
          <a:prstGeom prst="rect">
            <a:avLst/>
          </a:prstGeom>
          <a:noFill/>
        </p:spPr>
        <p:txBody>
          <a:bodyPr wrap="square" rtlCol="0">
            <a:spAutoFit/>
          </a:bodyPr>
          <a:lstStyle/>
          <a:p>
            <a:r>
              <a:rPr lang="en-IN" sz="1400" b="1">
                <a:latin typeface="Sabon LT Std" panose="02020602060506020403" pitchFamily="18" charset="0"/>
              </a:rPr>
              <a:t>Project</a:t>
            </a:r>
            <a:r>
              <a:rPr lang="en-IN" sz="1400"/>
              <a:t> </a:t>
            </a:r>
            <a:fld id="{2B6BCCB2-68F9-4474-BBCE-CCA9053E752F}" type="slidenum">
              <a:rPr lang="en-IN" sz="1400" b="1" smtClean="0">
                <a:latin typeface="Sabon LT Std" panose="02020602060506020403" pitchFamily="18" charset="0"/>
              </a:rPr>
              <a:pPr/>
              <a:t>‹#›</a:t>
            </a:fld>
            <a:endParaRPr lang="en-IN" sz="1400" b="1">
              <a:latin typeface="Sabon LT Std" panose="02020602060506020403" pitchFamily="18" charset="0"/>
            </a:endParaRPr>
          </a:p>
        </p:txBody>
      </p:sp>
      <p:pic>
        <p:nvPicPr>
          <p:cNvPr id="10" name="Picture 9" descr="A sign in the dark&#10;&#10;Description generated with very high confidence">
            <a:extLst>
              <a:ext uri="{FF2B5EF4-FFF2-40B4-BE49-F238E27FC236}">
                <a16:creationId xmlns:a16="http://schemas.microsoft.com/office/drawing/2014/main" id="{03228479-1D6A-4559-AB1D-0A9FDB4EE81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0886" y="0"/>
            <a:ext cx="2088635" cy="618462"/>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2" name="Line 8"/>
          <p:cNvSpPr>
            <a:spLocks noChangeShapeType="1"/>
          </p:cNvSpPr>
          <p:nvPr userDrawn="1"/>
        </p:nvSpPr>
        <p:spPr bwMode="auto">
          <a:xfrm>
            <a:off x="0" y="723900"/>
            <a:ext cx="10829762" cy="0"/>
          </a:xfrm>
          <a:prstGeom prst="line">
            <a:avLst/>
          </a:prstGeom>
          <a:noFill/>
          <a:ln w="57150" cmpd="thinThick">
            <a:solidFill>
              <a:srgbClr val="CC6600"/>
            </a:solidFill>
            <a:round/>
            <a:headEnd/>
            <a:tailEnd/>
          </a:ln>
          <a:effectLst/>
        </p:spPr>
        <p:txBody>
          <a:bodyPr/>
          <a:lstStyle/>
          <a:p>
            <a:pPr>
              <a:defRPr/>
            </a:pPr>
            <a:endParaRPr lang="en-US"/>
          </a:p>
        </p:txBody>
      </p:sp>
      <p:sp>
        <p:nvSpPr>
          <p:cNvPr id="10" name="Text Box 10"/>
          <p:cNvSpPr txBox="1">
            <a:spLocks noChangeArrowheads="1"/>
          </p:cNvSpPr>
          <p:nvPr userDrawn="1"/>
        </p:nvSpPr>
        <p:spPr bwMode="auto">
          <a:xfrm>
            <a:off x="0" y="6553200"/>
            <a:ext cx="10799763" cy="304800"/>
          </a:xfrm>
          <a:prstGeom prst="rect">
            <a:avLst/>
          </a:prstGeom>
          <a:solidFill>
            <a:srgbClr val="CC6600">
              <a:alpha val="85001"/>
            </a:srgbClr>
          </a:solidFill>
          <a:ln w="9525">
            <a:noFill/>
            <a:miter lim="800000"/>
            <a:headEnd/>
            <a:tailEnd/>
          </a:ln>
          <a:effectLst/>
        </p:spPr>
        <p:txBody>
          <a:bodyPr/>
          <a:lstStyle/>
          <a:p>
            <a:pPr algn="ctr">
              <a:spcBef>
                <a:spcPct val="50000"/>
              </a:spcBef>
              <a:defRPr/>
            </a:pPr>
            <a:endParaRPr lang="en-US" sz="1200" b="1" i="1"/>
          </a:p>
        </p:txBody>
      </p:sp>
      <p:sp>
        <p:nvSpPr>
          <p:cNvPr id="11" name="Text Box 5"/>
          <p:cNvSpPr txBox="1">
            <a:spLocks noChangeArrowheads="1"/>
          </p:cNvSpPr>
          <p:nvPr userDrawn="1"/>
        </p:nvSpPr>
        <p:spPr bwMode="auto">
          <a:xfrm>
            <a:off x="2609943" y="6572250"/>
            <a:ext cx="5669876" cy="285750"/>
          </a:xfrm>
          <a:prstGeom prst="rect">
            <a:avLst/>
          </a:prstGeom>
          <a:noFill/>
          <a:ln w="9525">
            <a:noFill/>
            <a:miter lim="800000"/>
            <a:headEnd/>
            <a:tailEnd/>
          </a:ln>
          <a:effectLst/>
        </p:spPr>
        <p:txBody>
          <a:bodyPr>
            <a:spAutoFit/>
          </a:bodyPr>
          <a:lstStyle/>
          <a:p>
            <a:pPr algn="ctr">
              <a:spcBef>
                <a:spcPct val="50000"/>
              </a:spcBef>
              <a:defRPr/>
            </a:pPr>
            <a:r>
              <a:rPr lang="en-US" sz="1200" b="1">
                <a:latin typeface="Sabon LT Std" panose="02020602060506020403" pitchFamily="18" charset="0"/>
              </a:rPr>
              <a:t>MANIPAL SCHOOL OF</a:t>
            </a:r>
            <a:r>
              <a:rPr lang="en-US" sz="1200" b="1" baseline="0">
                <a:latin typeface="Sabon LT Std" panose="02020602060506020403" pitchFamily="18" charset="0"/>
              </a:rPr>
              <a:t> INFORMATION SCIENCES</a:t>
            </a:r>
            <a:r>
              <a:rPr lang="en-US" sz="1200" b="1">
                <a:latin typeface="Sabon LT Std" panose="02020602060506020403" pitchFamily="18" charset="0"/>
              </a:rPr>
              <a:t>, MAHE</a:t>
            </a:r>
            <a:r>
              <a:rPr lang="en-US" sz="1200" b="1" baseline="0">
                <a:latin typeface="Sabon LT Std" panose="02020602060506020403" pitchFamily="18" charset="0"/>
              </a:rPr>
              <a:t> -</a:t>
            </a:r>
            <a:r>
              <a:rPr lang="en-US" sz="1200" b="1">
                <a:latin typeface="Sabon LT Std" panose="02020602060506020403" pitchFamily="18" charset="0"/>
              </a:rPr>
              <a:t> MANIPAL</a:t>
            </a:r>
          </a:p>
        </p:txBody>
      </p:sp>
      <p:sp>
        <p:nvSpPr>
          <p:cNvPr id="13" name="TextBox 12"/>
          <p:cNvSpPr txBox="1"/>
          <p:nvPr userDrawn="1"/>
        </p:nvSpPr>
        <p:spPr>
          <a:xfrm>
            <a:off x="70886" y="6550223"/>
            <a:ext cx="1214196" cy="307777"/>
          </a:xfrm>
          <a:prstGeom prst="rect">
            <a:avLst/>
          </a:prstGeom>
          <a:noFill/>
        </p:spPr>
        <p:txBody>
          <a:bodyPr wrap="square" rtlCol="0">
            <a:spAutoFit/>
          </a:bodyPr>
          <a:lstStyle/>
          <a:p>
            <a:fld id="{14FF2BDA-0CCF-4808-8004-9C3749E0E8B5}" type="datetime1">
              <a:rPr lang="en-IN" sz="1400" b="1" smtClean="0">
                <a:latin typeface="Sabon LT Std" panose="02020602060506020403" pitchFamily="18" charset="0"/>
              </a:rPr>
              <a:pPr/>
              <a:t>17-11-2025</a:t>
            </a:fld>
            <a:endParaRPr lang="en-IN" sz="1400" b="1">
              <a:latin typeface="Sabon LT Std" panose="02020602060506020403" pitchFamily="18" charset="0"/>
            </a:endParaRPr>
          </a:p>
        </p:txBody>
      </p:sp>
      <p:sp>
        <p:nvSpPr>
          <p:cNvPr id="14" name="TextBox 13"/>
          <p:cNvSpPr txBox="1"/>
          <p:nvPr userDrawn="1"/>
        </p:nvSpPr>
        <p:spPr>
          <a:xfrm>
            <a:off x="8823623" y="6549395"/>
            <a:ext cx="1965821" cy="307777"/>
          </a:xfrm>
          <a:prstGeom prst="rect">
            <a:avLst/>
          </a:prstGeom>
          <a:noFill/>
        </p:spPr>
        <p:txBody>
          <a:bodyPr wrap="square" rtlCol="0">
            <a:spAutoFit/>
          </a:bodyPr>
          <a:lstStyle/>
          <a:p>
            <a:r>
              <a:rPr lang="en-IN" sz="1400" b="1">
                <a:latin typeface="Sabon LT Std" panose="02020602060506020403" pitchFamily="18" charset="0"/>
              </a:rPr>
              <a:t>Project</a:t>
            </a:r>
            <a:r>
              <a:rPr lang="en-IN" sz="1400"/>
              <a:t> </a:t>
            </a:r>
            <a:fld id="{2B6BCCB2-68F9-4474-BBCE-CCA9053E752F}" type="slidenum">
              <a:rPr lang="en-IN" sz="1400" b="1" smtClean="0">
                <a:latin typeface="Sabon LT Std" panose="02020602060506020403" pitchFamily="18" charset="0"/>
              </a:rPr>
              <a:pPr/>
              <a:t>‹#›</a:t>
            </a:fld>
            <a:endParaRPr lang="en-IN" sz="1400" b="1">
              <a:latin typeface="Sabon LT Std" panose="02020602060506020403" pitchFamily="18" charset="0"/>
            </a:endParaRPr>
          </a:p>
        </p:txBody>
      </p:sp>
      <p:pic>
        <p:nvPicPr>
          <p:cNvPr id="9" name="Picture 8" descr="A sign in the dark&#10;&#10;Description generated with very high confidence">
            <a:extLst>
              <a:ext uri="{FF2B5EF4-FFF2-40B4-BE49-F238E27FC236}">
                <a16:creationId xmlns:a16="http://schemas.microsoft.com/office/drawing/2014/main" id="{3550F69F-9161-4E22-9322-2C0D25799A0F}"/>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0" y="-48374"/>
            <a:ext cx="2609943" cy="772826"/>
          </a:xfrm>
          <a:prstGeom prst="rect">
            <a:avLst/>
          </a:prstGeom>
        </p:spPr>
      </p:pic>
    </p:spTree>
  </p:cSld>
  <p:clrMap bg1="lt1" tx1="dk1" bg2="lt2" tx2="dk2" accent1="accent1" accent2="accent2" accent3="accent3" accent4="accent4" accent5="accent5" accent6="accent6" hlink="hlink" folHlink="folHlink"/>
  <p:sldLayoutIdLst>
    <p:sldLayoutId id="2147483660" r:id="rId1"/>
    <p:sldLayoutId id="2147483659" r:id="rId2"/>
    <p:sldLayoutId id="2147483658" r:id="rId3"/>
    <p:sldLayoutId id="2147483657" r:id="rId4"/>
    <p:sldLayoutId id="2147483656" r:id="rId5"/>
    <p:sldLayoutId id="2147483655" r:id="rId6"/>
    <p:sldLayoutId id="2147483661" r:id="rId7"/>
    <p:sldLayoutId id="2147483662" r:id="rId8"/>
    <p:sldLayoutId id="2147483663" r:id="rId9"/>
    <p:sldLayoutId id="2147483664" r:id="rId10"/>
    <p:sldLayoutId id="2147483665" r:id="rId11"/>
  </p:sldLayoutIdLst>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hf hdr="0" ftr="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ext Box 4"/>
          <p:cNvSpPr txBox="1">
            <a:spLocks noChangeArrowheads="1"/>
          </p:cNvSpPr>
          <p:nvPr/>
        </p:nvSpPr>
        <p:spPr bwMode="auto">
          <a:xfrm>
            <a:off x="2504281" y="176213"/>
            <a:ext cx="7315200" cy="461962"/>
          </a:xfrm>
          <a:prstGeom prst="rect">
            <a:avLst/>
          </a:prstGeom>
          <a:noFill/>
          <a:ln w="9525">
            <a:noFill/>
            <a:miter lim="800000"/>
            <a:headEnd/>
            <a:tailEnd/>
          </a:ln>
        </p:spPr>
        <p:txBody>
          <a:bodyPr>
            <a:spAutoFit/>
          </a:bodyPr>
          <a:lstStyle/>
          <a:p>
            <a:pPr algn="r">
              <a:spcBef>
                <a:spcPct val="50000"/>
              </a:spcBef>
            </a:pPr>
            <a:r>
              <a:rPr lang="en-US" sz="2400" b="1">
                <a:solidFill>
                  <a:srgbClr val="D47D26"/>
                </a:solidFill>
                <a:latin typeface="Times New Roman" panose="02020603050405020304" pitchFamily="18" charset="0"/>
                <a:cs typeface="Times New Roman" panose="02020603050405020304" pitchFamily="18" charset="0"/>
              </a:rPr>
              <a:t>MINI PROJECT</a:t>
            </a:r>
          </a:p>
        </p:txBody>
      </p:sp>
      <p:graphicFrame>
        <p:nvGraphicFramePr>
          <p:cNvPr id="2" name="Table 1"/>
          <p:cNvGraphicFramePr>
            <a:graphicFrameLocks noGrp="1"/>
          </p:cNvGraphicFramePr>
          <p:nvPr>
            <p:extLst>
              <p:ext uri="{D42A27DB-BD31-4B8C-83A1-F6EECF244321}">
                <p14:modId xmlns:p14="http://schemas.microsoft.com/office/powerpoint/2010/main" val="1117198044"/>
              </p:ext>
            </p:extLst>
          </p:nvPr>
        </p:nvGraphicFramePr>
        <p:xfrm>
          <a:off x="1151409" y="1484784"/>
          <a:ext cx="8534398" cy="4221048"/>
        </p:xfrm>
        <a:graphic>
          <a:graphicData uri="http://schemas.openxmlformats.org/drawingml/2006/table">
            <a:tbl>
              <a:tblPr/>
              <a:tblGrid>
                <a:gridCol w="2057266">
                  <a:extLst>
                    <a:ext uri="{9D8B030D-6E8A-4147-A177-3AD203B41FA5}">
                      <a16:colId xmlns:a16="http://schemas.microsoft.com/office/drawing/2014/main" val="20000"/>
                    </a:ext>
                  </a:extLst>
                </a:gridCol>
                <a:gridCol w="1619283">
                  <a:extLst>
                    <a:ext uri="{9D8B030D-6E8A-4147-A177-3AD203B41FA5}">
                      <a16:colId xmlns:a16="http://schemas.microsoft.com/office/drawing/2014/main" val="20001"/>
                    </a:ext>
                  </a:extLst>
                </a:gridCol>
                <a:gridCol w="1619283">
                  <a:extLst>
                    <a:ext uri="{9D8B030D-6E8A-4147-A177-3AD203B41FA5}">
                      <a16:colId xmlns:a16="http://schemas.microsoft.com/office/drawing/2014/main" val="2788499379"/>
                    </a:ext>
                  </a:extLst>
                </a:gridCol>
                <a:gridCol w="1619283">
                  <a:extLst>
                    <a:ext uri="{9D8B030D-6E8A-4147-A177-3AD203B41FA5}">
                      <a16:colId xmlns:a16="http://schemas.microsoft.com/office/drawing/2014/main" val="4233049753"/>
                    </a:ext>
                  </a:extLst>
                </a:gridCol>
                <a:gridCol w="1619283">
                  <a:extLst>
                    <a:ext uri="{9D8B030D-6E8A-4147-A177-3AD203B41FA5}">
                      <a16:colId xmlns:a16="http://schemas.microsoft.com/office/drawing/2014/main" val="2004038616"/>
                    </a:ext>
                  </a:extLst>
                </a:gridCol>
              </a:tblGrid>
              <a:tr h="1512168">
                <a:tc>
                  <a:txBody>
                    <a:bodyPr/>
                    <a:lstStyle/>
                    <a:p>
                      <a:pPr marL="0" marR="0" algn="l">
                        <a:spcBef>
                          <a:spcPts val="310"/>
                        </a:spcBef>
                        <a:spcAft>
                          <a:spcPts val="310"/>
                        </a:spcAft>
                      </a:pPr>
                      <a:r>
                        <a:rPr lang="en-US" sz="1800" b="0" i="0">
                          <a:effectLst/>
                          <a:latin typeface="Times New Roman"/>
                        </a:rPr>
                        <a:t>Name</a:t>
                      </a:r>
                      <a:endParaRPr lang="en-US" sz="1800" b="0" i="1">
                        <a:effectLst/>
                        <a:latin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4">
                  <a:txBody>
                    <a:bodyPr/>
                    <a:lstStyle/>
                    <a:p>
                      <a:pPr marL="0" marR="0" algn="l">
                        <a:spcBef>
                          <a:spcPts val="310"/>
                        </a:spcBef>
                        <a:spcAft>
                          <a:spcPts val="310"/>
                        </a:spcAft>
                      </a:pPr>
                      <a:r>
                        <a:rPr lang="en-US" sz="1800" b="0" i="0">
                          <a:effectLst/>
                          <a:latin typeface="Times New Roman"/>
                        </a:rPr>
                        <a:t>Adithya Rao </a:t>
                      </a:r>
                      <a:r>
                        <a:rPr lang="en-US" sz="1800" b="0" i="0" err="1">
                          <a:effectLst/>
                          <a:latin typeface="Times New Roman"/>
                        </a:rPr>
                        <a:t>Kalathur</a:t>
                      </a:r>
                      <a:r>
                        <a:rPr lang="en-US" sz="1800" b="0" i="0">
                          <a:effectLst/>
                          <a:latin typeface="Times New Roman"/>
                        </a:rPr>
                        <a:t>, Vaishnav PS, Sriram K, Vaibhav V acharya</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04056">
                <a:tc>
                  <a:txBody>
                    <a:bodyPr/>
                    <a:lstStyle/>
                    <a:p>
                      <a:pPr marL="0" marR="0" algn="l">
                        <a:spcBef>
                          <a:spcPts val="310"/>
                        </a:spcBef>
                        <a:spcAft>
                          <a:spcPts val="310"/>
                        </a:spcAft>
                      </a:pPr>
                      <a:r>
                        <a:rPr lang="en-US" sz="1800" b="0" i="0">
                          <a:effectLst/>
                          <a:latin typeface="Times New Roman"/>
                        </a:rPr>
                        <a:t>Registration Numbers</a:t>
                      </a:r>
                      <a:endParaRPr lang="en-US" sz="1800" b="0" i="1">
                        <a:effectLst/>
                        <a:latin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lvl="0" algn="l">
                        <a:spcBef>
                          <a:spcPts val="310"/>
                        </a:spcBef>
                        <a:spcAft>
                          <a:spcPts val="310"/>
                        </a:spcAft>
                        <a:buNone/>
                      </a:pPr>
                      <a:r>
                        <a:rPr lang="en-US" sz="1800" b="0" i="0" kern="1200">
                          <a:solidFill>
                            <a:schemeClr val="tx1"/>
                          </a:solidFill>
                          <a:effectLst/>
                          <a:latin typeface="Times New Roman"/>
                          <a:ea typeface="+mn-ea"/>
                          <a:cs typeface="+mn-cs"/>
                        </a:rPr>
                        <a:t>251100610012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lvl="0" algn="l">
                        <a:spcBef>
                          <a:spcPts val="310"/>
                        </a:spcBef>
                        <a:spcAft>
                          <a:spcPts val="310"/>
                        </a:spcAft>
                        <a:buNone/>
                      </a:pPr>
                      <a:r>
                        <a:rPr lang="en-US" sz="1800" b="0" i="0" kern="1200">
                          <a:solidFill>
                            <a:schemeClr val="tx1"/>
                          </a:solidFill>
                          <a:effectLst/>
                          <a:latin typeface="Times New Roman"/>
                          <a:ea typeface="+mn-ea"/>
                          <a:cs typeface="+mn-cs"/>
                        </a:rPr>
                        <a:t>251100610013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lvl="0" algn="l">
                        <a:spcBef>
                          <a:spcPts val="310"/>
                        </a:spcBef>
                        <a:spcAft>
                          <a:spcPts val="310"/>
                        </a:spcAft>
                        <a:buNone/>
                      </a:pPr>
                      <a:r>
                        <a:rPr lang="en-US" sz="1800" b="0" i="0" kern="1200">
                          <a:solidFill>
                            <a:schemeClr val="tx1"/>
                          </a:solidFill>
                          <a:effectLst/>
                          <a:latin typeface="Times New Roman"/>
                          <a:ea typeface="+mn-ea"/>
                          <a:cs typeface="+mn-cs"/>
                        </a:rPr>
                        <a:t>251100610017</a:t>
                      </a:r>
                    </a:p>
                  </a:txBody>
                  <a:tcPr marL="68580" marR="68580" marT="0" marB="0" anchor="ctr">
                    <a:lnL w="12700">
                      <a:solidFill>
                        <a:srgbClr val="000000"/>
                      </a:solidFill>
                    </a:lnL>
                    <a:lnR w="12700">
                      <a:solidFill>
                        <a:srgbClr val="000000"/>
                      </a:solidFill>
                    </a:lnR>
                    <a:lnT w="12700">
                      <a:solidFill>
                        <a:srgbClr val="000000"/>
                      </a:solidFill>
                    </a:lnT>
                    <a:lnB w="12700">
                      <a:solidFill>
                        <a:srgbClr val="000000"/>
                      </a:solidFill>
                    </a:lnB>
                  </a:tcPr>
                </a:tc>
                <a:tc>
                  <a:txBody>
                    <a:bodyPr/>
                    <a:lstStyle/>
                    <a:p>
                      <a:pPr lvl="0" algn="l">
                        <a:spcBef>
                          <a:spcPts val="310"/>
                        </a:spcBef>
                        <a:spcAft>
                          <a:spcPts val="310"/>
                        </a:spcAft>
                        <a:buNone/>
                      </a:pPr>
                      <a:r>
                        <a:rPr lang="en-US" sz="1800" b="0" i="0" kern="1200">
                          <a:solidFill>
                            <a:schemeClr val="tx1"/>
                          </a:solidFill>
                          <a:effectLst/>
                          <a:latin typeface="Times New Roman"/>
                          <a:ea typeface="+mn-ea"/>
                          <a:cs typeface="+mn-cs"/>
                        </a:rPr>
                        <a:t>251100610040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04056">
                <a:tc>
                  <a:txBody>
                    <a:bodyPr/>
                    <a:lstStyle/>
                    <a:p>
                      <a:pPr marL="0" marR="0" algn="l">
                        <a:spcBef>
                          <a:spcPts val="310"/>
                        </a:spcBef>
                        <a:spcAft>
                          <a:spcPts val="310"/>
                        </a:spcAft>
                      </a:pPr>
                      <a:r>
                        <a:rPr lang="en-US" sz="1800" b="0" i="0">
                          <a:effectLst/>
                          <a:latin typeface="Times New Roman"/>
                        </a:rPr>
                        <a:t>Branch</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4">
                  <a:txBody>
                    <a:bodyPr/>
                    <a:lstStyle/>
                    <a:p>
                      <a:pPr lvl="0" algn="l">
                        <a:spcBef>
                          <a:spcPts val="310"/>
                        </a:spcBef>
                        <a:spcAft>
                          <a:spcPts val="310"/>
                        </a:spcAft>
                        <a:buNone/>
                      </a:pPr>
                      <a:r>
                        <a:rPr lang="en-US" sz="1800" b="0" i="0" kern="1200">
                          <a:solidFill>
                            <a:schemeClr val="tx1"/>
                          </a:solidFill>
                          <a:effectLst/>
                          <a:latin typeface="Times New Roman"/>
                          <a:ea typeface="+mn-ea"/>
                          <a:cs typeface="+mn-cs"/>
                        </a:rPr>
                        <a:t>M.E. Computer Science and Engineering</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lvl="0" algn="l">
                        <a:spcBef>
                          <a:spcPts val="310"/>
                        </a:spcBef>
                        <a:spcAft>
                          <a:spcPts val="310"/>
                        </a:spcAft>
                        <a:buNone/>
                      </a:pPr>
                      <a:endParaRPr lang="en-US" sz="1800" b="0" i="0" kern="1200">
                        <a:solidFill>
                          <a:schemeClr val="tx1"/>
                        </a:solidFill>
                        <a:effectLst/>
                        <a:latin typeface="Times New Roman"/>
                        <a:ea typeface="+mn-ea"/>
                        <a:cs typeface="+mn-cs"/>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pPr lvl="0" algn="l">
                        <a:spcBef>
                          <a:spcPts val="310"/>
                        </a:spcBef>
                        <a:spcAft>
                          <a:spcPts val="310"/>
                        </a:spcAft>
                        <a:buNone/>
                      </a:pPr>
                      <a:endParaRPr lang="en-US" sz="1800" b="0" i="0" kern="1200">
                        <a:solidFill>
                          <a:schemeClr val="tx1"/>
                        </a:solidFill>
                        <a:effectLst/>
                        <a:latin typeface="Times New Roman"/>
                        <a:ea typeface="+mn-ea"/>
                        <a:cs typeface="+mn-cs"/>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4981560"/>
                  </a:ext>
                </a:extLst>
              </a:tr>
              <a:tr h="1135537">
                <a:tc>
                  <a:txBody>
                    <a:bodyPr/>
                    <a:lstStyle/>
                    <a:p>
                      <a:pPr marL="0" marR="0" algn="l">
                        <a:spcBef>
                          <a:spcPts val="310"/>
                        </a:spcBef>
                        <a:spcAft>
                          <a:spcPts val="310"/>
                        </a:spcAft>
                      </a:pPr>
                      <a:r>
                        <a:rPr lang="en-US" sz="1800" b="0" i="0">
                          <a:effectLst/>
                          <a:latin typeface="Times New Roman"/>
                        </a:rPr>
                        <a:t>Project</a:t>
                      </a:r>
                      <a:r>
                        <a:rPr lang="en-US" sz="1800" b="0" i="0" baseline="0">
                          <a:effectLst/>
                          <a:latin typeface="Times New Roman"/>
                        </a:rPr>
                        <a:t> Title</a:t>
                      </a:r>
                      <a:endParaRPr lang="en-US" sz="1800" b="0" i="1">
                        <a:effectLst/>
                        <a:latin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4">
                  <a:txBody>
                    <a:bodyPr/>
                    <a:lstStyle/>
                    <a:p>
                      <a:pPr lvl="0">
                        <a:buNone/>
                      </a:pPr>
                      <a:r>
                        <a:rPr lang="en-US" sz="1800" b="0" i="0" u="none" strike="noStrike" kern="1200" noProof="0">
                          <a:solidFill>
                            <a:schemeClr val="tx1"/>
                          </a:solidFill>
                          <a:latin typeface="Times New Roman"/>
                        </a:rPr>
                        <a:t>Development of Deep Learning Approach for Grading Squamous Cell Carcinoma from Histopathology Images</a:t>
                      </a:r>
                      <a:endParaRPr lang="en-IN" sz="1800" b="0" i="0" u="none" strike="noStrike" kern="1200" noProof="0">
                        <a:solidFill>
                          <a:schemeClr val="tx1"/>
                        </a:solidFill>
                        <a:latin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4"/>
                  </a:ext>
                </a:extLst>
              </a:tr>
              <a:tr h="520647">
                <a:tc>
                  <a:txBody>
                    <a:bodyPr/>
                    <a:lstStyle/>
                    <a:p>
                      <a:pPr marL="0" marR="0" algn="l">
                        <a:spcBef>
                          <a:spcPts val="310"/>
                        </a:spcBef>
                        <a:spcAft>
                          <a:spcPts val="310"/>
                        </a:spcAft>
                      </a:pPr>
                      <a:r>
                        <a:rPr lang="en-US" sz="1800" b="0" i="0">
                          <a:effectLst/>
                          <a:latin typeface="Times New Roman"/>
                        </a:rPr>
                        <a:t>Guide</a:t>
                      </a:r>
                      <a:endParaRPr lang="en-US" sz="1800" b="0" i="1">
                        <a:effectLst/>
                        <a:latin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4">
                  <a:txBody>
                    <a:bodyPr/>
                    <a:lstStyle/>
                    <a:p>
                      <a:pPr lvl="0" algn="just">
                        <a:lnSpc>
                          <a:spcPct val="100000"/>
                        </a:lnSpc>
                        <a:spcBef>
                          <a:spcPts val="0"/>
                        </a:spcBef>
                        <a:spcAft>
                          <a:spcPts val="0"/>
                        </a:spcAft>
                        <a:buNone/>
                      </a:pPr>
                      <a:r>
                        <a:rPr lang="en-IN" sz="1800" b="0" i="0" u="none" strike="noStrike" noProof="0">
                          <a:solidFill>
                            <a:srgbClr val="000000"/>
                          </a:solidFill>
                          <a:effectLst/>
                          <a:latin typeface="Times New Roman"/>
                        </a:rPr>
                        <a:t>Dr Keerthana Prasad</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4"/>
          <p:cNvSpPr txBox="1">
            <a:spLocks noChangeArrowheads="1"/>
          </p:cNvSpPr>
          <p:nvPr/>
        </p:nvSpPr>
        <p:spPr bwMode="auto">
          <a:xfrm>
            <a:off x="8064177" y="188640"/>
            <a:ext cx="2418656" cy="461962"/>
          </a:xfrm>
          <a:prstGeom prst="rect">
            <a:avLst/>
          </a:prstGeom>
          <a:noFill/>
          <a:ln w="9525">
            <a:noFill/>
            <a:miter lim="800000"/>
            <a:headEnd/>
            <a:tailEnd/>
          </a:ln>
        </p:spPr>
        <p:txBody>
          <a:bodyPr wrap="square" anchor="t">
            <a:spAutoFit/>
          </a:bodyPr>
          <a:lstStyle/>
          <a:p>
            <a:pPr algn="ctr">
              <a:spcBef>
                <a:spcPct val="50000"/>
              </a:spcBef>
            </a:pPr>
            <a:r>
              <a:rPr lang="en-US" sz="2400" b="1">
                <a:solidFill>
                  <a:srgbClr val="D47D26"/>
                </a:solidFill>
                <a:latin typeface="Times New Roman" panose="02020603050405020304" pitchFamily="18" charset="0"/>
                <a:cs typeface="Times New Roman" panose="02020603050405020304" pitchFamily="18" charset="0"/>
              </a:rPr>
              <a:t>CONTENTS</a:t>
            </a:r>
          </a:p>
        </p:txBody>
      </p:sp>
      <p:sp>
        <p:nvSpPr>
          <p:cNvPr id="3" name="TextBox 2"/>
          <p:cNvSpPr txBox="1"/>
          <p:nvPr/>
        </p:nvSpPr>
        <p:spPr>
          <a:xfrm>
            <a:off x="435395" y="1045605"/>
            <a:ext cx="8839200" cy="4653646"/>
          </a:xfrm>
          <a:prstGeom prst="rect">
            <a:avLst/>
          </a:prstGeom>
          <a:noFill/>
        </p:spPr>
        <p:txBody>
          <a:bodyPr wrap="square" lIns="91440" tIns="45720" rIns="91440" bIns="45720" rtlCol="0" anchor="t">
            <a:spAutoFit/>
          </a:bodyPr>
          <a:lstStyle/>
          <a:p>
            <a:pPr marL="342900" indent="-342900">
              <a:lnSpc>
                <a:spcPct val="150000"/>
              </a:lnSpc>
              <a:buFontTx/>
              <a:buAutoNum type="arabicPeriod"/>
            </a:pPr>
            <a:r>
              <a:rPr lang="en-US" sz="2000">
                <a:latin typeface="Times New Roman"/>
                <a:cs typeface="Times New Roman"/>
              </a:rPr>
              <a:t>Introduction</a:t>
            </a:r>
          </a:p>
          <a:p>
            <a:pPr marL="342900" indent="-342900">
              <a:lnSpc>
                <a:spcPct val="150000"/>
              </a:lnSpc>
              <a:buFontTx/>
              <a:buAutoNum type="arabicPeriod"/>
            </a:pPr>
            <a:r>
              <a:rPr lang="en-US" sz="2000">
                <a:latin typeface="Times New Roman"/>
                <a:cs typeface="Times New Roman"/>
              </a:rPr>
              <a:t>Literature Review</a:t>
            </a:r>
          </a:p>
          <a:p>
            <a:pPr marL="342900" indent="-342900">
              <a:lnSpc>
                <a:spcPct val="150000"/>
              </a:lnSpc>
              <a:buFontTx/>
              <a:buAutoNum type="arabicPeriod"/>
            </a:pPr>
            <a:r>
              <a:rPr lang="en-US" sz="2000">
                <a:latin typeface="Times New Roman"/>
                <a:cs typeface="Times New Roman"/>
              </a:rPr>
              <a:t>Objective</a:t>
            </a:r>
          </a:p>
          <a:p>
            <a:pPr marL="342900" indent="-342900">
              <a:lnSpc>
                <a:spcPct val="150000"/>
              </a:lnSpc>
              <a:buFontTx/>
              <a:buAutoNum type="arabicPeriod"/>
            </a:pPr>
            <a:r>
              <a:rPr lang="en-US" sz="2000">
                <a:latin typeface="Times New Roman"/>
                <a:cs typeface="Times New Roman"/>
              </a:rPr>
              <a:t>Operational Flow</a:t>
            </a:r>
          </a:p>
          <a:p>
            <a:pPr marL="342900" indent="-342900">
              <a:lnSpc>
                <a:spcPct val="150000"/>
              </a:lnSpc>
              <a:buAutoNum type="arabicPeriod"/>
            </a:pPr>
            <a:r>
              <a:rPr lang="en-US" sz="2000">
                <a:latin typeface="Times New Roman"/>
                <a:cs typeface="Times New Roman"/>
              </a:rPr>
              <a:t>Implementation &amp; Work Done</a:t>
            </a:r>
            <a:endParaRPr lang="en-US" sz="2000">
              <a:latin typeface="Times New Roman" panose="02020603050405020304" pitchFamily="18" charset="0"/>
              <a:cs typeface="Times New Roman" panose="02020603050405020304" pitchFamily="18" charset="0"/>
            </a:endParaRPr>
          </a:p>
          <a:p>
            <a:pPr marL="342900" indent="-342900">
              <a:lnSpc>
                <a:spcPct val="150000"/>
              </a:lnSpc>
              <a:buFont typeface="+mj-lt"/>
              <a:buAutoNum type="arabicPeriod"/>
            </a:pPr>
            <a:r>
              <a:rPr lang="en-US" sz="2000">
                <a:latin typeface="Times New Roman"/>
                <a:cs typeface="Times New Roman"/>
              </a:rPr>
              <a:t>Results</a:t>
            </a:r>
            <a:endParaRPr lang="en-US" sz="2000">
              <a:latin typeface="Times New Roman" panose="02020603050405020304" pitchFamily="18" charset="0"/>
              <a:cs typeface="Times New Roman" panose="02020603050405020304" pitchFamily="18" charset="0"/>
            </a:endParaRPr>
          </a:p>
          <a:p>
            <a:pPr marL="342900" indent="-342900">
              <a:lnSpc>
                <a:spcPct val="150000"/>
              </a:lnSpc>
              <a:buAutoNum type="arabicPeriod"/>
            </a:pPr>
            <a:r>
              <a:rPr lang="en-US" sz="2000">
                <a:latin typeface="Times New Roman"/>
                <a:cs typeface="Times New Roman"/>
              </a:rPr>
              <a:t>Conclusions</a:t>
            </a:r>
          </a:p>
          <a:p>
            <a:pPr marL="342900" indent="-342900">
              <a:lnSpc>
                <a:spcPct val="150000"/>
              </a:lnSpc>
              <a:buFontTx/>
              <a:buAutoNum type="arabicPeriod"/>
            </a:pPr>
            <a:r>
              <a:rPr lang="en-US" sz="2000">
                <a:latin typeface="Times New Roman"/>
                <a:cs typeface="Times New Roman"/>
              </a:rPr>
              <a:t>Further Work</a:t>
            </a:r>
          </a:p>
          <a:p>
            <a:pPr marL="342900" indent="-342900">
              <a:lnSpc>
                <a:spcPct val="150000"/>
              </a:lnSpc>
              <a:buFont typeface="+mj-lt"/>
              <a:buAutoNum type="arabicPeriod"/>
            </a:pPr>
            <a:r>
              <a:rPr lang="en-US" sz="2000">
                <a:latin typeface="Times New Roman"/>
                <a:cs typeface="Times New Roman"/>
              </a:rPr>
              <a:t>References</a:t>
            </a:r>
          </a:p>
          <a:p>
            <a:pPr marL="342900" indent="-342900">
              <a:lnSpc>
                <a:spcPct val="150000"/>
              </a:lnSpc>
              <a:buFont typeface="+mj-lt"/>
              <a:buAutoNum type="arabicPeriod"/>
            </a:pPr>
            <a:endParaRPr lang="en-US" sz="20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78279758"/>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560121" y="188640"/>
            <a:ext cx="2743200" cy="461665"/>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a:solidFill>
                  <a:srgbClr val="D47D26"/>
                </a:solidFill>
                <a:latin typeface="Times New Roman" panose="02020603050405020304" pitchFamily="18" charset="0"/>
                <a:cs typeface="Times New Roman" panose="02020603050405020304" pitchFamily="18" charset="0"/>
              </a:rPr>
              <a:t>INTRODUCTION</a:t>
            </a:r>
          </a:p>
        </p:txBody>
      </p:sp>
      <p:sp>
        <p:nvSpPr>
          <p:cNvPr id="3" name="TextBox 2">
            <a:extLst>
              <a:ext uri="{FF2B5EF4-FFF2-40B4-BE49-F238E27FC236}">
                <a16:creationId xmlns:a16="http://schemas.microsoft.com/office/drawing/2014/main" id="{8E4BA030-8CE8-9A4C-DB66-61E3FF43170F}"/>
              </a:ext>
            </a:extLst>
          </p:cNvPr>
          <p:cNvSpPr txBox="1"/>
          <p:nvPr/>
        </p:nvSpPr>
        <p:spPr>
          <a:xfrm>
            <a:off x="210534" y="1004175"/>
            <a:ext cx="10323165"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rial"/>
                <a:cs typeface="Arial"/>
              </a:rPr>
              <a:t>Squamous Cell Carcinoma (SCC) arises from squamous epithelial cells which are flat cells found on skin, mouth, and internal organs. </a:t>
            </a:r>
            <a:endParaRPr lang="en-US">
              <a:cs typeface="Arial" charset="0"/>
            </a:endParaRPr>
          </a:p>
          <a:p>
            <a:r>
              <a:rPr lang="en-US">
                <a:latin typeface="Arial"/>
                <a:cs typeface="Arial"/>
              </a:rPr>
              <a:t>SCC is a common type of cancer, and its accurate grading from histopathology images is crucial for determining prognosis and treatment plans.</a:t>
            </a:r>
            <a:endParaRPr lang="en-US">
              <a:cs typeface="Arial" charset="0"/>
            </a:endParaRPr>
          </a:p>
          <a:p>
            <a:endParaRPr lang="en-US">
              <a:cs typeface="Arial"/>
            </a:endParaRPr>
          </a:p>
          <a:p>
            <a:r>
              <a:rPr lang="en-US">
                <a:latin typeface="Arial"/>
                <a:cs typeface="Arial"/>
              </a:rPr>
              <a:t>Manual grading faces several challenges, including the need for high expertise and focus, inconsistencies caused by variations in image quality, and delays or fatigue resulting from heavy hospital workloads, all of which point to a clear need for automated, objective, and faster grading systems.</a:t>
            </a:r>
            <a:endParaRPr lang="en-US"/>
          </a:p>
          <a:p>
            <a:endParaRPr lang="en-US">
              <a:latin typeface="Arial"/>
              <a:cs typeface="Arial"/>
            </a:endParaRPr>
          </a:p>
          <a:p>
            <a:r>
              <a:rPr lang="en-US">
                <a:latin typeface="Arial"/>
                <a:cs typeface="Arial"/>
              </a:rPr>
              <a:t>By leveraging Convolutional Neural Networks (CNNs), this Deep Learning method aims to analyze the intricate architectural and cellular patterns within the histopathology images, ultimately providing an objective, efficient, and consistent system for SCC grading.</a:t>
            </a:r>
            <a:endParaRPr lang="en-US"/>
          </a:p>
          <a:p>
            <a:pPr lvl="1"/>
            <a:endParaRPr lang="en-US">
              <a:latin typeface="Arial"/>
              <a:cs typeface="Arial"/>
            </a:endParaRPr>
          </a:p>
          <a:p>
            <a:pPr lvl="1">
              <a:buFont typeface="Courier New"/>
            </a:pPr>
            <a:endParaRPr lang="en-US">
              <a:latin typeface="Arial"/>
              <a:cs typeface="Arial"/>
            </a:endParaRPr>
          </a:p>
        </p:txBody>
      </p:sp>
    </p:spTree>
    <p:extLst>
      <p:ext uri="{BB962C8B-B14F-4D97-AF65-F5344CB8AC3E}">
        <p14:creationId xmlns:p14="http://schemas.microsoft.com/office/powerpoint/2010/main" val="3954245881"/>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able 9">
            <a:extLst>
              <a:ext uri="{FF2B5EF4-FFF2-40B4-BE49-F238E27FC236}">
                <a16:creationId xmlns:a16="http://schemas.microsoft.com/office/drawing/2014/main" id="{BED759A4-4185-9CC9-CDAC-B31144BC5BCC}"/>
              </a:ext>
            </a:extLst>
          </p:cNvPr>
          <p:cNvGraphicFramePr>
            <a:graphicFrameLocks noGrp="1"/>
          </p:cNvGraphicFramePr>
          <p:nvPr>
            <p:extLst>
              <p:ext uri="{D42A27DB-BD31-4B8C-83A1-F6EECF244321}">
                <p14:modId xmlns:p14="http://schemas.microsoft.com/office/powerpoint/2010/main" val="347610271"/>
              </p:ext>
            </p:extLst>
          </p:nvPr>
        </p:nvGraphicFramePr>
        <p:xfrm>
          <a:off x="657376" y="1148219"/>
          <a:ext cx="9575312" cy="4933806"/>
        </p:xfrm>
        <a:graphic>
          <a:graphicData uri="http://schemas.openxmlformats.org/drawingml/2006/table">
            <a:tbl>
              <a:tblPr bandRow="1">
                <a:solidFill>
                  <a:schemeClr val="accent1">
                    <a:lumMod val="20000"/>
                    <a:lumOff val="80000"/>
                  </a:schemeClr>
                </a:solidFill>
                <a:tableStyleId>{5C22544A-7EE6-4342-B048-85BDC9FD1C3A}</a:tableStyleId>
              </a:tblPr>
              <a:tblGrid>
                <a:gridCol w="2377141">
                  <a:extLst>
                    <a:ext uri="{9D8B030D-6E8A-4147-A177-3AD203B41FA5}">
                      <a16:colId xmlns:a16="http://schemas.microsoft.com/office/drawing/2014/main" val="40858947"/>
                    </a:ext>
                  </a:extLst>
                </a:gridCol>
                <a:gridCol w="1433597">
                  <a:extLst>
                    <a:ext uri="{9D8B030D-6E8A-4147-A177-3AD203B41FA5}">
                      <a16:colId xmlns:a16="http://schemas.microsoft.com/office/drawing/2014/main" val="3440785019"/>
                    </a:ext>
                  </a:extLst>
                </a:gridCol>
                <a:gridCol w="1459364">
                  <a:extLst>
                    <a:ext uri="{9D8B030D-6E8A-4147-A177-3AD203B41FA5}">
                      <a16:colId xmlns:a16="http://schemas.microsoft.com/office/drawing/2014/main" val="2121469859"/>
                    </a:ext>
                  </a:extLst>
                </a:gridCol>
                <a:gridCol w="1567338">
                  <a:extLst>
                    <a:ext uri="{9D8B030D-6E8A-4147-A177-3AD203B41FA5}">
                      <a16:colId xmlns:a16="http://schemas.microsoft.com/office/drawing/2014/main" val="1211370509"/>
                    </a:ext>
                  </a:extLst>
                </a:gridCol>
                <a:gridCol w="2737872">
                  <a:extLst>
                    <a:ext uri="{9D8B030D-6E8A-4147-A177-3AD203B41FA5}">
                      <a16:colId xmlns:a16="http://schemas.microsoft.com/office/drawing/2014/main" val="2380934729"/>
                    </a:ext>
                  </a:extLst>
                </a:gridCol>
              </a:tblGrid>
              <a:tr h="584254">
                <a:tc>
                  <a:txBody>
                    <a:bodyPr/>
                    <a:lstStyle/>
                    <a:p>
                      <a:pPr>
                        <a:buNone/>
                      </a:pPr>
                      <a:r>
                        <a:rPr lang="en-US" sz="1100" b="1" cap="none" spc="0">
                          <a:solidFill>
                            <a:schemeClr val="tx1"/>
                          </a:solidFill>
                        </a:rPr>
                        <a:t>Paper Title</a:t>
                      </a:r>
                      <a:endParaRPr lang="en-US" sz="1100" cap="none" spc="0">
                        <a:solidFill>
                          <a:schemeClr val="tx1"/>
                        </a:solidFill>
                      </a:endParaRPr>
                    </a:p>
                  </a:txBody>
                  <a:tcPr marL="64595" marR="64595" marT="32298" marB="64595"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1100" b="1" cap="none" spc="0">
                          <a:solidFill>
                            <a:schemeClr val="tx1"/>
                          </a:solidFill>
                        </a:rPr>
                        <a:t>Authors</a:t>
                      </a:r>
                      <a:endParaRPr lang="en-US" sz="1100" cap="none" spc="0">
                        <a:solidFill>
                          <a:schemeClr val="tx1"/>
                        </a:solidFill>
                      </a:endParaRPr>
                    </a:p>
                  </a:txBody>
                  <a:tcPr marL="64595" marR="64595" marT="32298" marB="64595"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1100" b="1" cap="none" spc="0">
                          <a:solidFill>
                            <a:schemeClr val="tx1"/>
                          </a:solidFill>
                        </a:rPr>
                        <a:t>Dataset</a:t>
                      </a:r>
                      <a:endParaRPr lang="en-US" sz="1100" cap="none" spc="0">
                        <a:solidFill>
                          <a:schemeClr val="tx1"/>
                        </a:solidFill>
                      </a:endParaRPr>
                    </a:p>
                  </a:txBody>
                  <a:tcPr marL="64595" marR="64595" marT="32298" marB="64595"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1100" b="1" cap="none" spc="0">
                          <a:solidFill>
                            <a:schemeClr val="tx1"/>
                          </a:solidFill>
                        </a:rPr>
                        <a:t>Methods/Models Used</a:t>
                      </a:r>
                      <a:endParaRPr lang="en-US" sz="1100" cap="none" spc="0">
                        <a:solidFill>
                          <a:schemeClr val="tx1"/>
                        </a:solidFill>
                      </a:endParaRPr>
                    </a:p>
                  </a:txBody>
                  <a:tcPr marL="64595" marR="64595" marT="32298" marB="64595"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1100" b="1" cap="none" spc="0">
                          <a:solidFill>
                            <a:schemeClr val="tx1"/>
                          </a:solidFill>
                        </a:rPr>
                        <a:t>Key Findings/Results</a:t>
                      </a:r>
                      <a:endParaRPr lang="en-US" sz="1100" cap="none" spc="0">
                        <a:solidFill>
                          <a:schemeClr val="tx1"/>
                        </a:solidFill>
                      </a:endParaRPr>
                    </a:p>
                  </a:txBody>
                  <a:tcPr marL="64595" marR="64595" marT="32298" marB="64595"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646282894"/>
                  </a:ext>
                </a:extLst>
              </a:tr>
              <a:tr h="1026393">
                <a:tc>
                  <a:txBody>
                    <a:bodyPr/>
                    <a:lstStyle/>
                    <a:p>
                      <a:pPr>
                        <a:buNone/>
                      </a:pPr>
                      <a:r>
                        <a:rPr lang="en-US" sz="1100" b="1" cap="none" spc="0" err="1">
                          <a:solidFill>
                            <a:schemeClr val="tx1"/>
                          </a:solidFill>
                        </a:rPr>
                        <a:t>LungCarcinoGrade-EffNetSVM</a:t>
                      </a:r>
                      <a:r>
                        <a:rPr lang="en-US" sz="1100" b="1" cap="none" spc="0">
                          <a:solidFill>
                            <a:schemeClr val="tx1"/>
                          </a:solidFill>
                        </a:rPr>
                        <a:t>: A Novel Approach to Lung Carcinoma Grading</a:t>
                      </a:r>
                      <a:endParaRPr lang="en-US" sz="1100" cap="none" spc="0">
                        <a:solidFill>
                          <a:schemeClr val="tx1"/>
                        </a:solidFill>
                      </a:endParaRPr>
                    </a:p>
                  </a:txBody>
                  <a:tcPr marL="64595" marR="64595" marT="32298" marB="64595" anchor="ctr">
                    <a:lnL w="12700" cmpd="sng">
                      <a:noFill/>
                      <a:prstDash val="solid"/>
                    </a:lnL>
                    <a:lnR w="12700" cmpd="sng">
                      <a:noFill/>
                      <a:prstDash val="solid"/>
                    </a:lnR>
                    <a:lnT w="12700" cmpd="sng">
                      <a:noFill/>
                      <a:prstDash val="solid"/>
                    </a:lnT>
                    <a:lnB w="12700" cmpd="sng">
                      <a:noFill/>
                      <a:prstDash val="solid"/>
                    </a:lnB>
                    <a:solidFill>
                      <a:srgbClr val="DAE3F3">
                        <a:alpha val="50196"/>
                      </a:srgbClr>
                    </a:solidFill>
                  </a:tcPr>
                </a:tc>
                <a:tc>
                  <a:txBody>
                    <a:bodyPr/>
                    <a:lstStyle/>
                    <a:p>
                      <a:pPr>
                        <a:buNone/>
                      </a:pPr>
                      <a:r>
                        <a:rPr lang="en-US" sz="1100" cap="none" spc="0">
                          <a:solidFill>
                            <a:schemeClr val="tx1"/>
                          </a:solidFill>
                        </a:rPr>
                        <a:t>Pragati </a:t>
                      </a:r>
                      <a:r>
                        <a:rPr lang="en-US" sz="1100" cap="none" spc="0" err="1">
                          <a:solidFill>
                            <a:schemeClr val="tx1"/>
                          </a:solidFill>
                        </a:rPr>
                        <a:t>Patharia</a:t>
                      </a:r>
                      <a:r>
                        <a:rPr lang="en-US" sz="1100" cap="none" spc="0">
                          <a:solidFill>
                            <a:schemeClr val="tx1"/>
                          </a:solidFill>
                        </a:rPr>
                        <a:t>, </a:t>
                      </a:r>
                      <a:r>
                        <a:rPr lang="en-US" sz="1100" cap="none" spc="0" err="1">
                          <a:solidFill>
                            <a:schemeClr val="tx1"/>
                          </a:solidFill>
                        </a:rPr>
                        <a:t>Prabira</a:t>
                      </a:r>
                      <a:r>
                        <a:rPr lang="en-US" sz="1100" cap="none" spc="0">
                          <a:solidFill>
                            <a:schemeClr val="tx1"/>
                          </a:solidFill>
                        </a:rPr>
                        <a:t> Kumar Sethy</a:t>
                      </a:r>
                    </a:p>
                  </a:txBody>
                  <a:tcPr marL="64595" marR="64595" marT="32298" marB="64595" anchor="ctr">
                    <a:lnL w="12700" cmpd="sng">
                      <a:noFill/>
                      <a:prstDash val="solid"/>
                    </a:lnL>
                    <a:lnR w="12700" cmpd="sng">
                      <a:noFill/>
                      <a:prstDash val="solid"/>
                    </a:lnR>
                    <a:lnT w="12700" cmpd="sng">
                      <a:noFill/>
                      <a:prstDash val="solid"/>
                    </a:lnT>
                    <a:lnB w="12700" cmpd="sng">
                      <a:noFill/>
                      <a:prstDash val="solid"/>
                    </a:lnB>
                    <a:solidFill>
                      <a:srgbClr val="DAE3F3">
                        <a:alpha val="50196"/>
                      </a:srgbClr>
                    </a:solidFill>
                  </a:tcPr>
                </a:tc>
                <a:tc>
                  <a:txBody>
                    <a:bodyPr/>
                    <a:lstStyle/>
                    <a:p>
                      <a:pPr>
                        <a:buNone/>
                      </a:pPr>
                      <a:r>
                        <a:rPr lang="en-US" sz="1100" cap="none" spc="0">
                          <a:solidFill>
                            <a:schemeClr val="tx1"/>
                          </a:solidFill>
                        </a:rPr>
                        <a:t>Kaggle CT scan dataset (1,000 images)</a:t>
                      </a:r>
                    </a:p>
                  </a:txBody>
                  <a:tcPr marL="64595" marR="64595" marT="32298" marB="64595" anchor="ctr">
                    <a:lnL w="12700" cmpd="sng">
                      <a:noFill/>
                      <a:prstDash val="solid"/>
                    </a:lnL>
                    <a:lnR w="12700" cmpd="sng">
                      <a:noFill/>
                      <a:prstDash val="solid"/>
                    </a:lnR>
                    <a:lnT w="12700" cmpd="sng">
                      <a:noFill/>
                      <a:prstDash val="solid"/>
                    </a:lnT>
                    <a:lnB w="12700" cmpd="sng">
                      <a:noFill/>
                      <a:prstDash val="solid"/>
                    </a:lnB>
                    <a:solidFill>
                      <a:srgbClr val="DAE3F3">
                        <a:alpha val="50196"/>
                      </a:srgbClr>
                    </a:solidFill>
                  </a:tcPr>
                </a:tc>
                <a:tc>
                  <a:txBody>
                    <a:bodyPr/>
                    <a:lstStyle/>
                    <a:p>
                      <a:pPr>
                        <a:buNone/>
                      </a:pPr>
                      <a:r>
                        <a:rPr lang="en-US" sz="1100" cap="none" spc="0">
                          <a:solidFill>
                            <a:schemeClr val="tx1"/>
                          </a:solidFill>
                        </a:rPr>
                        <a:t>EfficientNetB0 + SVM (one-vs-all ECOC strategy)</a:t>
                      </a:r>
                    </a:p>
                  </a:txBody>
                  <a:tcPr marL="64595" marR="64595" marT="32298" marB="64595" anchor="ctr">
                    <a:lnL w="12700" cmpd="sng">
                      <a:noFill/>
                      <a:prstDash val="solid"/>
                    </a:lnL>
                    <a:lnR w="12700" cmpd="sng">
                      <a:noFill/>
                      <a:prstDash val="solid"/>
                    </a:lnR>
                    <a:lnT w="12700" cmpd="sng">
                      <a:noFill/>
                      <a:prstDash val="solid"/>
                    </a:lnT>
                    <a:lnB w="12700" cmpd="sng">
                      <a:noFill/>
                      <a:prstDash val="solid"/>
                    </a:lnB>
                    <a:solidFill>
                      <a:srgbClr val="DAE3F3">
                        <a:alpha val="50196"/>
                      </a:srgbClr>
                    </a:solidFill>
                  </a:tcPr>
                </a:tc>
                <a:tc>
                  <a:txBody>
                    <a:bodyPr/>
                    <a:lstStyle/>
                    <a:p>
                      <a:pPr>
                        <a:buNone/>
                      </a:pPr>
                      <a:r>
                        <a:rPr lang="en-US" sz="1100" cap="none" spc="0">
                          <a:solidFill>
                            <a:schemeClr val="tx1"/>
                          </a:solidFill>
                        </a:rPr>
                        <a:t>Accuracy: 86.88%, Sensitivity: 86.88%, Specificity: 95.63%, F1 score: 86.64%.</a:t>
                      </a:r>
                    </a:p>
                  </a:txBody>
                  <a:tcPr marL="64595" marR="64595" marT="32298" marB="64595" anchor="ctr">
                    <a:lnL w="12700" cmpd="sng">
                      <a:noFill/>
                      <a:prstDash val="solid"/>
                    </a:lnL>
                    <a:lnR w="12700" cmpd="sng">
                      <a:noFill/>
                      <a:prstDash val="solid"/>
                    </a:lnR>
                    <a:lnT w="12700" cmpd="sng">
                      <a:noFill/>
                      <a:prstDash val="solid"/>
                    </a:lnT>
                    <a:lnB w="12700" cmpd="sng">
                      <a:noFill/>
                      <a:prstDash val="solid"/>
                    </a:lnB>
                    <a:solidFill>
                      <a:srgbClr val="DAE3F3">
                        <a:alpha val="50196"/>
                      </a:srgbClr>
                    </a:solidFill>
                  </a:tcPr>
                </a:tc>
                <a:extLst>
                  <a:ext uri="{0D108BD9-81ED-4DB2-BD59-A6C34878D82A}">
                    <a16:rowId xmlns:a16="http://schemas.microsoft.com/office/drawing/2014/main" val="685802230"/>
                  </a:ext>
                </a:extLst>
              </a:tr>
              <a:tr h="1026393">
                <a:tc>
                  <a:txBody>
                    <a:bodyPr/>
                    <a:lstStyle/>
                    <a:p>
                      <a:pPr>
                        <a:buNone/>
                      </a:pPr>
                      <a:r>
                        <a:rPr lang="en-US" sz="1100" b="1" cap="none" spc="0">
                          <a:solidFill>
                            <a:schemeClr val="tx1"/>
                          </a:solidFill>
                        </a:rPr>
                        <a:t>Squamous Cell Carcinoma Margin Classification Using Vision Transformers</a:t>
                      </a:r>
                      <a:endParaRPr lang="en-US" sz="1100" cap="none" spc="0">
                        <a:solidFill>
                          <a:schemeClr val="tx1"/>
                        </a:solidFill>
                      </a:endParaRPr>
                    </a:p>
                  </a:txBody>
                  <a:tcPr marL="64595" marR="64595" marT="32298" marB="64595" anchor="ctr">
                    <a:lnL w="12700" cmpd="sng">
                      <a:noFill/>
                      <a:prstDash val="solid"/>
                    </a:lnL>
                    <a:lnR w="12700" cmpd="sng">
                      <a:noFill/>
                      <a:prstDash val="solid"/>
                    </a:lnR>
                    <a:lnT w="12700" cmpd="sng">
                      <a:noFill/>
                      <a:prstDash val="solid"/>
                    </a:lnT>
                    <a:lnB w="12700" cmpd="sng">
                      <a:noFill/>
                      <a:prstDash val="solid"/>
                    </a:lnB>
                    <a:solidFill>
                      <a:srgbClr val="DAE3F3">
                        <a:alpha val="50196"/>
                      </a:srgbClr>
                    </a:solidFill>
                  </a:tcPr>
                </a:tc>
                <a:tc>
                  <a:txBody>
                    <a:bodyPr/>
                    <a:lstStyle/>
                    <a:p>
                      <a:pPr>
                        <a:buNone/>
                      </a:pPr>
                      <a:r>
                        <a:rPr lang="en-US" sz="1100" cap="none" spc="0">
                          <a:solidFill>
                            <a:schemeClr val="tx1"/>
                          </a:solidFill>
                        </a:rPr>
                        <a:t>So-Yun Park, Gelan Ayana, Se-</a:t>
                      </a:r>
                      <a:r>
                        <a:rPr lang="en-US" sz="1100" cap="none" spc="0" err="1">
                          <a:solidFill>
                            <a:schemeClr val="tx1"/>
                          </a:solidFill>
                        </a:rPr>
                        <a:t>woon</a:t>
                      </a:r>
                      <a:r>
                        <a:rPr lang="en-US" sz="1100" cap="none" spc="0">
                          <a:solidFill>
                            <a:schemeClr val="tx1"/>
                          </a:solidFill>
                        </a:rPr>
                        <a:t> Choe</a:t>
                      </a:r>
                    </a:p>
                  </a:txBody>
                  <a:tcPr marL="64595" marR="64595" marT="32298" marB="64595" anchor="ctr">
                    <a:lnL w="12700" cmpd="sng">
                      <a:noFill/>
                      <a:prstDash val="solid"/>
                    </a:lnL>
                    <a:lnR w="12700" cmpd="sng">
                      <a:noFill/>
                      <a:prstDash val="solid"/>
                    </a:lnR>
                    <a:lnT w="12700" cmpd="sng">
                      <a:noFill/>
                      <a:prstDash val="solid"/>
                    </a:lnT>
                    <a:lnB w="12700" cmpd="sng">
                      <a:noFill/>
                      <a:prstDash val="solid"/>
                    </a:lnB>
                    <a:solidFill>
                      <a:srgbClr val="DAE3F3">
                        <a:alpha val="50196"/>
                      </a:srgbClr>
                    </a:solidFill>
                  </a:tcPr>
                </a:tc>
                <a:tc>
                  <a:txBody>
                    <a:bodyPr/>
                    <a:lstStyle/>
                    <a:p>
                      <a:pPr>
                        <a:buNone/>
                      </a:pPr>
                      <a:r>
                        <a:rPr lang="en-US" sz="1100" cap="none" spc="0">
                          <a:solidFill>
                            <a:schemeClr val="tx1"/>
                          </a:solidFill>
                        </a:rPr>
                        <a:t>828 histopathological images (margin-negative/positive)</a:t>
                      </a:r>
                    </a:p>
                  </a:txBody>
                  <a:tcPr marL="64595" marR="64595" marT="32298" marB="64595" anchor="ctr">
                    <a:lnL w="12700" cmpd="sng">
                      <a:noFill/>
                      <a:prstDash val="solid"/>
                    </a:lnL>
                    <a:lnR w="12700" cmpd="sng">
                      <a:noFill/>
                      <a:prstDash val="solid"/>
                    </a:lnR>
                    <a:lnT w="12700" cmpd="sng">
                      <a:noFill/>
                      <a:prstDash val="solid"/>
                    </a:lnT>
                    <a:lnB w="12700" cmpd="sng">
                      <a:noFill/>
                      <a:prstDash val="solid"/>
                    </a:lnB>
                    <a:solidFill>
                      <a:srgbClr val="DAE3F3">
                        <a:alpha val="50196"/>
                      </a:srgbClr>
                    </a:solidFill>
                  </a:tcPr>
                </a:tc>
                <a:tc>
                  <a:txBody>
                    <a:bodyPr/>
                    <a:lstStyle/>
                    <a:p>
                      <a:pPr>
                        <a:buNone/>
                      </a:pPr>
                      <a:r>
                        <a:rPr lang="en-US" sz="1100" cap="none" spc="0">
                          <a:solidFill>
                            <a:schemeClr val="tx1"/>
                          </a:solidFill>
                        </a:rPr>
                        <a:t>Vision Transformer (</a:t>
                      </a:r>
                      <a:r>
                        <a:rPr lang="en-US" sz="1100" cap="none" spc="0" err="1">
                          <a:solidFill>
                            <a:schemeClr val="tx1"/>
                          </a:solidFill>
                        </a:rPr>
                        <a:t>ViT</a:t>
                      </a:r>
                      <a:r>
                        <a:rPr lang="en-US" sz="1100" cap="none" spc="0">
                          <a:solidFill>
                            <a:schemeClr val="tx1"/>
                          </a:solidFill>
                        </a:rPr>
                        <a:t>) models + Dense layers</a:t>
                      </a:r>
                    </a:p>
                  </a:txBody>
                  <a:tcPr marL="64595" marR="64595" marT="32298" marB="64595" anchor="ctr">
                    <a:lnL w="12700" cmpd="sng">
                      <a:noFill/>
                      <a:prstDash val="solid"/>
                    </a:lnL>
                    <a:lnR w="12700" cmpd="sng">
                      <a:noFill/>
                      <a:prstDash val="solid"/>
                    </a:lnR>
                    <a:lnT w="12700" cmpd="sng">
                      <a:noFill/>
                      <a:prstDash val="solid"/>
                    </a:lnT>
                    <a:lnB w="12700" cmpd="sng">
                      <a:noFill/>
                      <a:prstDash val="solid"/>
                    </a:lnB>
                    <a:solidFill>
                      <a:srgbClr val="DAE3F3">
                        <a:alpha val="50196"/>
                      </a:srgbClr>
                    </a:solidFill>
                  </a:tcPr>
                </a:tc>
                <a:tc>
                  <a:txBody>
                    <a:bodyPr/>
                    <a:lstStyle/>
                    <a:p>
                      <a:pPr>
                        <a:buNone/>
                      </a:pPr>
                      <a:r>
                        <a:rPr lang="en-US" sz="1100" cap="none" spc="0">
                          <a:solidFill>
                            <a:schemeClr val="tx1"/>
                          </a:solidFill>
                        </a:rPr>
                        <a:t>ViT-B16 achieved 0.906 accuracy &amp; 0.905 AUC, outperforming CNN; highlights </a:t>
                      </a:r>
                      <a:r>
                        <a:rPr lang="en-US" sz="1100" cap="none" spc="0" err="1">
                          <a:solidFill>
                            <a:schemeClr val="tx1"/>
                          </a:solidFill>
                        </a:rPr>
                        <a:t>ViTs’</a:t>
                      </a:r>
                      <a:r>
                        <a:rPr lang="en-US" sz="1100" cap="none" spc="0">
                          <a:solidFill>
                            <a:schemeClr val="tx1"/>
                          </a:solidFill>
                        </a:rPr>
                        <a:t> superiority.</a:t>
                      </a:r>
                    </a:p>
                  </a:txBody>
                  <a:tcPr marL="64595" marR="64595" marT="32298" marB="64595" anchor="ctr">
                    <a:lnL w="12700" cmpd="sng">
                      <a:noFill/>
                      <a:prstDash val="solid"/>
                    </a:lnL>
                    <a:lnR w="12700" cmpd="sng">
                      <a:noFill/>
                      <a:prstDash val="solid"/>
                    </a:lnR>
                    <a:lnT w="12700" cmpd="sng">
                      <a:noFill/>
                      <a:prstDash val="solid"/>
                    </a:lnT>
                    <a:lnB w="12700" cmpd="sng">
                      <a:noFill/>
                      <a:prstDash val="solid"/>
                    </a:lnB>
                    <a:solidFill>
                      <a:srgbClr val="DAE3F3">
                        <a:alpha val="50196"/>
                      </a:srgbClr>
                    </a:solidFill>
                  </a:tcPr>
                </a:tc>
                <a:extLst>
                  <a:ext uri="{0D108BD9-81ED-4DB2-BD59-A6C34878D82A}">
                    <a16:rowId xmlns:a16="http://schemas.microsoft.com/office/drawing/2014/main" val="1257008692"/>
                  </a:ext>
                </a:extLst>
              </a:tr>
              <a:tr h="1026393">
                <a:tc>
                  <a:txBody>
                    <a:bodyPr/>
                    <a:lstStyle/>
                    <a:p>
                      <a:pPr lvl="0">
                        <a:buNone/>
                      </a:pPr>
                      <a:r>
                        <a:rPr lang="en-US" sz="1100" b="1" i="0" u="none" strike="noStrike" cap="none" spc="0" noProof="0">
                          <a:solidFill>
                            <a:schemeClr val="tx1"/>
                          </a:solidFill>
                          <a:latin typeface="Arial"/>
                        </a:rPr>
                        <a:t>A lightweight deep learning model with knowledge distillation for pulmonary diseases detection in chest X-rays</a:t>
                      </a:r>
                      <a:endParaRPr lang="en-US" b="1"/>
                    </a:p>
                  </a:txBody>
                  <a:tcPr marL="64595" marR="64595" marT="32298" marB="64595" anchor="ctr">
                    <a:lnL w="12700" cmpd="sng">
                      <a:noFill/>
                      <a:prstDash val="solid"/>
                    </a:lnL>
                    <a:lnR w="12700" cmpd="sng">
                      <a:noFill/>
                      <a:prstDash val="solid"/>
                    </a:lnR>
                    <a:lnT w="12700" cmpd="sng">
                      <a:noFill/>
                      <a:prstDash val="solid"/>
                    </a:lnT>
                    <a:lnB w="12700" cmpd="sng">
                      <a:noFill/>
                      <a:prstDash val="solid"/>
                    </a:lnB>
                    <a:noFill/>
                  </a:tcPr>
                </a:tc>
                <a:tc>
                  <a:txBody>
                    <a:bodyPr/>
                    <a:lstStyle/>
                    <a:p>
                      <a:pPr lvl="0">
                        <a:buNone/>
                      </a:pPr>
                      <a:r>
                        <a:rPr lang="en-US" sz="1100" b="0" i="0" u="none" strike="noStrike" cap="none" spc="0" noProof="0">
                          <a:solidFill>
                            <a:schemeClr val="tx1"/>
                          </a:solidFill>
                          <a:latin typeface="Arial"/>
                        </a:rPr>
                        <a:t>Mohammed A. Asham, Asma A. Al-</a:t>
                      </a:r>
                      <a:r>
                        <a:rPr lang="en-US" sz="1100" b="0" i="0" u="none" strike="noStrike" cap="none" spc="0" noProof="0" err="1">
                          <a:solidFill>
                            <a:schemeClr val="tx1"/>
                          </a:solidFill>
                          <a:latin typeface="Arial"/>
                        </a:rPr>
                        <a:t>Shargabi</a:t>
                      </a:r>
                      <a:r>
                        <a:rPr lang="en-US" sz="1100" b="0" i="0" u="none" strike="noStrike" cap="none" spc="0" noProof="0">
                          <a:solidFill>
                            <a:schemeClr val="tx1"/>
                          </a:solidFill>
                          <a:latin typeface="Arial"/>
                        </a:rPr>
                        <a:t>, Raeed Al-Sabri, Ibrahim Meftah</a:t>
                      </a:r>
                      <a:endParaRPr lang="en-US" sz="1100" cap="none" spc="0">
                        <a:solidFill>
                          <a:schemeClr val="tx1"/>
                        </a:solidFill>
                      </a:endParaRPr>
                    </a:p>
                  </a:txBody>
                  <a:tcPr marL="64595" marR="64595" marT="32298" marB="64595" anchor="ctr">
                    <a:lnL w="12700" cmpd="sng">
                      <a:noFill/>
                      <a:prstDash val="solid"/>
                    </a:lnL>
                    <a:lnR w="12700" cmpd="sng">
                      <a:noFill/>
                      <a:prstDash val="solid"/>
                    </a:lnR>
                    <a:lnT w="12700" cmpd="sng">
                      <a:noFill/>
                      <a:prstDash val="solid"/>
                    </a:lnT>
                    <a:lnB w="12700" cmpd="sng">
                      <a:noFill/>
                      <a:prstDash val="solid"/>
                    </a:lnB>
                    <a:noFill/>
                  </a:tcPr>
                </a:tc>
                <a:tc>
                  <a:txBody>
                    <a:bodyPr/>
                    <a:lstStyle/>
                    <a:p>
                      <a:pPr lvl="0">
                        <a:buNone/>
                      </a:pPr>
                      <a:r>
                        <a:rPr lang="en-US" sz="1100" b="0" i="0" u="none" strike="noStrike" cap="none" spc="0" noProof="0">
                          <a:solidFill>
                            <a:schemeClr val="tx1"/>
                          </a:solidFill>
                          <a:latin typeface="Arial"/>
                        </a:rPr>
                        <a:t>Diverse datasets covering various chest infections, including: </a:t>
                      </a:r>
                      <a:r>
                        <a:rPr lang="en-US" sz="1100" b="1" i="0" u="none" strike="noStrike" cap="none" spc="0" noProof="0">
                          <a:solidFill>
                            <a:schemeClr val="tx1"/>
                          </a:solidFill>
                          <a:latin typeface="Arial"/>
                        </a:rPr>
                        <a:t>pneumonia, COVID-19, tuberculosis</a:t>
                      </a:r>
                      <a:endParaRPr lang="en-US" sz="1100" cap="none" spc="0">
                        <a:solidFill>
                          <a:schemeClr val="tx1"/>
                        </a:solidFill>
                      </a:endParaRPr>
                    </a:p>
                  </a:txBody>
                  <a:tcPr marL="64595" marR="64595" marT="32298" marB="64595" anchor="ctr">
                    <a:lnL w="12700" cmpd="sng">
                      <a:noFill/>
                      <a:prstDash val="solid"/>
                    </a:lnL>
                    <a:lnR w="12700" cmpd="sng">
                      <a:noFill/>
                      <a:prstDash val="solid"/>
                    </a:lnR>
                    <a:lnT w="12700" cmpd="sng">
                      <a:noFill/>
                      <a:prstDash val="solid"/>
                    </a:lnT>
                    <a:lnB w="12700" cmpd="sng">
                      <a:noFill/>
                      <a:prstDash val="solid"/>
                    </a:lnB>
                    <a:noFill/>
                  </a:tcPr>
                </a:tc>
                <a:tc>
                  <a:txBody>
                    <a:bodyPr/>
                    <a:lstStyle/>
                    <a:p>
                      <a:pPr lvl="0">
                        <a:buNone/>
                      </a:pPr>
                      <a:r>
                        <a:rPr lang="en-US" sz="1100" b="0" i="0" u="none" strike="noStrike" cap="none" spc="0" noProof="0">
                          <a:solidFill>
                            <a:schemeClr val="tx1"/>
                          </a:solidFill>
                        </a:rPr>
                        <a:t>A novel lightweight student model, based on </a:t>
                      </a:r>
                      <a:r>
                        <a:rPr lang="en-US" sz="1100" b="1" i="0" u="none" strike="noStrike" cap="none" spc="0" noProof="0">
                          <a:solidFill>
                            <a:schemeClr val="tx1"/>
                          </a:solidFill>
                        </a:rPr>
                        <a:t>MobileNet</a:t>
                      </a:r>
                      <a:r>
                        <a:rPr lang="en-US" sz="1100" b="0" i="0" u="none" strike="noStrike" cap="none" spc="0" noProof="0">
                          <a:solidFill>
                            <a:schemeClr val="tx1"/>
                          </a:solidFill>
                        </a:rPr>
                        <a:t> and featuring a </a:t>
                      </a:r>
                      <a:r>
                        <a:rPr lang="en-US" sz="1100" b="1" i="0" u="none" strike="noStrike" cap="none" spc="0" noProof="0" err="1">
                          <a:solidFill>
                            <a:schemeClr val="tx1"/>
                          </a:solidFill>
                        </a:rPr>
                        <a:t>ConvMixer</a:t>
                      </a:r>
                      <a:r>
                        <a:rPr lang="en-US" sz="1100" b="1" i="0" u="none" strike="noStrike" cap="none" spc="0" noProof="0">
                          <a:solidFill>
                            <a:schemeClr val="tx1"/>
                          </a:solidFill>
                        </a:rPr>
                        <a:t> block</a:t>
                      </a:r>
                      <a:r>
                        <a:rPr lang="en-US" sz="1100" b="0" i="0" u="none" strike="noStrike" cap="none" spc="0" noProof="0">
                          <a:solidFill>
                            <a:schemeClr val="tx1"/>
                          </a:solidFill>
                        </a:rPr>
                        <a:t>, was trained using </a:t>
                      </a:r>
                      <a:r>
                        <a:rPr lang="en-US" sz="1100" b="1" i="0" u="none" strike="noStrike" cap="none" spc="0" noProof="0">
                          <a:solidFill>
                            <a:schemeClr val="tx1"/>
                          </a:solidFill>
                        </a:rPr>
                        <a:t>Knowledge Distillation (KD)</a:t>
                      </a:r>
                      <a:r>
                        <a:rPr lang="en-US" sz="1100" b="0" i="0" u="none" strike="noStrike" cap="none" spc="0" noProof="0">
                          <a:solidFill>
                            <a:schemeClr val="tx1"/>
                          </a:solidFill>
                        </a:rPr>
                        <a:t> </a:t>
                      </a:r>
                    </a:p>
                  </a:txBody>
                  <a:tcPr marL="64595" marR="64595" marT="32298" marB="64595" anchor="ctr">
                    <a:lnL w="12700" cmpd="sng">
                      <a:noFill/>
                      <a:prstDash val="solid"/>
                    </a:lnL>
                    <a:lnR w="12700" cmpd="sng">
                      <a:noFill/>
                      <a:prstDash val="solid"/>
                    </a:lnR>
                    <a:lnT w="12700" cmpd="sng">
                      <a:noFill/>
                      <a:prstDash val="solid"/>
                    </a:lnT>
                    <a:lnB w="12700" cmpd="sng">
                      <a:noFill/>
                      <a:prstDash val="solid"/>
                    </a:lnB>
                    <a:noFill/>
                  </a:tcPr>
                </a:tc>
                <a:tc>
                  <a:txBody>
                    <a:bodyPr/>
                    <a:lstStyle/>
                    <a:p>
                      <a:pPr lvl="0">
                        <a:buNone/>
                      </a:pPr>
                      <a:r>
                        <a:rPr lang="en-US" sz="1100" b="0" i="0" u="none" strike="noStrike" cap="none" spc="0" noProof="0">
                          <a:solidFill>
                            <a:schemeClr val="tx1"/>
                          </a:solidFill>
                          <a:latin typeface="Arial"/>
                        </a:rPr>
                        <a:t>The model achieved a high </a:t>
                      </a:r>
                      <a:r>
                        <a:rPr lang="en-US" sz="1100" b="1" i="0" u="none" strike="noStrike" cap="none" spc="0" noProof="0">
                          <a:solidFill>
                            <a:schemeClr val="tx1"/>
                          </a:solidFill>
                          <a:latin typeface="Arial"/>
                        </a:rPr>
                        <a:t>97.92% classification accuracy</a:t>
                      </a:r>
                      <a:r>
                        <a:rPr lang="en-US" sz="1100" b="0" i="0" u="none" strike="noStrike" cap="none" spc="0" noProof="0">
                          <a:solidFill>
                            <a:schemeClr val="tx1"/>
                          </a:solidFill>
                          <a:latin typeface="Arial"/>
                        </a:rPr>
                        <a:t> with a minimal </a:t>
                      </a:r>
                      <a:r>
                        <a:rPr lang="en-US" sz="1100" b="1" i="0" u="none" strike="noStrike" cap="none" spc="0" noProof="0">
                          <a:solidFill>
                            <a:schemeClr val="tx1"/>
                          </a:solidFill>
                          <a:latin typeface="Arial"/>
                        </a:rPr>
                        <a:t>0.63 million parameter count</a:t>
                      </a:r>
                      <a:r>
                        <a:rPr lang="en-US" sz="1100" b="0" i="0" u="none" strike="noStrike" cap="none" spc="0" noProof="0">
                          <a:solidFill>
                            <a:schemeClr val="tx1"/>
                          </a:solidFill>
                          <a:latin typeface="Arial"/>
                        </a:rPr>
                        <a:t>,</a:t>
                      </a:r>
                      <a:endParaRPr lang="en-US" sz="1100" cap="none" spc="0">
                        <a:solidFill>
                          <a:schemeClr val="tx1"/>
                        </a:solidFill>
                      </a:endParaRPr>
                    </a:p>
                  </a:txBody>
                  <a:tcPr marL="64595" marR="64595" marT="32298" marB="64595"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529260982"/>
                  </a:ext>
                </a:extLst>
              </a:tr>
              <a:tr h="1026393">
                <a:tc>
                  <a:txBody>
                    <a:bodyPr/>
                    <a:lstStyle/>
                    <a:p>
                      <a:pPr>
                        <a:buNone/>
                      </a:pPr>
                      <a:r>
                        <a:rPr lang="en-US" sz="1100" b="1" cap="none" spc="0" err="1">
                          <a:solidFill>
                            <a:schemeClr val="tx1"/>
                          </a:solidFill>
                        </a:rPr>
                        <a:t>EsccNet</a:t>
                      </a:r>
                      <a:r>
                        <a:rPr lang="en-US" sz="1100" b="1" cap="none" spc="0">
                          <a:solidFill>
                            <a:schemeClr val="tx1"/>
                          </a:solidFill>
                        </a:rPr>
                        <a:t>: A Hybrid CNN and Transformers Model for Classification of Esophageal SCC</a:t>
                      </a:r>
                      <a:endParaRPr lang="en-US" sz="1100" cap="none" spc="0">
                        <a:solidFill>
                          <a:schemeClr val="tx1"/>
                        </a:solidFill>
                      </a:endParaRPr>
                    </a:p>
                  </a:txBody>
                  <a:tcPr marL="64595" marR="64595" marT="32298" marB="64595" anchor="ctr">
                    <a:lnL w="12700" cmpd="sng">
                      <a:noFill/>
                      <a:prstDash val="solid"/>
                    </a:lnL>
                    <a:lnR w="12700" cmpd="sng">
                      <a:noFill/>
                      <a:prstDash val="solid"/>
                    </a:lnR>
                    <a:lnT w="12700" cmpd="sng">
                      <a:noFill/>
                      <a:prstDash val="solid"/>
                    </a:lnT>
                    <a:lnB w="12700" cmpd="sng">
                      <a:noFill/>
                      <a:prstDash val="solid"/>
                    </a:lnB>
                    <a:solidFill>
                      <a:srgbClr val="DAE3F3">
                        <a:alpha val="50196"/>
                      </a:srgbClr>
                    </a:solidFill>
                  </a:tcPr>
                </a:tc>
                <a:tc>
                  <a:txBody>
                    <a:bodyPr/>
                    <a:lstStyle/>
                    <a:p>
                      <a:pPr>
                        <a:buNone/>
                      </a:pPr>
                      <a:r>
                        <a:rPr lang="en-US" sz="1100" cap="none" spc="0" err="1">
                          <a:solidFill>
                            <a:schemeClr val="tx1"/>
                          </a:solidFill>
                        </a:rPr>
                        <a:t>Zhaoxin</a:t>
                      </a:r>
                      <a:r>
                        <a:rPr lang="en-US" sz="1100" cap="none" spc="0">
                          <a:solidFill>
                            <a:schemeClr val="tx1"/>
                          </a:solidFill>
                        </a:rPr>
                        <a:t> Kang, </a:t>
                      </a:r>
                      <a:r>
                        <a:rPr lang="en-US" sz="1100" cap="none" spc="0" err="1">
                          <a:solidFill>
                            <a:schemeClr val="tx1"/>
                          </a:solidFill>
                        </a:rPr>
                        <a:t>Mingqiu</a:t>
                      </a:r>
                      <a:r>
                        <a:rPr lang="en-US" sz="1100" cap="none" spc="0">
                          <a:solidFill>
                            <a:schemeClr val="tx1"/>
                          </a:solidFill>
                        </a:rPr>
                        <a:t> Chen, et al.</a:t>
                      </a:r>
                    </a:p>
                  </a:txBody>
                  <a:tcPr marL="64595" marR="64595" marT="32298" marB="64595" anchor="ctr">
                    <a:lnL w="12700" cmpd="sng">
                      <a:noFill/>
                      <a:prstDash val="solid"/>
                    </a:lnL>
                    <a:lnR w="12700" cmpd="sng">
                      <a:noFill/>
                      <a:prstDash val="solid"/>
                    </a:lnR>
                    <a:lnT w="12700" cmpd="sng">
                      <a:noFill/>
                      <a:prstDash val="solid"/>
                    </a:lnT>
                    <a:lnB w="12700" cmpd="sng">
                      <a:noFill/>
                      <a:prstDash val="solid"/>
                    </a:lnB>
                    <a:solidFill>
                      <a:srgbClr val="DAE3F3">
                        <a:alpha val="50196"/>
                      </a:srgbClr>
                    </a:solidFill>
                  </a:tcPr>
                </a:tc>
                <a:tc>
                  <a:txBody>
                    <a:bodyPr/>
                    <a:lstStyle/>
                    <a:p>
                      <a:pPr>
                        <a:buNone/>
                      </a:pPr>
                      <a:r>
                        <a:rPr lang="en-US" sz="1100" cap="none" spc="0">
                          <a:solidFill>
                            <a:schemeClr val="tx1"/>
                          </a:solidFill>
                        </a:rPr>
                        <a:t>Esophageal SCC whole slide images</a:t>
                      </a:r>
                    </a:p>
                  </a:txBody>
                  <a:tcPr marL="64595" marR="64595" marT="32298" marB="64595" anchor="ctr">
                    <a:lnL w="12700" cmpd="sng">
                      <a:noFill/>
                      <a:prstDash val="solid"/>
                    </a:lnL>
                    <a:lnR w="12700" cmpd="sng">
                      <a:noFill/>
                      <a:prstDash val="solid"/>
                    </a:lnR>
                    <a:lnT w="12700" cmpd="sng">
                      <a:noFill/>
                      <a:prstDash val="solid"/>
                    </a:lnT>
                    <a:lnB w="12700" cmpd="sng">
                      <a:noFill/>
                      <a:prstDash val="solid"/>
                    </a:lnB>
                    <a:solidFill>
                      <a:srgbClr val="DAE3F3">
                        <a:alpha val="50196"/>
                      </a:srgbClr>
                    </a:solidFill>
                  </a:tcPr>
                </a:tc>
                <a:tc>
                  <a:txBody>
                    <a:bodyPr/>
                    <a:lstStyle/>
                    <a:p>
                      <a:pPr>
                        <a:buNone/>
                      </a:pPr>
                      <a:r>
                        <a:rPr lang="en-US" sz="1100" cap="none" spc="0">
                          <a:solidFill>
                            <a:schemeClr val="tx1"/>
                          </a:solidFill>
                        </a:rPr>
                        <a:t>Hybrid CNN + Transformer</a:t>
                      </a:r>
                    </a:p>
                  </a:txBody>
                  <a:tcPr marL="64595" marR="64595" marT="32298" marB="64595" anchor="ctr">
                    <a:lnL w="12700" cmpd="sng">
                      <a:noFill/>
                      <a:prstDash val="solid"/>
                    </a:lnL>
                    <a:lnR w="12700" cmpd="sng">
                      <a:noFill/>
                      <a:prstDash val="solid"/>
                    </a:lnR>
                    <a:lnT w="12700" cmpd="sng">
                      <a:noFill/>
                      <a:prstDash val="solid"/>
                    </a:lnT>
                    <a:lnB w="12700" cmpd="sng">
                      <a:noFill/>
                      <a:prstDash val="solid"/>
                    </a:lnB>
                    <a:solidFill>
                      <a:srgbClr val="DAE3F3">
                        <a:alpha val="50196"/>
                      </a:srgbClr>
                    </a:solidFill>
                  </a:tcPr>
                </a:tc>
                <a:tc>
                  <a:txBody>
                    <a:bodyPr/>
                    <a:lstStyle/>
                    <a:p>
                      <a:pPr>
                        <a:buNone/>
                      </a:pPr>
                      <a:r>
                        <a:rPr lang="en-US" sz="1100" cap="none" spc="0">
                          <a:solidFill>
                            <a:schemeClr val="tx1"/>
                          </a:solidFill>
                        </a:rPr>
                        <a:t>Outperformed standard CNNs; effective for whole slide image classification.</a:t>
                      </a:r>
                    </a:p>
                  </a:txBody>
                  <a:tcPr marL="64595" marR="64595" marT="32298" marB="64595" anchor="ctr">
                    <a:lnL w="12700" cmpd="sng">
                      <a:noFill/>
                      <a:prstDash val="solid"/>
                    </a:lnL>
                    <a:lnR w="12700" cmpd="sng">
                      <a:noFill/>
                      <a:prstDash val="solid"/>
                    </a:lnR>
                    <a:lnT w="12700" cmpd="sng">
                      <a:noFill/>
                      <a:prstDash val="solid"/>
                    </a:lnT>
                    <a:lnB w="12700" cmpd="sng">
                      <a:noFill/>
                      <a:prstDash val="solid"/>
                    </a:lnB>
                    <a:solidFill>
                      <a:srgbClr val="DAE3F3">
                        <a:alpha val="50196"/>
                      </a:srgbClr>
                    </a:solidFill>
                  </a:tcPr>
                </a:tc>
                <a:extLst>
                  <a:ext uri="{0D108BD9-81ED-4DB2-BD59-A6C34878D82A}">
                    <a16:rowId xmlns:a16="http://schemas.microsoft.com/office/drawing/2014/main" val="4072312724"/>
                  </a:ext>
                </a:extLst>
              </a:tr>
            </a:tbl>
          </a:graphicData>
        </a:graphic>
      </p:graphicFrame>
      <p:sp>
        <p:nvSpPr>
          <p:cNvPr id="3" name="TextBox 1">
            <a:extLst>
              <a:ext uri="{FF2B5EF4-FFF2-40B4-BE49-F238E27FC236}">
                <a16:creationId xmlns:a16="http://schemas.microsoft.com/office/drawing/2014/main" id="{E5294D0D-AD18-AC07-3B7B-9BA2DB3EDE31}"/>
              </a:ext>
            </a:extLst>
          </p:cNvPr>
          <p:cNvSpPr txBox="1"/>
          <p:nvPr/>
        </p:nvSpPr>
        <p:spPr>
          <a:xfrm>
            <a:off x="6254133" y="188640"/>
            <a:ext cx="4524183" cy="461665"/>
          </a:xfrm>
          <a:prstGeom prst="rect">
            <a:avLst/>
          </a:prstGeom>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r>
              <a:rPr lang="en-US" sz="2400" b="1">
                <a:solidFill>
                  <a:srgbClr val="D47D26"/>
                </a:solidFill>
                <a:latin typeface="Times New Roman" panose="02020603050405020304" pitchFamily="18" charset="0"/>
                <a:cs typeface="Times New Roman" panose="02020603050405020304" pitchFamily="18" charset="0"/>
              </a:rPr>
              <a:t>LITERATURE REVIEW</a:t>
            </a:r>
          </a:p>
        </p:txBody>
      </p:sp>
    </p:spTree>
    <p:extLst>
      <p:ext uri="{BB962C8B-B14F-4D97-AF65-F5344CB8AC3E}">
        <p14:creationId xmlns:p14="http://schemas.microsoft.com/office/powerpoint/2010/main" val="4289601832"/>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79D42D-935F-008B-D2C0-06A4D872A2B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CBC8CB2-34A2-DB4C-8A1A-257111658EFA}"/>
              </a:ext>
            </a:extLst>
          </p:cNvPr>
          <p:cNvSpPr txBox="1"/>
          <p:nvPr/>
        </p:nvSpPr>
        <p:spPr>
          <a:xfrm>
            <a:off x="7848153" y="188640"/>
            <a:ext cx="2743200" cy="461665"/>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a:solidFill>
                  <a:srgbClr val="D47D26"/>
                </a:solidFill>
                <a:latin typeface="Times New Roman" panose="02020603050405020304" pitchFamily="18" charset="0"/>
                <a:cs typeface="Times New Roman" panose="02020603050405020304" pitchFamily="18" charset="0"/>
              </a:rPr>
              <a:t>OBJECTIVE</a:t>
            </a:r>
          </a:p>
        </p:txBody>
      </p:sp>
      <p:sp>
        <p:nvSpPr>
          <p:cNvPr id="3" name="TextBox 2">
            <a:extLst>
              <a:ext uri="{FF2B5EF4-FFF2-40B4-BE49-F238E27FC236}">
                <a16:creationId xmlns:a16="http://schemas.microsoft.com/office/drawing/2014/main" id="{49CD2ACB-DAB8-EB0A-7085-E18D25B5AE76}"/>
              </a:ext>
            </a:extLst>
          </p:cNvPr>
          <p:cNvSpPr txBox="1"/>
          <p:nvPr/>
        </p:nvSpPr>
        <p:spPr>
          <a:xfrm>
            <a:off x="252550" y="1717471"/>
            <a:ext cx="10297771" cy="34778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000">
                <a:latin typeface="Times New Roman"/>
                <a:cs typeface="Arial"/>
              </a:rPr>
              <a:t>Develop and evaluate deep learning models for grading Squamous Cell Carcinoma (SCC) using histopathology images.</a:t>
            </a:r>
          </a:p>
          <a:p>
            <a:pPr marL="285750" indent="-285750">
              <a:buFont typeface="Arial"/>
              <a:buChar char="•"/>
            </a:pPr>
            <a:endParaRPr lang="en-US" sz="2000">
              <a:latin typeface="Times New Roman"/>
              <a:cs typeface="Arial"/>
            </a:endParaRPr>
          </a:p>
          <a:p>
            <a:pPr marL="285750" indent="-285750">
              <a:buFont typeface="Arial"/>
              <a:buChar char="•"/>
            </a:pPr>
            <a:r>
              <a:rPr lang="en-US" sz="2000">
                <a:latin typeface="Times New Roman"/>
                <a:cs typeface="Arial"/>
              </a:rPr>
              <a:t>Design and compare architectures such as </a:t>
            </a:r>
            <a:r>
              <a:rPr lang="en-US" sz="2000" err="1">
                <a:latin typeface="Times New Roman"/>
                <a:cs typeface="Arial"/>
              </a:rPr>
              <a:t>DenseNet</a:t>
            </a:r>
            <a:r>
              <a:rPr lang="en-US" sz="2000">
                <a:latin typeface="Times New Roman"/>
                <a:cs typeface="Arial"/>
              </a:rPr>
              <a:t>, </a:t>
            </a:r>
            <a:r>
              <a:rPr lang="en-US" sz="2000" err="1">
                <a:latin typeface="Times New Roman"/>
                <a:cs typeface="Arial"/>
              </a:rPr>
              <a:t>ConvNeXt</a:t>
            </a:r>
            <a:r>
              <a:rPr lang="en-US" sz="2000">
                <a:latin typeface="Times New Roman"/>
                <a:cs typeface="Arial"/>
              </a:rPr>
              <a:t>, MobileNetV2, and Inception.</a:t>
            </a:r>
          </a:p>
          <a:p>
            <a:pPr marL="285750" indent="-285750">
              <a:buFont typeface="Arial"/>
              <a:buChar char="•"/>
            </a:pPr>
            <a:endParaRPr lang="en-US" sz="2000">
              <a:latin typeface="Times New Roman"/>
              <a:cs typeface="Arial"/>
            </a:endParaRPr>
          </a:p>
          <a:p>
            <a:pPr marL="285750" indent="-285750">
              <a:buFont typeface="Arial"/>
              <a:buChar char="•"/>
            </a:pPr>
            <a:r>
              <a:rPr lang="en-US" sz="2000">
                <a:latin typeface="Times New Roman"/>
                <a:cs typeface="Arial"/>
              </a:rPr>
              <a:t>Apply hyperparameter tuning by adjusting learning rate, batch size, epochs, optimizers, and activation functions.</a:t>
            </a:r>
          </a:p>
          <a:p>
            <a:pPr marL="285750" indent="-285750">
              <a:buFont typeface="Arial"/>
              <a:buChar char="•"/>
            </a:pPr>
            <a:endParaRPr lang="en-US" sz="2000">
              <a:latin typeface="Times New Roman"/>
              <a:cs typeface="Arial"/>
            </a:endParaRPr>
          </a:p>
          <a:p>
            <a:pPr marL="285750" indent="-285750">
              <a:buFont typeface="Arial"/>
              <a:buChar char="•"/>
            </a:pPr>
            <a:r>
              <a:rPr lang="en-US" sz="2000">
                <a:latin typeface="Times New Roman"/>
                <a:cs typeface="Arial"/>
              </a:rPr>
              <a:t>Train, validate, and evaluate models using accuracy, precision, recall, and F1-score to determine the most reliable and consistent model.</a:t>
            </a:r>
          </a:p>
          <a:p>
            <a:endParaRPr lang="en-US" sz="2000">
              <a:latin typeface="Times New Roman"/>
              <a:cs typeface="Arial"/>
            </a:endParaRPr>
          </a:p>
        </p:txBody>
      </p:sp>
    </p:spTree>
    <p:extLst>
      <p:ext uri="{BB962C8B-B14F-4D97-AF65-F5344CB8AC3E}">
        <p14:creationId xmlns:p14="http://schemas.microsoft.com/office/powerpoint/2010/main" val="609125800"/>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254133" y="188640"/>
            <a:ext cx="4524183" cy="461665"/>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a:solidFill>
                  <a:srgbClr val="D47D26"/>
                </a:solidFill>
                <a:latin typeface="Times New Roman" panose="02020603050405020304" pitchFamily="18" charset="0"/>
                <a:cs typeface="Times New Roman" panose="02020603050405020304" pitchFamily="18" charset="0"/>
              </a:rPr>
              <a:t>OPERATIONAL FLOW</a:t>
            </a:r>
          </a:p>
        </p:txBody>
      </p:sp>
      <p:pic>
        <p:nvPicPr>
          <p:cNvPr id="3" name="Picture 2" descr="A diagram of a data flow&#10;&#10;AI-generated content may be incorrect.">
            <a:extLst>
              <a:ext uri="{FF2B5EF4-FFF2-40B4-BE49-F238E27FC236}">
                <a16:creationId xmlns:a16="http://schemas.microsoft.com/office/drawing/2014/main" id="{A5D3C92F-AD18-45E7-5693-F13E6274DC48}"/>
              </a:ext>
            </a:extLst>
          </p:cNvPr>
          <p:cNvPicPr>
            <a:picLocks noChangeAspect="1"/>
          </p:cNvPicPr>
          <p:nvPr/>
        </p:nvPicPr>
        <p:blipFill>
          <a:blip r:embed="rId2"/>
          <a:stretch>
            <a:fillRect/>
          </a:stretch>
        </p:blipFill>
        <p:spPr>
          <a:xfrm>
            <a:off x="2533440" y="809258"/>
            <a:ext cx="5724051" cy="5240405"/>
          </a:xfrm>
          <a:prstGeom prst="rect">
            <a:avLst/>
          </a:prstGeom>
        </p:spPr>
      </p:pic>
      <p:sp>
        <p:nvSpPr>
          <p:cNvPr id="5" name="TextBox 4">
            <a:extLst>
              <a:ext uri="{FF2B5EF4-FFF2-40B4-BE49-F238E27FC236}">
                <a16:creationId xmlns:a16="http://schemas.microsoft.com/office/drawing/2014/main" id="{CDF28905-8807-D6E6-D114-662820F7F123}"/>
              </a:ext>
            </a:extLst>
          </p:cNvPr>
          <p:cNvSpPr txBox="1"/>
          <p:nvPr/>
        </p:nvSpPr>
        <p:spPr>
          <a:xfrm>
            <a:off x="2305220" y="6048292"/>
            <a:ext cx="5648176"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IN" sz="1200">
                <a:latin typeface="Times New Roman"/>
                <a:cs typeface="Times New Roman"/>
              </a:rPr>
              <a:t>              </a:t>
            </a:r>
            <a:r>
              <a:rPr lang="en-IN" sz="1200">
                <a:latin typeface="Arial"/>
                <a:cs typeface="Times New Roman"/>
              </a:rPr>
              <a:t>   </a:t>
            </a:r>
            <a:r>
              <a:rPr lang="en-IN" sz="1200" b="1">
                <a:latin typeface="Arial"/>
                <a:cs typeface="Times New Roman"/>
              </a:rPr>
              <a:t> Fig 1</a:t>
            </a:r>
            <a:r>
              <a:rPr lang="en-IN" sz="1200">
                <a:latin typeface="Arial"/>
                <a:cs typeface="Times New Roman"/>
              </a:rPr>
              <a:t> Flowchart of the proposed deep learning workflow for binary classification of histopathology images</a:t>
            </a:r>
            <a:endParaRPr lang="en-US" sz="1200">
              <a:latin typeface="Arial"/>
              <a:cs typeface="Times New Roman"/>
            </a:endParaRPr>
          </a:p>
        </p:txBody>
      </p:sp>
      <p:sp>
        <p:nvSpPr>
          <p:cNvPr id="4" name="Rectangle 3">
            <a:extLst>
              <a:ext uri="{FF2B5EF4-FFF2-40B4-BE49-F238E27FC236}">
                <a16:creationId xmlns:a16="http://schemas.microsoft.com/office/drawing/2014/main" id="{DFBF0388-5B6B-DC05-9DF9-DBCB61F1E657}"/>
              </a:ext>
            </a:extLst>
          </p:cNvPr>
          <p:cNvSpPr/>
          <p:nvPr/>
        </p:nvSpPr>
        <p:spPr>
          <a:xfrm>
            <a:off x="5082044" y="3568404"/>
            <a:ext cx="544910" cy="1400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7C321B24-2DB7-4CD3-6FFA-D5736AAA35C0}"/>
              </a:ext>
            </a:extLst>
          </p:cNvPr>
          <p:cNvSpPr txBox="1"/>
          <p:nvPr/>
        </p:nvSpPr>
        <p:spPr>
          <a:xfrm>
            <a:off x="5048792" y="3565535"/>
            <a:ext cx="691106" cy="18466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600">
                <a:solidFill>
                  <a:schemeClr val="bg1">
                    <a:lumMod val="49000"/>
                  </a:schemeClr>
                </a:solidFill>
                <a:latin typeface="Arial"/>
                <a:cs typeface="Arial"/>
              </a:rPr>
              <a:t>MobileNetV2</a:t>
            </a:r>
            <a:endParaRPr lang="en-US" sz="600">
              <a:solidFill>
                <a:schemeClr val="bg1">
                  <a:lumMod val="49000"/>
                </a:schemeClr>
              </a:solidFill>
              <a:cs typeface="Arial"/>
            </a:endParaRPr>
          </a:p>
        </p:txBody>
      </p:sp>
    </p:spTree>
    <p:extLst>
      <p:ext uri="{BB962C8B-B14F-4D97-AF65-F5344CB8AC3E}">
        <p14:creationId xmlns:p14="http://schemas.microsoft.com/office/powerpoint/2010/main" val="1574296500"/>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7F961B-389A-6E06-DFB4-2AFB28A132A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E726C18-0683-9A21-41AC-777654EC0055}"/>
              </a:ext>
            </a:extLst>
          </p:cNvPr>
          <p:cNvSpPr txBox="1"/>
          <p:nvPr/>
        </p:nvSpPr>
        <p:spPr>
          <a:xfrm>
            <a:off x="6254133" y="188640"/>
            <a:ext cx="4524183" cy="461665"/>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a:solidFill>
                  <a:srgbClr val="D47D26"/>
                </a:solidFill>
                <a:latin typeface="Times New Roman" panose="02020603050405020304" pitchFamily="18" charset="0"/>
                <a:cs typeface="Times New Roman" panose="02020603050405020304" pitchFamily="18" charset="0"/>
              </a:rPr>
              <a:t>OPERATIONAL FLOW</a:t>
            </a:r>
          </a:p>
        </p:txBody>
      </p:sp>
      <p:sp>
        <p:nvSpPr>
          <p:cNvPr id="4" name="TextBox 3">
            <a:extLst>
              <a:ext uri="{FF2B5EF4-FFF2-40B4-BE49-F238E27FC236}">
                <a16:creationId xmlns:a16="http://schemas.microsoft.com/office/drawing/2014/main" id="{54D03FA8-7BE8-0715-8731-2876504569AF}"/>
              </a:ext>
            </a:extLst>
          </p:cNvPr>
          <p:cNvSpPr txBox="1"/>
          <p:nvPr/>
        </p:nvSpPr>
        <p:spPr>
          <a:xfrm>
            <a:off x="192026" y="837583"/>
            <a:ext cx="10304657" cy="50783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Arial"/>
                <a:cs typeface="Arial"/>
              </a:rPr>
              <a:t>Workflow Steps</a:t>
            </a:r>
          </a:p>
          <a:p>
            <a:pPr marL="685800" lvl="1" indent="-228600">
              <a:buFont typeface=""/>
              <a:buAutoNum type="arabicPeriod"/>
            </a:pPr>
            <a:r>
              <a:rPr lang="en-US">
                <a:latin typeface="Arial"/>
                <a:cs typeface="Arial"/>
              </a:rPr>
              <a:t>Dataset Collection</a:t>
            </a:r>
          </a:p>
          <a:p>
            <a:pPr marL="685800" lvl="2" indent="-228600">
              <a:buFont typeface=""/>
              <a:buAutoNum type="arabicPeriod"/>
            </a:pPr>
            <a:r>
              <a:rPr lang="en-US">
                <a:latin typeface="Arial"/>
                <a:cs typeface="Arial"/>
              </a:rPr>
              <a:t>Import the LC25000 dataset.</a:t>
            </a:r>
          </a:p>
          <a:p>
            <a:pPr marL="685800" lvl="2" indent="-228600">
              <a:buFont typeface=""/>
              <a:buAutoNum type="arabicPeriod"/>
            </a:pPr>
            <a:r>
              <a:rPr lang="en-US">
                <a:latin typeface="Arial"/>
                <a:cs typeface="Arial"/>
              </a:rPr>
              <a:t>Select relevant classes — </a:t>
            </a:r>
            <a:r>
              <a:rPr lang="en-US" i="1">
                <a:latin typeface="Arial"/>
                <a:cs typeface="Arial"/>
              </a:rPr>
              <a:t>Adenocarcinoma</a:t>
            </a:r>
            <a:r>
              <a:rPr lang="en-US">
                <a:latin typeface="Arial"/>
                <a:cs typeface="Arial"/>
              </a:rPr>
              <a:t> and </a:t>
            </a:r>
            <a:r>
              <a:rPr lang="en-US" i="1">
                <a:latin typeface="Arial"/>
                <a:cs typeface="Arial"/>
              </a:rPr>
              <a:t>Squamous Cell Carcinoma</a:t>
            </a:r>
            <a:r>
              <a:rPr lang="en-US">
                <a:latin typeface="Arial"/>
                <a:cs typeface="Arial"/>
              </a:rPr>
              <a:t>.</a:t>
            </a:r>
          </a:p>
          <a:p>
            <a:pPr marL="228600" indent="-228600">
              <a:buFont typeface=""/>
              <a:buAutoNum type="arabicPeriod"/>
            </a:pPr>
            <a:r>
              <a:rPr lang="en-US" b="1">
                <a:latin typeface="Arial"/>
                <a:cs typeface="Arial"/>
              </a:rPr>
              <a:t>Preprocessing</a:t>
            </a:r>
          </a:p>
          <a:p>
            <a:pPr marL="685800" lvl="2" indent="-228600">
              <a:buFont typeface=""/>
              <a:buAutoNum type="arabicPeriod"/>
            </a:pPr>
            <a:r>
              <a:rPr lang="en-US">
                <a:latin typeface="Arial"/>
                <a:cs typeface="Arial"/>
              </a:rPr>
              <a:t>Resize images (224×224) and 300x300, normalize pixel values.</a:t>
            </a:r>
          </a:p>
          <a:p>
            <a:pPr marL="228600" indent="-228600">
              <a:buFont typeface=""/>
              <a:buAutoNum type="arabicPeriod"/>
            </a:pPr>
            <a:r>
              <a:rPr lang="en-US" b="1">
                <a:latin typeface="Arial"/>
                <a:cs typeface="Arial"/>
              </a:rPr>
              <a:t>Dataset Splitting</a:t>
            </a:r>
          </a:p>
          <a:p>
            <a:pPr marL="685800" lvl="2" indent="-228600">
              <a:buFont typeface=""/>
              <a:buAutoNum type="arabicPeriod"/>
            </a:pPr>
            <a:r>
              <a:rPr lang="en-US">
                <a:latin typeface="Arial"/>
                <a:cs typeface="Arial"/>
              </a:rPr>
              <a:t>Divide data into training, validation, and test sets.</a:t>
            </a:r>
          </a:p>
          <a:p>
            <a:pPr marL="228600" indent="-228600">
              <a:buFont typeface=""/>
              <a:buAutoNum type="arabicPeriod"/>
            </a:pPr>
            <a:r>
              <a:rPr lang="en-US" b="1">
                <a:latin typeface="Arial"/>
                <a:cs typeface="Arial"/>
              </a:rPr>
              <a:t>Model Development</a:t>
            </a:r>
          </a:p>
          <a:p>
            <a:pPr marL="685800" lvl="2" indent="-228600">
              <a:buFont typeface=""/>
              <a:buAutoNum type="arabicPeriod"/>
            </a:pPr>
            <a:r>
              <a:rPr lang="en-US">
                <a:latin typeface="Arial"/>
                <a:cs typeface="Arial"/>
              </a:rPr>
              <a:t>Use deep learning models — </a:t>
            </a:r>
            <a:r>
              <a:rPr lang="en-US" err="1">
                <a:latin typeface="Arial"/>
                <a:cs typeface="Arial"/>
              </a:rPr>
              <a:t>DenseNet</a:t>
            </a:r>
            <a:r>
              <a:rPr lang="en-US">
                <a:latin typeface="Arial"/>
                <a:cs typeface="Arial"/>
              </a:rPr>
              <a:t>, </a:t>
            </a:r>
            <a:r>
              <a:rPr lang="en-US" err="1">
                <a:latin typeface="Arial"/>
                <a:cs typeface="Arial"/>
              </a:rPr>
              <a:t>ConvNeXt</a:t>
            </a:r>
            <a:r>
              <a:rPr lang="en-US">
                <a:latin typeface="Arial"/>
                <a:cs typeface="Arial"/>
              </a:rPr>
              <a:t>, MobileNetV2, and InceptionV3.</a:t>
            </a:r>
          </a:p>
          <a:p>
            <a:pPr marL="685800" lvl="2" indent="-228600">
              <a:buFont typeface=""/>
              <a:buAutoNum type="arabicPeriod"/>
            </a:pPr>
            <a:r>
              <a:rPr lang="en-US">
                <a:latin typeface="Arial"/>
                <a:cs typeface="Arial"/>
              </a:rPr>
              <a:t>Employ transfer learning and fine-tuning.</a:t>
            </a:r>
          </a:p>
          <a:p>
            <a:pPr marL="228600" indent="-228600">
              <a:buFont typeface=""/>
              <a:buAutoNum type="arabicPeriod"/>
            </a:pPr>
            <a:r>
              <a:rPr lang="en-US" b="1">
                <a:latin typeface="Arial"/>
                <a:cs typeface="Arial"/>
              </a:rPr>
              <a:t>Training &amp; Validation</a:t>
            </a:r>
          </a:p>
          <a:p>
            <a:pPr marL="685800" lvl="2" indent="-228600">
              <a:buFont typeface=""/>
              <a:buAutoNum type="arabicPeriod"/>
            </a:pPr>
            <a:r>
              <a:rPr lang="en-US">
                <a:latin typeface="Arial"/>
                <a:cs typeface="Arial"/>
              </a:rPr>
              <a:t>Train models on training data.</a:t>
            </a:r>
          </a:p>
          <a:p>
            <a:pPr marL="685800" lvl="2" indent="-228600">
              <a:buFont typeface=""/>
              <a:buAutoNum type="arabicPeriod"/>
            </a:pPr>
            <a:r>
              <a:rPr lang="en-US">
                <a:latin typeface="Arial"/>
                <a:cs typeface="Arial"/>
              </a:rPr>
              <a:t>Validate during training using performance checkpoints.</a:t>
            </a:r>
          </a:p>
          <a:p>
            <a:pPr marL="228600" indent="-228600">
              <a:buFont typeface=""/>
              <a:buAutoNum type="arabicPeriod"/>
            </a:pPr>
            <a:r>
              <a:rPr lang="en-US" b="1">
                <a:latin typeface="Arial"/>
                <a:cs typeface="Arial"/>
              </a:rPr>
              <a:t>Evaluation</a:t>
            </a:r>
          </a:p>
          <a:p>
            <a:pPr marL="685800" lvl="2" indent="-228600">
              <a:buFont typeface=""/>
              <a:buAutoNum type="arabicPeriod"/>
            </a:pPr>
            <a:r>
              <a:rPr lang="en-US">
                <a:latin typeface="Arial"/>
                <a:cs typeface="Arial"/>
              </a:rPr>
              <a:t>Test trained models on unseen data.</a:t>
            </a:r>
          </a:p>
          <a:p>
            <a:pPr marL="685800" lvl="2" indent="-228600">
              <a:buFont typeface=""/>
              <a:buAutoNum type="arabicPeriod"/>
            </a:pPr>
            <a:r>
              <a:rPr lang="en-US">
                <a:latin typeface="Arial"/>
                <a:cs typeface="Arial"/>
              </a:rPr>
              <a:t>Assess using accuracy, precision, recall, and F1-score.</a:t>
            </a:r>
          </a:p>
          <a:p>
            <a:pPr marL="685800" lvl="2" indent="-228600">
              <a:buFont typeface=""/>
              <a:buAutoNum type="arabicPeriod"/>
            </a:pPr>
            <a:r>
              <a:rPr lang="en-US">
                <a:latin typeface="Arial"/>
                <a:cs typeface="Arial"/>
              </a:rPr>
              <a:t>Compare results to identify the best-performing model.</a:t>
            </a:r>
          </a:p>
        </p:txBody>
      </p:sp>
    </p:spTree>
    <p:extLst>
      <p:ext uri="{BB962C8B-B14F-4D97-AF65-F5344CB8AC3E}">
        <p14:creationId xmlns:p14="http://schemas.microsoft.com/office/powerpoint/2010/main" val="3199391146"/>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0A313F9-BB8D-44F1-9DB3-B36A5B02C958}"/>
              </a:ext>
            </a:extLst>
          </p:cNvPr>
          <p:cNvSpPr txBox="1"/>
          <p:nvPr/>
        </p:nvSpPr>
        <p:spPr>
          <a:xfrm>
            <a:off x="5474730" y="188640"/>
            <a:ext cx="5464198" cy="461665"/>
          </a:xfrm>
          <a:prstGeom prst="rect">
            <a:avLst/>
          </a:prstGeom>
          <a:noFill/>
        </p:spPr>
        <p:txBody>
          <a:bodyPr wrap="square" lIns="91440" tIns="45720" rIns="91440" bIns="45720" rtlCol="0" anchor="t">
            <a:spAutoFit/>
          </a:bodyPr>
          <a:lstStyle/>
          <a:p>
            <a:pPr algn="just"/>
            <a:r>
              <a:rPr lang="en-IN" sz="2400" b="1">
                <a:solidFill>
                  <a:srgbClr val="D47D26"/>
                </a:solidFill>
                <a:latin typeface="Times New Roman"/>
                <a:cs typeface="Times New Roman"/>
              </a:rPr>
              <a:t>IMPLEMENTATION &amp;WORK DONE</a:t>
            </a:r>
            <a:endParaRPr lang="en-IN">
              <a:latin typeface="Times New Roman"/>
              <a:cs typeface="Times New Roman"/>
            </a:endParaRPr>
          </a:p>
        </p:txBody>
      </p:sp>
      <p:sp>
        <p:nvSpPr>
          <p:cNvPr id="2" name="TextBox 1">
            <a:extLst>
              <a:ext uri="{FF2B5EF4-FFF2-40B4-BE49-F238E27FC236}">
                <a16:creationId xmlns:a16="http://schemas.microsoft.com/office/drawing/2014/main" id="{08DB197D-CFDB-DC65-5121-D062CB5E6880}"/>
              </a:ext>
            </a:extLst>
          </p:cNvPr>
          <p:cNvSpPr txBox="1"/>
          <p:nvPr/>
        </p:nvSpPr>
        <p:spPr>
          <a:xfrm>
            <a:off x="173517" y="791307"/>
            <a:ext cx="9194142" cy="50783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Arial"/>
                <a:cs typeface="Arial"/>
              </a:rPr>
              <a:t>Dataset &amp; Preprocessing</a:t>
            </a:r>
          </a:p>
          <a:p>
            <a:endParaRPr lang="en-US" b="1">
              <a:latin typeface="Arial"/>
              <a:cs typeface="Arial"/>
            </a:endParaRPr>
          </a:p>
          <a:p>
            <a:r>
              <a:rPr lang="en-US" b="1">
                <a:latin typeface="Arial"/>
                <a:cs typeface="Arial"/>
              </a:rPr>
              <a:t>Dataset Preparation &amp; Cleaning</a:t>
            </a:r>
          </a:p>
          <a:p>
            <a:endParaRPr lang="en-US" b="1">
              <a:latin typeface="Arial"/>
              <a:cs typeface="Arial"/>
            </a:endParaRPr>
          </a:p>
          <a:p>
            <a:pPr marL="685800" lvl="1" indent="-228600">
              <a:buFont typeface="Courier New"/>
              <a:buChar char="o"/>
            </a:pPr>
            <a:r>
              <a:rPr lang="en-US">
                <a:latin typeface="Arial"/>
                <a:cs typeface="Arial"/>
              </a:rPr>
              <a:t>LC25000 histopathology dataset used.</a:t>
            </a:r>
          </a:p>
          <a:p>
            <a:pPr marL="685800" lvl="1" indent="-228600">
              <a:buFont typeface="Courier New"/>
              <a:buChar char="o"/>
            </a:pPr>
            <a:r>
              <a:rPr lang="en-US">
                <a:latin typeface="Arial"/>
                <a:cs typeface="Arial"/>
              </a:rPr>
              <a:t>Selected classes: Adenocarcinoma and Squamous Cell Carcinoma.</a:t>
            </a:r>
          </a:p>
          <a:p>
            <a:pPr marL="685800" lvl="1" indent="-228600">
              <a:buFont typeface="Courier New"/>
              <a:buChar char="o"/>
            </a:pPr>
            <a:r>
              <a:rPr lang="en-US">
                <a:latin typeface="Arial"/>
                <a:cs typeface="Arial"/>
              </a:rPr>
              <a:t>Manual cleaning: Removed poor-quality images, excessive whitespace, or irrelevant structures.</a:t>
            </a:r>
          </a:p>
          <a:p>
            <a:endParaRPr lang="en-US">
              <a:latin typeface="Arial"/>
              <a:cs typeface="Arial"/>
            </a:endParaRPr>
          </a:p>
          <a:p>
            <a:r>
              <a:rPr lang="en-US" b="1">
                <a:latin typeface="Arial"/>
                <a:cs typeface="Arial"/>
              </a:rPr>
              <a:t>Preprocessing Steps</a:t>
            </a:r>
          </a:p>
          <a:p>
            <a:endParaRPr lang="en-US" b="1">
              <a:latin typeface="Arial"/>
              <a:cs typeface="Arial"/>
            </a:endParaRPr>
          </a:p>
          <a:p>
            <a:pPr marL="685800" lvl="1" indent="-228600">
              <a:buFont typeface="Courier New"/>
              <a:buChar char="o"/>
            </a:pPr>
            <a:r>
              <a:rPr lang="en-US">
                <a:latin typeface="Arial"/>
                <a:cs typeface="Arial"/>
              </a:rPr>
              <a:t>Resizing: 224×224 pixels</a:t>
            </a:r>
          </a:p>
          <a:p>
            <a:pPr marL="685800" lvl="1" indent="-228600">
              <a:buFont typeface="Courier New"/>
              <a:buChar char="o"/>
            </a:pPr>
            <a:r>
              <a:rPr lang="en-US">
                <a:latin typeface="Arial"/>
                <a:cs typeface="Arial"/>
              </a:rPr>
              <a:t>Normalization: Pixel values scaled 0–1</a:t>
            </a:r>
          </a:p>
          <a:p>
            <a:endParaRPr lang="en-US">
              <a:latin typeface="Arial"/>
              <a:cs typeface="Arial"/>
            </a:endParaRPr>
          </a:p>
          <a:p>
            <a:r>
              <a:rPr lang="en-US" b="1">
                <a:latin typeface="Arial"/>
                <a:cs typeface="Arial"/>
              </a:rPr>
              <a:t>Dataset Splitting</a:t>
            </a:r>
          </a:p>
          <a:p>
            <a:pPr lvl="1"/>
            <a:endParaRPr lang="en-US">
              <a:latin typeface="Arial"/>
              <a:cs typeface="Arial"/>
            </a:endParaRPr>
          </a:p>
          <a:p>
            <a:pPr marL="685800" lvl="1" indent="-228600">
              <a:buFont typeface="Courier New"/>
              <a:buChar char="o"/>
            </a:pPr>
            <a:r>
              <a:rPr lang="en-US">
                <a:latin typeface="Arial"/>
                <a:cs typeface="Arial"/>
              </a:rPr>
              <a:t>Training, Validation, Test sets</a:t>
            </a:r>
          </a:p>
          <a:p>
            <a:pPr marL="685800" lvl="1" indent="-228600">
              <a:buFont typeface="Courier New"/>
              <a:buChar char="o"/>
            </a:pPr>
            <a:r>
              <a:rPr lang="en-US">
                <a:latin typeface="Arial"/>
                <a:cs typeface="Arial"/>
              </a:rPr>
              <a:t>Helps models learn, validate, and generalize</a:t>
            </a:r>
          </a:p>
        </p:txBody>
      </p:sp>
    </p:spTree>
    <p:extLst>
      <p:ext uri="{BB962C8B-B14F-4D97-AF65-F5344CB8AC3E}">
        <p14:creationId xmlns:p14="http://schemas.microsoft.com/office/powerpoint/2010/main" val="1573551517"/>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1E651DA-3AA4-FBCF-006C-4A9FE8EA9D8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5FB3027-8F6B-1937-A95E-60C46AB32076}"/>
              </a:ext>
            </a:extLst>
          </p:cNvPr>
          <p:cNvSpPr txBox="1"/>
          <p:nvPr/>
        </p:nvSpPr>
        <p:spPr>
          <a:xfrm>
            <a:off x="5474730" y="188640"/>
            <a:ext cx="5464198" cy="461665"/>
          </a:xfrm>
          <a:prstGeom prst="rect">
            <a:avLst/>
          </a:prstGeom>
          <a:noFill/>
        </p:spPr>
        <p:txBody>
          <a:bodyPr wrap="square" lIns="91440" tIns="45720" rIns="91440" bIns="45720" rtlCol="0" anchor="t">
            <a:spAutoFit/>
          </a:bodyPr>
          <a:lstStyle/>
          <a:p>
            <a:pPr algn="just"/>
            <a:r>
              <a:rPr lang="en-IN" sz="2400" b="1">
                <a:solidFill>
                  <a:srgbClr val="D47D26"/>
                </a:solidFill>
                <a:latin typeface="Times New Roman"/>
                <a:cs typeface="Times New Roman"/>
              </a:rPr>
              <a:t>IMPLEMENTATION &amp;WORK DONE</a:t>
            </a:r>
            <a:endParaRPr lang="en-IN">
              <a:latin typeface="Times New Roman"/>
              <a:cs typeface="Times New Roman"/>
            </a:endParaRPr>
          </a:p>
        </p:txBody>
      </p:sp>
      <p:sp>
        <p:nvSpPr>
          <p:cNvPr id="4" name="TextBox 3">
            <a:extLst>
              <a:ext uri="{FF2B5EF4-FFF2-40B4-BE49-F238E27FC236}">
                <a16:creationId xmlns:a16="http://schemas.microsoft.com/office/drawing/2014/main" id="{96F72371-6FA0-B322-C18D-68A489BC0D2C}"/>
              </a:ext>
            </a:extLst>
          </p:cNvPr>
          <p:cNvSpPr txBox="1"/>
          <p:nvPr/>
        </p:nvSpPr>
        <p:spPr>
          <a:xfrm>
            <a:off x="99483" y="865348"/>
            <a:ext cx="9397736" cy="535531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Arial"/>
                <a:cs typeface="Arial"/>
              </a:rPr>
              <a:t>Model Implementation &amp; Training</a:t>
            </a:r>
          </a:p>
          <a:p>
            <a:endParaRPr lang="en-US" b="1">
              <a:latin typeface="Arial"/>
              <a:cs typeface="Arial"/>
            </a:endParaRPr>
          </a:p>
          <a:p>
            <a:r>
              <a:rPr lang="en-US" b="1">
                <a:latin typeface="Arial"/>
                <a:cs typeface="Arial"/>
              </a:rPr>
              <a:t>Models Used</a:t>
            </a:r>
          </a:p>
          <a:p>
            <a:pPr lvl="1"/>
            <a:endParaRPr lang="en-US">
              <a:latin typeface="Arial"/>
              <a:cs typeface="Arial"/>
            </a:endParaRPr>
          </a:p>
          <a:p>
            <a:pPr marL="685800" lvl="1" indent="-228600">
              <a:buFont typeface="Courier New"/>
              <a:buChar char="o"/>
            </a:pPr>
            <a:r>
              <a:rPr lang="en-US" err="1">
                <a:latin typeface="Arial"/>
                <a:cs typeface="Arial"/>
              </a:rPr>
              <a:t>DenseNet</a:t>
            </a:r>
            <a:r>
              <a:rPr lang="en-US">
                <a:latin typeface="Arial"/>
                <a:cs typeface="Arial"/>
              </a:rPr>
              <a:t>, </a:t>
            </a:r>
            <a:r>
              <a:rPr lang="en-US" err="1">
                <a:latin typeface="Arial"/>
                <a:cs typeface="Arial"/>
              </a:rPr>
              <a:t>ConvNeXt</a:t>
            </a:r>
            <a:r>
              <a:rPr lang="en-US">
                <a:latin typeface="Arial"/>
                <a:cs typeface="Arial"/>
              </a:rPr>
              <a:t>, MobileNetV2, InceptionV3</a:t>
            </a:r>
          </a:p>
          <a:p>
            <a:pPr marL="685800" lvl="1" indent="-228600">
              <a:buFont typeface="Courier New"/>
              <a:buChar char="o"/>
            </a:pPr>
            <a:r>
              <a:rPr lang="en-US">
                <a:latin typeface="Arial"/>
                <a:cs typeface="Arial"/>
              </a:rPr>
              <a:t>Trained using GPU acceleration in Google </a:t>
            </a:r>
            <a:r>
              <a:rPr lang="en-US" err="1">
                <a:latin typeface="Arial"/>
                <a:cs typeface="Arial"/>
              </a:rPr>
              <a:t>Colab</a:t>
            </a:r>
            <a:endParaRPr lang="en-US">
              <a:latin typeface="Arial"/>
              <a:cs typeface="Arial"/>
            </a:endParaRPr>
          </a:p>
          <a:p>
            <a:endParaRPr lang="en-US" b="1">
              <a:latin typeface="Arial"/>
              <a:cs typeface="Arial"/>
            </a:endParaRPr>
          </a:p>
          <a:p>
            <a:r>
              <a:rPr lang="en-US" b="1">
                <a:latin typeface="Arial"/>
                <a:cs typeface="Arial"/>
              </a:rPr>
              <a:t>Hyperparameter Tuning</a:t>
            </a:r>
          </a:p>
          <a:p>
            <a:endParaRPr lang="en-US">
              <a:latin typeface="Arial"/>
              <a:cs typeface="Arial"/>
            </a:endParaRPr>
          </a:p>
          <a:p>
            <a:pPr marL="685800" lvl="1" indent="-228600">
              <a:buFont typeface="Courier New"/>
              <a:buChar char="o"/>
            </a:pPr>
            <a:r>
              <a:rPr lang="en-US">
                <a:latin typeface="Arial"/>
                <a:cs typeface="Arial"/>
              </a:rPr>
              <a:t>Learning Rate: 0.001, 0.0001, 0.0005</a:t>
            </a:r>
          </a:p>
          <a:p>
            <a:pPr marL="685800" lvl="1" indent="-228600">
              <a:buFont typeface="Courier New"/>
              <a:buChar char="o"/>
            </a:pPr>
            <a:r>
              <a:rPr lang="en-US">
                <a:latin typeface="Arial"/>
                <a:cs typeface="Arial"/>
              </a:rPr>
              <a:t>Batch Size: 16, 32</a:t>
            </a:r>
          </a:p>
          <a:p>
            <a:pPr marL="685800" lvl="1" indent="-228600">
              <a:buFont typeface="Courier New"/>
              <a:buChar char="o"/>
            </a:pPr>
            <a:r>
              <a:rPr lang="en-US">
                <a:latin typeface="Arial"/>
                <a:cs typeface="Arial"/>
              </a:rPr>
              <a:t>Epochs: 50, 75, 100</a:t>
            </a:r>
          </a:p>
          <a:p>
            <a:pPr marL="685800" lvl="1" indent="-228600">
              <a:buFont typeface="Courier New"/>
              <a:buChar char="o"/>
            </a:pPr>
            <a:r>
              <a:rPr lang="en-US">
                <a:latin typeface="Arial"/>
                <a:cs typeface="Arial"/>
              </a:rPr>
              <a:t>Optimizers: Adam, SGD, </a:t>
            </a:r>
            <a:r>
              <a:rPr lang="en-US" err="1">
                <a:latin typeface="Arial"/>
                <a:cs typeface="Arial"/>
              </a:rPr>
              <a:t>RMSProp</a:t>
            </a:r>
            <a:r>
              <a:rPr lang="en-US">
                <a:latin typeface="Arial"/>
                <a:cs typeface="Arial"/>
              </a:rPr>
              <a:t>, AdamW</a:t>
            </a:r>
          </a:p>
          <a:p>
            <a:pPr marL="685800" lvl="1" indent="-228600">
              <a:buFont typeface="Courier New"/>
              <a:buChar char="o"/>
            </a:pPr>
            <a:r>
              <a:rPr lang="en-US">
                <a:latin typeface="Arial"/>
                <a:cs typeface="Arial"/>
              </a:rPr>
              <a:t>Dropout Rates: 0.2, 0.3,0.4,0.5</a:t>
            </a:r>
          </a:p>
          <a:p>
            <a:endParaRPr lang="en-US" b="1">
              <a:latin typeface="Arial"/>
              <a:cs typeface="Arial"/>
            </a:endParaRPr>
          </a:p>
          <a:p>
            <a:r>
              <a:rPr lang="en-US" b="1">
                <a:latin typeface="Arial"/>
                <a:cs typeface="Arial"/>
              </a:rPr>
              <a:t>Monitoring</a:t>
            </a:r>
          </a:p>
          <a:p>
            <a:pPr lvl="1"/>
            <a:endParaRPr lang="en-US">
              <a:latin typeface="Arial"/>
              <a:cs typeface="Arial"/>
            </a:endParaRPr>
          </a:p>
          <a:p>
            <a:pPr marL="685800" lvl="1" indent="-228600">
              <a:buFont typeface="Courier New"/>
              <a:buChar char="o"/>
            </a:pPr>
            <a:r>
              <a:rPr lang="en-US">
                <a:latin typeface="Arial"/>
                <a:cs typeface="Arial"/>
              </a:rPr>
              <a:t>Training &amp; validation accuracy and loss curves plotted for all experiments</a:t>
            </a:r>
          </a:p>
          <a:p>
            <a:pPr marL="685800" lvl="1" indent="-228600">
              <a:buFont typeface="Courier New"/>
              <a:buChar char="o"/>
            </a:pPr>
            <a:r>
              <a:rPr lang="en-US">
                <a:latin typeface="Arial"/>
                <a:cs typeface="Arial"/>
              </a:rPr>
              <a:t>Used to track progress and detect overfitting</a:t>
            </a:r>
          </a:p>
        </p:txBody>
      </p:sp>
    </p:spTree>
    <p:extLst>
      <p:ext uri="{BB962C8B-B14F-4D97-AF65-F5344CB8AC3E}">
        <p14:creationId xmlns:p14="http://schemas.microsoft.com/office/powerpoint/2010/main" val="3932716118"/>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BF2C14-FEE6-89F9-00C7-B7E1FD25DD9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F98A627-7BA0-39E2-BCA0-40D9C9797C38}"/>
              </a:ext>
            </a:extLst>
          </p:cNvPr>
          <p:cNvSpPr txBox="1"/>
          <p:nvPr/>
        </p:nvSpPr>
        <p:spPr>
          <a:xfrm>
            <a:off x="5474730" y="188640"/>
            <a:ext cx="5464198" cy="461665"/>
          </a:xfrm>
          <a:prstGeom prst="rect">
            <a:avLst/>
          </a:prstGeom>
          <a:noFill/>
        </p:spPr>
        <p:txBody>
          <a:bodyPr wrap="square" lIns="91440" tIns="45720" rIns="91440" bIns="45720" rtlCol="0" anchor="t">
            <a:spAutoFit/>
          </a:bodyPr>
          <a:lstStyle/>
          <a:p>
            <a:pPr algn="just"/>
            <a:r>
              <a:rPr lang="en-IN" sz="2400" b="1">
                <a:solidFill>
                  <a:srgbClr val="D47D26"/>
                </a:solidFill>
                <a:latin typeface="Times New Roman"/>
                <a:cs typeface="Times New Roman"/>
              </a:rPr>
              <a:t>IMPLEMENTATION &amp;WORK DONE</a:t>
            </a:r>
            <a:endParaRPr lang="en-IN">
              <a:latin typeface="Times New Roman"/>
              <a:cs typeface="Times New Roman"/>
            </a:endParaRPr>
          </a:p>
        </p:txBody>
      </p:sp>
      <p:sp>
        <p:nvSpPr>
          <p:cNvPr id="2" name="TextBox 1">
            <a:extLst>
              <a:ext uri="{FF2B5EF4-FFF2-40B4-BE49-F238E27FC236}">
                <a16:creationId xmlns:a16="http://schemas.microsoft.com/office/drawing/2014/main" id="{A7D38E5A-73DB-B6DD-8897-FBBA2AB5EF56}"/>
              </a:ext>
            </a:extLst>
          </p:cNvPr>
          <p:cNvSpPr txBox="1"/>
          <p:nvPr/>
        </p:nvSpPr>
        <p:spPr>
          <a:xfrm>
            <a:off x="80974" y="874603"/>
            <a:ext cx="10452726" cy="535531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Arial"/>
                <a:cs typeface="Arial"/>
              </a:rPr>
              <a:t>Model 1-InceptionV3 </a:t>
            </a:r>
          </a:p>
          <a:p>
            <a:endParaRPr lang="en-US" b="1">
              <a:latin typeface="Arial"/>
              <a:cs typeface="Arial"/>
            </a:endParaRPr>
          </a:p>
          <a:p>
            <a:pPr marL="342900" indent="-342900">
              <a:buAutoNum type="arabicPeriod"/>
            </a:pPr>
            <a:r>
              <a:rPr lang="en-US" b="1">
                <a:latin typeface="Arial"/>
                <a:cs typeface="Arial"/>
              </a:rPr>
              <a:t>Dataset &amp; Preprocessing</a:t>
            </a:r>
          </a:p>
          <a:p>
            <a:pPr marL="800100" lvl="1" indent="-342900">
              <a:buFont typeface="Arial"/>
              <a:buChar char="•"/>
            </a:pPr>
            <a:r>
              <a:rPr lang="en-US">
                <a:latin typeface="Arial"/>
                <a:cs typeface="Arial"/>
              </a:rPr>
              <a:t>LC25000: </a:t>
            </a:r>
            <a:r>
              <a:rPr lang="en-US" err="1">
                <a:latin typeface="Arial"/>
                <a:cs typeface="Arial"/>
              </a:rPr>
              <a:t>lung_aca</a:t>
            </a:r>
            <a:r>
              <a:rPr lang="en-US">
                <a:latin typeface="Arial"/>
                <a:cs typeface="Arial"/>
              </a:rPr>
              <a:t> &amp; </a:t>
            </a:r>
            <a:r>
              <a:rPr lang="en-US" err="1">
                <a:latin typeface="Arial"/>
                <a:cs typeface="Arial"/>
              </a:rPr>
              <a:t>lung_scc</a:t>
            </a:r>
            <a:endParaRPr lang="en-US">
              <a:latin typeface="Arial"/>
              <a:cs typeface="Arial"/>
            </a:endParaRPr>
          </a:p>
          <a:p>
            <a:pPr marL="800100" lvl="1" indent="-342900">
              <a:buFont typeface="Arial"/>
              <a:buChar char="•"/>
            </a:pPr>
            <a:r>
              <a:rPr lang="en-US">
                <a:latin typeface="Arial"/>
                <a:cs typeface="Arial"/>
              </a:rPr>
              <a:t>Manual cleaning, resized 299×299, normalized</a:t>
            </a:r>
          </a:p>
          <a:p>
            <a:pPr marL="342900" indent="-342900">
              <a:buAutoNum type="arabicPeriod"/>
            </a:pPr>
            <a:endParaRPr lang="en-US">
              <a:latin typeface="Arial"/>
              <a:cs typeface="Arial"/>
            </a:endParaRPr>
          </a:p>
          <a:p>
            <a:pPr marL="342900" indent="-342900">
              <a:buAutoNum type="arabicPeriod"/>
            </a:pPr>
            <a:r>
              <a:rPr lang="en-US" b="1">
                <a:latin typeface="Arial"/>
                <a:cs typeface="Arial"/>
              </a:rPr>
              <a:t>Model Architecture</a:t>
            </a:r>
          </a:p>
          <a:p>
            <a:pPr marL="800100" lvl="1" indent="-342900">
              <a:buFont typeface="Arial"/>
              <a:buChar char="•"/>
            </a:pPr>
            <a:r>
              <a:rPr lang="en-US">
                <a:latin typeface="Arial"/>
                <a:cs typeface="Arial"/>
              </a:rPr>
              <a:t>Pretrained InceptionV3 (ImageNet)</a:t>
            </a:r>
          </a:p>
          <a:p>
            <a:pPr marL="800100" lvl="1" indent="-342900">
              <a:buFont typeface="Arial"/>
              <a:buChar char="•"/>
            </a:pPr>
            <a:r>
              <a:rPr lang="en-US">
                <a:latin typeface="Arial"/>
                <a:cs typeface="Arial"/>
              </a:rPr>
              <a:t>Global Avg Pooling → Dense(512, </a:t>
            </a:r>
            <a:r>
              <a:rPr lang="en-US" err="1">
                <a:latin typeface="Arial"/>
                <a:cs typeface="Arial"/>
              </a:rPr>
              <a:t>ReLU</a:t>
            </a:r>
            <a:r>
              <a:rPr lang="en-US">
                <a:latin typeface="Arial"/>
                <a:cs typeface="Arial"/>
              </a:rPr>
              <a:t>) + Dropout(0.5) → Sigmoid output</a:t>
            </a:r>
          </a:p>
          <a:p>
            <a:pPr marL="342900" indent="-342900">
              <a:buAutoNum type="arabicPeriod"/>
            </a:pPr>
            <a:endParaRPr lang="en-US">
              <a:latin typeface="Arial"/>
              <a:cs typeface="Arial"/>
            </a:endParaRPr>
          </a:p>
          <a:p>
            <a:pPr marL="342900" indent="-342900">
              <a:buAutoNum type="arabicPeriod"/>
            </a:pPr>
            <a:r>
              <a:rPr lang="en-US" b="1">
                <a:latin typeface="Arial"/>
                <a:cs typeface="Arial"/>
              </a:rPr>
              <a:t>Training</a:t>
            </a:r>
          </a:p>
          <a:p>
            <a:pPr marL="800100" lvl="1" indent="-342900">
              <a:buFont typeface="Arial"/>
              <a:buChar char="•"/>
            </a:pPr>
            <a:r>
              <a:rPr lang="en-US">
                <a:latin typeface="Arial"/>
                <a:cs typeface="Arial"/>
              </a:rPr>
              <a:t>Optimizers: Adam &amp; RMSprop (LR=1e-4)</a:t>
            </a:r>
          </a:p>
          <a:p>
            <a:pPr marL="800100" lvl="1" indent="-342900">
              <a:buFont typeface="Arial"/>
              <a:buChar char="•"/>
            </a:pPr>
            <a:r>
              <a:rPr lang="en-US">
                <a:latin typeface="Arial"/>
                <a:cs typeface="Arial"/>
              </a:rPr>
              <a:t>Loss: Binary cross-entropy; Metric: Accuracy</a:t>
            </a:r>
          </a:p>
          <a:p>
            <a:pPr marL="800100" lvl="1" indent="-342900">
              <a:buFont typeface="Arial"/>
              <a:buChar char="•"/>
            </a:pPr>
            <a:r>
              <a:rPr lang="en-US">
                <a:latin typeface="Arial"/>
                <a:cs typeface="Arial"/>
              </a:rPr>
              <a:t>5-fold cross-validation</a:t>
            </a:r>
          </a:p>
          <a:p>
            <a:pPr marL="800100" lvl="1" indent="-342900">
              <a:buFont typeface="Arial"/>
              <a:buChar char="•"/>
            </a:pPr>
            <a:r>
              <a:rPr lang="en-US">
                <a:latin typeface="Arial"/>
                <a:cs typeface="Arial"/>
              </a:rPr>
              <a:t>Callbacks: </a:t>
            </a:r>
            <a:r>
              <a:rPr lang="en-US" err="1">
                <a:latin typeface="Arial"/>
                <a:cs typeface="Arial"/>
              </a:rPr>
              <a:t>EarlyStopping</a:t>
            </a:r>
            <a:r>
              <a:rPr lang="en-US">
                <a:latin typeface="Arial"/>
                <a:cs typeface="Arial"/>
              </a:rPr>
              <a:t> &amp; </a:t>
            </a:r>
            <a:r>
              <a:rPr lang="en-US" err="1">
                <a:latin typeface="Arial"/>
                <a:cs typeface="Arial"/>
              </a:rPr>
              <a:t>ReduceLROnPlateau</a:t>
            </a:r>
            <a:endParaRPr lang="en-US">
              <a:latin typeface="Arial"/>
              <a:cs typeface="Arial"/>
            </a:endParaRPr>
          </a:p>
          <a:p>
            <a:pPr marL="342900" indent="-342900">
              <a:buAutoNum type="arabicPeriod"/>
            </a:pPr>
            <a:endParaRPr lang="en-US">
              <a:latin typeface="Arial"/>
              <a:cs typeface="Arial"/>
            </a:endParaRPr>
          </a:p>
          <a:p>
            <a:pPr marL="342900" indent="-342900">
              <a:buAutoNum type="arabicPeriod"/>
            </a:pPr>
            <a:r>
              <a:rPr lang="en-US" b="1">
                <a:latin typeface="Arial"/>
                <a:cs typeface="Arial"/>
              </a:rPr>
              <a:t>Evaluation</a:t>
            </a:r>
          </a:p>
          <a:p>
            <a:pPr marL="800100" lvl="1" indent="-342900">
              <a:buFont typeface="Arial"/>
              <a:buChar char="•"/>
            </a:pPr>
            <a:r>
              <a:rPr lang="en-US">
                <a:latin typeface="Arial"/>
                <a:cs typeface="Arial"/>
              </a:rPr>
              <a:t>Confusion matrices, ROC curves, AUC</a:t>
            </a:r>
          </a:p>
          <a:p>
            <a:pPr marL="800100" lvl="1" indent="-342900">
              <a:buFont typeface="Arial"/>
              <a:buChar char="•"/>
            </a:pPr>
            <a:r>
              <a:rPr lang="en-US">
                <a:latin typeface="Arial"/>
                <a:cs typeface="Arial"/>
              </a:rPr>
              <a:t>Training/validation accuracy &amp; loss tracked</a:t>
            </a:r>
          </a:p>
        </p:txBody>
      </p:sp>
    </p:spTree>
    <p:extLst>
      <p:ext uri="{BB962C8B-B14F-4D97-AF65-F5344CB8AC3E}">
        <p14:creationId xmlns:p14="http://schemas.microsoft.com/office/powerpoint/2010/main" val="1852079181"/>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7CCA2-E6C1-9EB6-4F3F-AF77BCBA80E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8DBECCC-36C9-8A29-E8E3-D665C893BF61}"/>
              </a:ext>
            </a:extLst>
          </p:cNvPr>
          <p:cNvSpPr txBox="1"/>
          <p:nvPr/>
        </p:nvSpPr>
        <p:spPr>
          <a:xfrm>
            <a:off x="9025543" y="128884"/>
            <a:ext cx="1672566" cy="830997"/>
          </a:xfrm>
          <a:prstGeom prst="rect">
            <a:avLst/>
          </a:prstGeom>
          <a:noFill/>
        </p:spPr>
        <p:txBody>
          <a:bodyPr wrap="square" lIns="91440" tIns="45720" rIns="91440" bIns="45720" rtlCol="0" anchor="t">
            <a:spAutoFit/>
          </a:bodyPr>
          <a:lstStyle/>
          <a:p>
            <a:pPr algn="just"/>
            <a:r>
              <a:rPr lang="en-IN" sz="2400" b="1">
                <a:solidFill>
                  <a:srgbClr val="D47D26"/>
                </a:solidFill>
                <a:latin typeface="Times New Roman"/>
                <a:cs typeface="Times New Roman"/>
              </a:rPr>
              <a:t>RESULTS</a:t>
            </a:r>
            <a:endParaRPr lang="en-IN" sz="2400">
              <a:solidFill>
                <a:srgbClr val="000000"/>
              </a:solidFill>
              <a:latin typeface="Times New Roman"/>
              <a:cs typeface="Times New Roman"/>
            </a:endParaRPr>
          </a:p>
          <a:p>
            <a:pPr algn="ctr"/>
            <a:endParaRPr lang="en-IN" sz="2400" b="1">
              <a:solidFill>
                <a:srgbClr val="D47D26"/>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1FBAE1BF-1901-B870-6506-904CA911DFFA}"/>
              </a:ext>
            </a:extLst>
          </p:cNvPr>
          <p:cNvSpPr txBox="1"/>
          <p:nvPr/>
        </p:nvSpPr>
        <p:spPr>
          <a:xfrm>
            <a:off x="173518" y="1402142"/>
            <a:ext cx="10452725"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Arial"/>
                <a:cs typeface="Arial"/>
              </a:rPr>
              <a:t>InceptionV3 Performance (Adam Optimizer)</a:t>
            </a:r>
          </a:p>
          <a:p>
            <a:r>
              <a:rPr lang="en-US" b="1">
                <a:latin typeface="Arial"/>
                <a:cs typeface="Arial"/>
              </a:rPr>
              <a:t>Dataset &amp; Setup</a:t>
            </a:r>
          </a:p>
          <a:p>
            <a:pPr marL="685800" lvl="1" indent="-228600">
              <a:buFont typeface="Courier New"/>
              <a:buChar char="o"/>
            </a:pPr>
            <a:r>
              <a:rPr lang="en-US">
                <a:latin typeface="Arial"/>
                <a:cs typeface="Arial"/>
              </a:rPr>
              <a:t>LC25000: 9,810 images (</a:t>
            </a:r>
            <a:r>
              <a:rPr lang="en-US" err="1">
                <a:latin typeface="Arial"/>
                <a:cs typeface="Arial"/>
              </a:rPr>
              <a:t>lung_aca</a:t>
            </a:r>
            <a:r>
              <a:rPr lang="en-US">
                <a:latin typeface="Arial"/>
                <a:cs typeface="Arial"/>
              </a:rPr>
              <a:t> &amp; </a:t>
            </a:r>
            <a:r>
              <a:rPr lang="en-US" err="1">
                <a:latin typeface="Arial"/>
                <a:cs typeface="Arial"/>
              </a:rPr>
              <a:t>lung_scc</a:t>
            </a:r>
            <a:r>
              <a:rPr lang="en-US">
                <a:latin typeface="Arial"/>
                <a:cs typeface="Arial"/>
              </a:rPr>
              <a:t>)</a:t>
            </a:r>
          </a:p>
          <a:p>
            <a:pPr marL="685800" lvl="1" indent="-228600">
              <a:buFont typeface="Courier New"/>
              <a:buChar char="o"/>
            </a:pPr>
            <a:r>
              <a:rPr lang="en-US">
                <a:latin typeface="Arial"/>
                <a:cs typeface="Arial"/>
              </a:rPr>
              <a:t>Image size: 299×299, batch size: 32</a:t>
            </a:r>
          </a:p>
          <a:p>
            <a:pPr marL="685800" lvl="1" indent="-228600">
              <a:buFont typeface="Courier New"/>
              <a:buChar char="o"/>
            </a:pPr>
            <a:r>
              <a:rPr lang="en-US">
                <a:latin typeface="Arial"/>
                <a:cs typeface="Arial"/>
              </a:rPr>
              <a:t>Dropout: 0.5, Optimizer: Adam, LR=1e-4</a:t>
            </a:r>
          </a:p>
          <a:p>
            <a:r>
              <a:rPr lang="en-US" b="1">
                <a:latin typeface="Arial"/>
                <a:cs typeface="Arial"/>
              </a:rPr>
              <a:t>Overall Performance</a:t>
            </a:r>
          </a:p>
          <a:p>
            <a:pPr marL="685800" lvl="1" indent="-228600">
              <a:buFont typeface="Courier New"/>
              <a:buChar char="o"/>
            </a:pPr>
            <a:r>
              <a:rPr lang="en-US">
                <a:latin typeface="Arial"/>
                <a:cs typeface="Arial"/>
              </a:rPr>
              <a:t>Mean Validation Accuracy: 99.72% ±0.17%</a:t>
            </a:r>
          </a:p>
          <a:p>
            <a:pPr marL="685800" lvl="1" indent="-228600">
              <a:buFont typeface="Courier New"/>
              <a:buChar char="o"/>
            </a:pPr>
            <a:r>
              <a:rPr lang="en-US">
                <a:latin typeface="Arial"/>
                <a:cs typeface="Arial"/>
              </a:rPr>
              <a:t>Best Accuracy: 99.85% (Fold 5)</a:t>
            </a:r>
          </a:p>
          <a:p>
            <a:pPr marL="685800" lvl="1" indent="-228600">
              <a:buFont typeface="Courier New"/>
              <a:buChar char="o"/>
            </a:pPr>
            <a:r>
              <a:rPr lang="en-US">
                <a:latin typeface="Arial"/>
                <a:cs typeface="Arial"/>
              </a:rPr>
              <a:t>Lowest Accuracy: 99.39% (Fold 2)</a:t>
            </a:r>
          </a:p>
          <a:p>
            <a:pPr marL="685800" lvl="1" indent="-228600">
              <a:buFont typeface="Courier New"/>
              <a:buChar char="o"/>
            </a:pPr>
            <a:r>
              <a:rPr lang="en-US">
                <a:latin typeface="Arial"/>
                <a:cs typeface="Arial"/>
              </a:rPr>
              <a:t>AUC: &gt;0.999 for all folds</a:t>
            </a:r>
          </a:p>
          <a:p>
            <a:pPr marL="685800" lvl="1" indent="-228600">
              <a:buFont typeface="Courier New"/>
              <a:buChar char="o"/>
            </a:pPr>
            <a:r>
              <a:rPr lang="en-US">
                <a:latin typeface="Arial"/>
                <a:cs typeface="Arial"/>
              </a:rPr>
              <a:t>Very few misclassifications (1–4 images/fold)</a:t>
            </a:r>
          </a:p>
          <a:p>
            <a:endParaRPr lang="en-US">
              <a:latin typeface="Arial"/>
              <a:cs typeface="Arial"/>
            </a:endParaRPr>
          </a:p>
        </p:txBody>
      </p:sp>
      <p:graphicFrame>
        <p:nvGraphicFramePr>
          <p:cNvPr id="5" name="Table 4">
            <a:extLst>
              <a:ext uri="{FF2B5EF4-FFF2-40B4-BE49-F238E27FC236}">
                <a16:creationId xmlns:a16="http://schemas.microsoft.com/office/drawing/2014/main" id="{541AECBB-6E10-2E86-0AC2-DCBE071D8B8D}"/>
              </a:ext>
            </a:extLst>
          </p:cNvPr>
          <p:cNvGraphicFramePr>
            <a:graphicFrameLocks noGrp="1"/>
          </p:cNvGraphicFramePr>
          <p:nvPr/>
        </p:nvGraphicFramePr>
        <p:xfrm>
          <a:off x="2509044" y="4738972"/>
          <a:ext cx="5781675" cy="1620012"/>
        </p:xfrm>
        <a:graphic>
          <a:graphicData uri="http://schemas.openxmlformats.org/drawingml/2006/table">
            <a:tbl>
              <a:tblPr bandRow="1">
                <a:tableStyleId>{5C22544A-7EE6-4342-B048-85BDC9FD1C3A}</a:tableStyleId>
              </a:tblPr>
              <a:tblGrid>
                <a:gridCol w="2495550">
                  <a:extLst>
                    <a:ext uri="{9D8B030D-6E8A-4147-A177-3AD203B41FA5}">
                      <a16:colId xmlns:a16="http://schemas.microsoft.com/office/drawing/2014/main" val="625092674"/>
                    </a:ext>
                  </a:extLst>
                </a:gridCol>
                <a:gridCol w="3286125">
                  <a:extLst>
                    <a:ext uri="{9D8B030D-6E8A-4147-A177-3AD203B41FA5}">
                      <a16:colId xmlns:a16="http://schemas.microsoft.com/office/drawing/2014/main" val="3586097264"/>
                    </a:ext>
                  </a:extLst>
                </a:gridCol>
              </a:tblGrid>
              <a:tr h="190500">
                <a:tc>
                  <a:txBody>
                    <a:bodyPr/>
                    <a:lstStyle/>
                    <a:p>
                      <a:pPr algn="just" rtl="0" fontAlgn="base">
                        <a:lnSpc>
                          <a:spcPts val="1457"/>
                        </a:lnSpc>
                        <a:buNone/>
                      </a:pPr>
                      <a:r>
                        <a:rPr lang="en-IN" sz="1200" b="1" i="0">
                          <a:effectLst/>
                          <a:latin typeface="Times New Roman"/>
                        </a:rPr>
                        <a:t>Metric</a:t>
                      </a:r>
                      <a:r>
                        <a:rPr lang="en-IN" sz="1200" b="0" i="0">
                          <a:effectLst/>
                          <a:latin typeface="Times New Roman"/>
                        </a:rPr>
                        <a:t>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rtl="0" fontAlgn="base">
                        <a:lnSpc>
                          <a:spcPts val="1457"/>
                        </a:lnSpc>
                        <a:buNone/>
                      </a:pPr>
                      <a:r>
                        <a:rPr lang="en-IN" sz="1200" b="1" i="0">
                          <a:effectLst/>
                          <a:latin typeface="Times New Roman"/>
                        </a:rPr>
                        <a:t>Value</a:t>
                      </a:r>
                      <a:r>
                        <a:rPr lang="en-IN" sz="1200" b="0" i="0">
                          <a:effectLst/>
                          <a:latin typeface="Times New Roman"/>
                        </a:rPr>
                        <a:t>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38614510"/>
                  </a:ext>
                </a:extLst>
              </a:tr>
              <a:tr h="190500">
                <a:tc>
                  <a:txBody>
                    <a:bodyPr/>
                    <a:lstStyle/>
                    <a:p>
                      <a:pPr algn="just" rtl="0" fontAlgn="base">
                        <a:lnSpc>
                          <a:spcPts val="1457"/>
                        </a:lnSpc>
                        <a:buNone/>
                      </a:pPr>
                      <a:r>
                        <a:rPr lang="en-IN" sz="1200" b="0" i="0">
                          <a:effectLst/>
                          <a:latin typeface="Times New Roman"/>
                        </a:rPr>
                        <a:t>Mean Validation Accuracy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rtl="0" fontAlgn="base">
                        <a:lnSpc>
                          <a:spcPts val="1457"/>
                        </a:lnSpc>
                        <a:buNone/>
                      </a:pPr>
                      <a:r>
                        <a:rPr lang="en-IN" sz="1200" b="0" i="0">
                          <a:effectLst/>
                          <a:latin typeface="Times New Roman"/>
                        </a:rPr>
                        <a:t>99.72%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02656866"/>
                  </a:ext>
                </a:extLst>
              </a:tr>
              <a:tr h="190500">
                <a:tc>
                  <a:txBody>
                    <a:bodyPr/>
                    <a:lstStyle/>
                    <a:p>
                      <a:pPr algn="just" rtl="0" fontAlgn="base">
                        <a:lnSpc>
                          <a:spcPts val="1457"/>
                        </a:lnSpc>
                        <a:buNone/>
                      </a:pPr>
                      <a:r>
                        <a:rPr lang="en-IN" sz="1200" b="0" i="0">
                          <a:effectLst/>
                          <a:latin typeface="Times New Roman"/>
                        </a:rPr>
                        <a:t>Standard Deviation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rtl="0" fontAlgn="base">
                        <a:lnSpc>
                          <a:spcPts val="1457"/>
                        </a:lnSpc>
                        <a:buNone/>
                      </a:pPr>
                      <a:r>
                        <a:rPr lang="en-IN" sz="1200" b="0" i="0">
                          <a:effectLst/>
                          <a:latin typeface="Times New Roman"/>
                        </a:rPr>
                        <a:t>±0.17%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11787464"/>
                  </a:ext>
                </a:extLst>
              </a:tr>
              <a:tr h="190500">
                <a:tc>
                  <a:txBody>
                    <a:bodyPr/>
                    <a:lstStyle/>
                    <a:p>
                      <a:pPr algn="just" rtl="0" fontAlgn="base">
                        <a:lnSpc>
                          <a:spcPts val="1457"/>
                        </a:lnSpc>
                        <a:buNone/>
                      </a:pPr>
                      <a:r>
                        <a:rPr lang="en-IN" sz="1200" b="0" i="0">
                          <a:effectLst/>
                          <a:latin typeface="Times New Roman"/>
                        </a:rPr>
                        <a:t>Best Accuracy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rtl="0" fontAlgn="base">
                        <a:lnSpc>
                          <a:spcPts val="1457"/>
                        </a:lnSpc>
                        <a:buNone/>
                      </a:pPr>
                      <a:r>
                        <a:rPr lang="en-IN" sz="1200" b="0" i="0">
                          <a:effectLst/>
                          <a:latin typeface="Times New Roman"/>
                        </a:rPr>
                        <a:t>99.85% (Fold 5)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97282686"/>
                  </a:ext>
                </a:extLst>
              </a:tr>
              <a:tr h="190500">
                <a:tc>
                  <a:txBody>
                    <a:bodyPr/>
                    <a:lstStyle/>
                    <a:p>
                      <a:pPr algn="just" rtl="0" fontAlgn="base">
                        <a:lnSpc>
                          <a:spcPts val="1457"/>
                        </a:lnSpc>
                        <a:buNone/>
                      </a:pPr>
                      <a:r>
                        <a:rPr lang="en-IN" sz="1200" b="0" i="0">
                          <a:effectLst/>
                          <a:latin typeface="Times New Roman"/>
                        </a:rPr>
                        <a:t>Lowest Accuracy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rtl="0" fontAlgn="base">
                        <a:lnSpc>
                          <a:spcPts val="1457"/>
                        </a:lnSpc>
                        <a:buNone/>
                      </a:pPr>
                      <a:r>
                        <a:rPr lang="en-IN" sz="1200" b="0" i="0">
                          <a:effectLst/>
                          <a:latin typeface="Times New Roman"/>
                        </a:rPr>
                        <a:t>99.39% (Fold 2)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23310772"/>
                  </a:ext>
                </a:extLst>
              </a:tr>
              <a:tr h="190500">
                <a:tc>
                  <a:txBody>
                    <a:bodyPr/>
                    <a:lstStyle/>
                    <a:p>
                      <a:pPr algn="just" rtl="0" fontAlgn="base">
                        <a:lnSpc>
                          <a:spcPts val="1457"/>
                        </a:lnSpc>
                        <a:buNone/>
                      </a:pPr>
                      <a:r>
                        <a:rPr lang="en-IN" sz="1200" b="0" i="0">
                          <a:effectLst/>
                          <a:latin typeface="Times New Roman"/>
                        </a:rPr>
                        <a:t>Total Images Used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rtl="0" fontAlgn="base">
                        <a:lnSpc>
                          <a:spcPts val="1457"/>
                        </a:lnSpc>
                        <a:buNone/>
                      </a:pPr>
                      <a:r>
                        <a:rPr lang="en-IN" sz="1200" b="0" i="0">
                          <a:effectLst/>
                          <a:latin typeface="Times New Roman"/>
                        </a:rPr>
                        <a:t>9,810 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50366382"/>
                  </a:ext>
                </a:extLst>
              </a:tr>
            </a:tbl>
          </a:graphicData>
        </a:graphic>
      </p:graphicFrame>
      <p:sp>
        <p:nvSpPr>
          <p:cNvPr id="6" name="TextBox 5">
            <a:extLst>
              <a:ext uri="{FF2B5EF4-FFF2-40B4-BE49-F238E27FC236}">
                <a16:creationId xmlns:a16="http://schemas.microsoft.com/office/drawing/2014/main" id="{A9B1E5C6-AE40-6D04-7B25-8699FDD4053E}"/>
              </a:ext>
            </a:extLst>
          </p:cNvPr>
          <p:cNvSpPr txBox="1"/>
          <p:nvPr/>
        </p:nvSpPr>
        <p:spPr>
          <a:xfrm>
            <a:off x="2776153" y="4436534"/>
            <a:ext cx="5234649"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IN" sz="1200" b="1">
                <a:latin typeface="Arial"/>
                <a:cs typeface="Times New Roman"/>
              </a:rPr>
              <a:t>Table 1: </a:t>
            </a:r>
            <a:r>
              <a:rPr lang="en-IN" sz="1200">
                <a:latin typeface="Arial"/>
                <a:cs typeface="Times New Roman"/>
              </a:rPr>
              <a:t>Performance Summary (Adam Optimizer)</a:t>
            </a:r>
            <a:endParaRPr lang="en-US" sz="1200">
              <a:latin typeface="Arial"/>
              <a:cs typeface="Times New Roman"/>
            </a:endParaRPr>
          </a:p>
        </p:txBody>
      </p:sp>
      <p:sp>
        <p:nvSpPr>
          <p:cNvPr id="8" name="TextBox 7">
            <a:extLst>
              <a:ext uri="{FF2B5EF4-FFF2-40B4-BE49-F238E27FC236}">
                <a16:creationId xmlns:a16="http://schemas.microsoft.com/office/drawing/2014/main" id="{75BBF99F-0712-3D9D-455B-12B9D17B23F6}"/>
              </a:ext>
            </a:extLst>
          </p:cNvPr>
          <p:cNvSpPr txBox="1"/>
          <p:nvPr/>
        </p:nvSpPr>
        <p:spPr>
          <a:xfrm>
            <a:off x="172810" y="857312"/>
            <a:ext cx="404449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cs typeface="Arial"/>
              </a:rPr>
              <a:t>Model 1-InceptionV3 </a:t>
            </a:r>
            <a:endParaRPr lang="en-US"/>
          </a:p>
        </p:txBody>
      </p:sp>
    </p:spTree>
    <p:extLst>
      <p:ext uri="{BB962C8B-B14F-4D97-AF65-F5344CB8AC3E}">
        <p14:creationId xmlns:p14="http://schemas.microsoft.com/office/powerpoint/2010/main" val="2110476965"/>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3DA6B1-80FC-548D-6528-6CEF7F54E0A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EFCD779-88EC-4B69-4932-002C8D42A224}"/>
              </a:ext>
            </a:extLst>
          </p:cNvPr>
          <p:cNvSpPr txBox="1"/>
          <p:nvPr/>
        </p:nvSpPr>
        <p:spPr>
          <a:xfrm>
            <a:off x="8753026" y="128884"/>
            <a:ext cx="1945083" cy="1200329"/>
          </a:xfrm>
          <a:prstGeom prst="rect">
            <a:avLst/>
          </a:prstGeom>
          <a:noFill/>
        </p:spPr>
        <p:txBody>
          <a:bodyPr wrap="square" lIns="91440" tIns="45720" rIns="91440" bIns="45720" rtlCol="0" anchor="t">
            <a:spAutoFit/>
          </a:bodyPr>
          <a:lstStyle/>
          <a:p>
            <a:pPr algn="just"/>
            <a:r>
              <a:rPr lang="en-IN" sz="2400" b="1">
                <a:solidFill>
                  <a:srgbClr val="D47D26"/>
                </a:solidFill>
                <a:latin typeface="Times New Roman"/>
                <a:cs typeface="Times New Roman"/>
              </a:rPr>
              <a:t>RESULTS</a:t>
            </a:r>
            <a:endParaRPr lang="en-IN" sz="2400">
              <a:solidFill>
                <a:srgbClr val="000000"/>
              </a:solidFill>
              <a:latin typeface="Times New Roman"/>
              <a:cs typeface="Times New Roman"/>
            </a:endParaRPr>
          </a:p>
          <a:p>
            <a:pPr algn="ctr"/>
            <a:endParaRPr lang="en-IN" sz="2400">
              <a:solidFill>
                <a:srgbClr val="000000"/>
              </a:solidFill>
              <a:latin typeface="Times New Roman"/>
              <a:cs typeface="Times New Roman"/>
            </a:endParaRPr>
          </a:p>
          <a:p>
            <a:pPr algn="just"/>
            <a:endParaRPr lang="en-IN" sz="2400" b="1">
              <a:solidFill>
                <a:srgbClr val="D47D26"/>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A05CA466-69A9-B43D-07A7-739045E98F68}"/>
              </a:ext>
            </a:extLst>
          </p:cNvPr>
          <p:cNvSpPr txBox="1"/>
          <p:nvPr/>
        </p:nvSpPr>
        <p:spPr>
          <a:xfrm>
            <a:off x="182772" y="837583"/>
            <a:ext cx="10202860" cy="535531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b="1">
              <a:latin typeface="Arial"/>
              <a:cs typeface="Arial"/>
            </a:endParaRPr>
          </a:p>
          <a:p>
            <a:endParaRPr lang="en-US" b="1">
              <a:latin typeface="Arial"/>
              <a:cs typeface="Arial"/>
            </a:endParaRPr>
          </a:p>
          <a:p>
            <a:endParaRPr lang="en-US" b="1">
              <a:latin typeface="Arial"/>
              <a:cs typeface="Arial"/>
            </a:endParaRPr>
          </a:p>
          <a:p>
            <a:endParaRPr lang="en-US" b="1">
              <a:latin typeface="Arial"/>
              <a:cs typeface="Arial"/>
            </a:endParaRPr>
          </a:p>
          <a:p>
            <a:endParaRPr lang="en-US" b="1">
              <a:latin typeface="Arial"/>
              <a:cs typeface="Arial"/>
            </a:endParaRPr>
          </a:p>
          <a:p>
            <a:endParaRPr lang="en-US" b="1">
              <a:latin typeface="Arial"/>
              <a:cs typeface="Arial"/>
            </a:endParaRPr>
          </a:p>
          <a:p>
            <a:endParaRPr lang="en-US" b="1">
              <a:latin typeface="Arial"/>
              <a:cs typeface="Arial"/>
            </a:endParaRPr>
          </a:p>
          <a:p>
            <a:endParaRPr lang="en-US" b="1">
              <a:latin typeface="Arial"/>
              <a:cs typeface="Arial"/>
            </a:endParaRPr>
          </a:p>
          <a:p>
            <a:endParaRPr lang="en-US" b="1">
              <a:latin typeface="Arial"/>
              <a:cs typeface="Arial"/>
            </a:endParaRPr>
          </a:p>
          <a:p>
            <a:r>
              <a:rPr lang="en-US" b="1">
                <a:latin typeface="Arial"/>
                <a:cs typeface="Arial"/>
              </a:rPr>
              <a:t>Training Behavior</a:t>
            </a:r>
            <a:r>
              <a:rPr lang="en-US">
                <a:latin typeface="Arial"/>
                <a:cs typeface="Arial"/>
              </a:rPr>
              <a:t>​</a:t>
            </a:r>
            <a:endParaRPr lang="en-US">
              <a:cs typeface="Arial"/>
            </a:endParaRPr>
          </a:p>
          <a:p>
            <a:pPr marL="685800" lvl="1" indent="-228600">
              <a:buFont typeface="Courier New"/>
              <a:buChar char="o"/>
            </a:pPr>
            <a:r>
              <a:rPr lang="en-US">
                <a:latin typeface="Arial"/>
                <a:cs typeface="Arial"/>
              </a:rPr>
              <a:t>Fast initial learning: Epoch 1 → Training ~87%, Validation ~96%​</a:t>
            </a:r>
          </a:p>
          <a:p>
            <a:pPr marL="685800" lvl="1" indent="-228600">
              <a:buFont typeface="Courier New"/>
              <a:buChar char="o"/>
            </a:pPr>
            <a:r>
              <a:rPr lang="en-US">
                <a:latin typeface="Arial"/>
                <a:cs typeface="Arial"/>
              </a:rPr>
              <a:t>Steady improvement: Epochs 2–20 → Validation &gt;99%​</a:t>
            </a:r>
          </a:p>
          <a:p>
            <a:pPr marL="685800" lvl="1" indent="-228600">
              <a:buFont typeface="Courier New"/>
              <a:buChar char="o"/>
            </a:pPr>
            <a:r>
              <a:rPr lang="en-US">
                <a:latin typeface="Arial"/>
                <a:cs typeface="Arial"/>
              </a:rPr>
              <a:t>Fine-tuning: Epochs 20–40 with </a:t>
            </a:r>
            <a:r>
              <a:rPr lang="en-US" err="1">
                <a:latin typeface="Arial"/>
                <a:cs typeface="Arial"/>
              </a:rPr>
              <a:t>ReduceLROnPlateau</a:t>
            </a:r>
            <a:r>
              <a:rPr lang="en-US">
                <a:latin typeface="Arial"/>
                <a:cs typeface="Arial"/>
              </a:rPr>
              <a:t>​</a:t>
            </a:r>
          </a:p>
          <a:p>
            <a:pPr marL="685800" lvl="1" indent="-228600">
              <a:buFont typeface="Courier New"/>
              <a:buChar char="o"/>
            </a:pPr>
            <a:r>
              <a:rPr lang="en-US">
                <a:latin typeface="Arial"/>
                <a:cs typeface="Arial"/>
              </a:rPr>
              <a:t>Early stopping triggered: Epochs 29–50​</a:t>
            </a:r>
          </a:p>
          <a:p>
            <a:r>
              <a:rPr lang="en-US" b="1">
                <a:latin typeface="Arial"/>
                <a:cs typeface="Arial"/>
              </a:rPr>
              <a:t>Key Observations</a:t>
            </a:r>
            <a:r>
              <a:rPr lang="en-US">
                <a:latin typeface="Arial"/>
                <a:cs typeface="Arial"/>
              </a:rPr>
              <a:t>​</a:t>
            </a:r>
          </a:p>
          <a:p>
            <a:pPr marL="685800" lvl="1" indent="-228600">
              <a:buFont typeface="Courier New"/>
              <a:buChar char="o"/>
            </a:pPr>
            <a:r>
              <a:rPr lang="en-US">
                <a:latin typeface="Arial"/>
                <a:cs typeface="Arial"/>
              </a:rPr>
              <a:t>Consistent &amp; Stable: Low std deviation (0.17%)​</a:t>
            </a:r>
          </a:p>
          <a:p>
            <a:pPr marL="685800" lvl="1" indent="-228600">
              <a:buFont typeface="Courier New"/>
              <a:buChar char="o"/>
            </a:pPr>
            <a:r>
              <a:rPr lang="en-US">
                <a:latin typeface="Arial"/>
                <a:cs typeface="Arial"/>
              </a:rPr>
              <a:t>No Overfitting: Validation accuracy ~ Training accuracy​</a:t>
            </a:r>
          </a:p>
          <a:p>
            <a:pPr marL="685800" lvl="1" indent="-228600">
              <a:buFont typeface="Courier New"/>
              <a:buChar char="o"/>
            </a:pPr>
            <a:r>
              <a:rPr lang="en-US">
                <a:latin typeface="Arial"/>
                <a:cs typeface="Arial"/>
              </a:rPr>
              <a:t>Fast Convergence: High accuracy within 20–40 epochs​</a:t>
            </a:r>
          </a:p>
          <a:p>
            <a:pPr marL="685800" lvl="1" indent="-228600">
              <a:buFont typeface="Courier New"/>
              <a:buChar char="o"/>
            </a:pPr>
            <a:r>
              <a:rPr lang="en-US">
                <a:latin typeface="Arial"/>
                <a:cs typeface="Arial"/>
              </a:rPr>
              <a:t>Efficient: Training ~35–40 min per fold, fast inference​</a:t>
            </a:r>
          </a:p>
        </p:txBody>
      </p:sp>
      <p:graphicFrame>
        <p:nvGraphicFramePr>
          <p:cNvPr id="6" name="Table 5">
            <a:extLst>
              <a:ext uri="{FF2B5EF4-FFF2-40B4-BE49-F238E27FC236}">
                <a16:creationId xmlns:a16="http://schemas.microsoft.com/office/drawing/2014/main" id="{E51B7627-2838-B9C2-18CB-BD4EAD88F77C}"/>
              </a:ext>
            </a:extLst>
          </p:cNvPr>
          <p:cNvGraphicFramePr>
            <a:graphicFrameLocks noGrp="1"/>
          </p:cNvGraphicFramePr>
          <p:nvPr/>
        </p:nvGraphicFramePr>
        <p:xfrm>
          <a:off x="2393500" y="1321156"/>
          <a:ext cx="5772150" cy="1810512"/>
        </p:xfrm>
        <a:graphic>
          <a:graphicData uri="http://schemas.openxmlformats.org/drawingml/2006/table">
            <a:tbl>
              <a:tblPr bandRow="1">
                <a:tableStyleId>{5C22544A-7EE6-4342-B048-85BDC9FD1C3A}</a:tableStyleId>
              </a:tblPr>
              <a:tblGrid>
                <a:gridCol w="581025">
                  <a:extLst>
                    <a:ext uri="{9D8B030D-6E8A-4147-A177-3AD203B41FA5}">
                      <a16:colId xmlns:a16="http://schemas.microsoft.com/office/drawing/2014/main" val="3501232640"/>
                    </a:ext>
                  </a:extLst>
                </a:gridCol>
                <a:gridCol w="1019175">
                  <a:extLst>
                    <a:ext uri="{9D8B030D-6E8A-4147-A177-3AD203B41FA5}">
                      <a16:colId xmlns:a16="http://schemas.microsoft.com/office/drawing/2014/main" val="71060431"/>
                    </a:ext>
                  </a:extLst>
                </a:gridCol>
                <a:gridCol w="723900">
                  <a:extLst>
                    <a:ext uri="{9D8B030D-6E8A-4147-A177-3AD203B41FA5}">
                      <a16:colId xmlns:a16="http://schemas.microsoft.com/office/drawing/2014/main" val="2874574746"/>
                    </a:ext>
                  </a:extLst>
                </a:gridCol>
                <a:gridCol w="1619250">
                  <a:extLst>
                    <a:ext uri="{9D8B030D-6E8A-4147-A177-3AD203B41FA5}">
                      <a16:colId xmlns:a16="http://schemas.microsoft.com/office/drawing/2014/main" val="2441456125"/>
                    </a:ext>
                  </a:extLst>
                </a:gridCol>
                <a:gridCol w="1828800">
                  <a:extLst>
                    <a:ext uri="{9D8B030D-6E8A-4147-A177-3AD203B41FA5}">
                      <a16:colId xmlns:a16="http://schemas.microsoft.com/office/drawing/2014/main" val="2164095746"/>
                    </a:ext>
                  </a:extLst>
                </a:gridCol>
              </a:tblGrid>
              <a:tr h="190500">
                <a:tc>
                  <a:txBody>
                    <a:bodyPr/>
                    <a:lstStyle/>
                    <a:p>
                      <a:pPr algn="just" rtl="0" fontAlgn="base">
                        <a:lnSpc>
                          <a:spcPts val="1457"/>
                        </a:lnSpc>
                        <a:buNone/>
                      </a:pPr>
                      <a:r>
                        <a:rPr lang="en-IN" sz="1200" b="1" i="0">
                          <a:effectLst/>
                          <a:latin typeface="Times New Roman"/>
                        </a:rPr>
                        <a:t>Fold</a:t>
                      </a:r>
                      <a:r>
                        <a:rPr lang="en-IN" sz="1200" b="0" i="0">
                          <a:effectLst/>
                          <a:latin typeface="Times New Roman"/>
                        </a:rPr>
                        <a:t>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rtl="0" fontAlgn="base">
                        <a:lnSpc>
                          <a:spcPts val="1457"/>
                        </a:lnSpc>
                        <a:buNone/>
                      </a:pPr>
                      <a:r>
                        <a:rPr lang="en-IN" sz="1200" b="1" i="0">
                          <a:effectLst/>
                          <a:latin typeface="Times New Roman"/>
                        </a:rPr>
                        <a:t>Validation Accuracy</a:t>
                      </a:r>
                      <a:r>
                        <a:rPr lang="en-IN" sz="1200" b="0" i="0">
                          <a:effectLst/>
                          <a:latin typeface="Times New Roman"/>
                        </a:rPr>
                        <a:t>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rtl="0" fontAlgn="base">
                        <a:lnSpc>
                          <a:spcPts val="1457"/>
                        </a:lnSpc>
                        <a:buNone/>
                      </a:pPr>
                      <a:r>
                        <a:rPr lang="en-IN" sz="1200" b="1" i="0">
                          <a:effectLst/>
                          <a:latin typeface="Times New Roman"/>
                        </a:rPr>
                        <a:t>Best Epoch</a:t>
                      </a:r>
                      <a:r>
                        <a:rPr lang="en-IN" sz="1200" b="0" i="0">
                          <a:effectLst/>
                          <a:latin typeface="Times New Roman"/>
                        </a:rPr>
                        <a:t>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rtl="0" fontAlgn="base">
                        <a:lnSpc>
                          <a:spcPts val="1457"/>
                        </a:lnSpc>
                        <a:buNone/>
                      </a:pPr>
                      <a:r>
                        <a:rPr lang="en-IN" sz="1200" b="1" i="0">
                          <a:effectLst/>
                          <a:latin typeface="Times New Roman"/>
                        </a:rPr>
                        <a:t>Total Epochs Trained</a:t>
                      </a:r>
                      <a:r>
                        <a:rPr lang="en-IN" sz="1200" b="0" i="0">
                          <a:effectLst/>
                          <a:latin typeface="Times New Roman"/>
                        </a:rPr>
                        <a:t>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rtl="0" fontAlgn="base">
                        <a:lnSpc>
                          <a:spcPts val="1457"/>
                        </a:lnSpc>
                        <a:buNone/>
                      </a:pPr>
                      <a:r>
                        <a:rPr lang="en-IN" sz="1200" b="1" i="0">
                          <a:effectLst/>
                          <a:latin typeface="Times New Roman"/>
                        </a:rPr>
                        <a:t>Final Learning Rate</a:t>
                      </a:r>
                      <a:r>
                        <a:rPr lang="en-IN" sz="1200" b="0" i="0">
                          <a:effectLst/>
                          <a:latin typeface="Times New Roman"/>
                        </a:rPr>
                        <a:t>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56238203"/>
                  </a:ext>
                </a:extLst>
              </a:tr>
              <a:tr h="190500">
                <a:tc>
                  <a:txBody>
                    <a:bodyPr/>
                    <a:lstStyle/>
                    <a:p>
                      <a:pPr algn="just" rtl="0" fontAlgn="base">
                        <a:lnSpc>
                          <a:spcPts val="1457"/>
                        </a:lnSpc>
                        <a:buNone/>
                      </a:pPr>
                      <a:r>
                        <a:rPr lang="en-IN" sz="1200" b="0" i="0">
                          <a:effectLst/>
                          <a:latin typeface="Times New Roman"/>
                        </a:rPr>
                        <a:t>1 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rtl="0" fontAlgn="base">
                        <a:lnSpc>
                          <a:spcPts val="1457"/>
                        </a:lnSpc>
                        <a:buNone/>
                      </a:pPr>
                      <a:r>
                        <a:rPr lang="en-IN" sz="1200" b="0" i="0">
                          <a:effectLst/>
                          <a:latin typeface="Times New Roman" panose="02020603050405020304" pitchFamily="18" charset="0"/>
                        </a:rPr>
                        <a:t>99.80% </a:t>
                      </a:r>
                      <a:endParaRPr lang="en-IN" b="0" i="0">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rtl="0" fontAlgn="base">
                        <a:lnSpc>
                          <a:spcPts val="1457"/>
                        </a:lnSpc>
                        <a:buNone/>
                      </a:pPr>
                      <a:r>
                        <a:rPr lang="en-IN" sz="1200" b="0" i="0">
                          <a:effectLst/>
                          <a:latin typeface="Times New Roman"/>
                        </a:rPr>
                        <a:t>40 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rtl="0" fontAlgn="base">
                        <a:lnSpc>
                          <a:spcPts val="1457"/>
                        </a:lnSpc>
                        <a:buNone/>
                      </a:pPr>
                      <a:r>
                        <a:rPr lang="en-IN" sz="1200" b="0" i="0">
                          <a:effectLst/>
                          <a:latin typeface="Times New Roman"/>
                        </a:rPr>
                        <a:t>50 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rtl="0" fontAlgn="base">
                        <a:lnSpc>
                          <a:spcPts val="1457"/>
                        </a:lnSpc>
                        <a:buNone/>
                      </a:pPr>
                      <a:r>
                        <a:rPr lang="en-IN" sz="1200" b="0" i="0">
                          <a:effectLst/>
                          <a:latin typeface="Times New Roman" panose="02020603050405020304" pitchFamily="18" charset="0"/>
                        </a:rPr>
                        <a:t>2.50×10⁻⁵ </a:t>
                      </a:r>
                      <a:endParaRPr lang="en-IN" b="0" i="0">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82284320"/>
                  </a:ext>
                </a:extLst>
              </a:tr>
              <a:tr h="190500">
                <a:tc>
                  <a:txBody>
                    <a:bodyPr/>
                    <a:lstStyle/>
                    <a:p>
                      <a:pPr algn="just" rtl="0" fontAlgn="base">
                        <a:lnSpc>
                          <a:spcPts val="1457"/>
                        </a:lnSpc>
                        <a:buNone/>
                      </a:pPr>
                      <a:r>
                        <a:rPr lang="en-IN" sz="1200" b="0" i="0">
                          <a:effectLst/>
                          <a:latin typeface="Times New Roman"/>
                        </a:rPr>
                        <a:t>2 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rtl="0" fontAlgn="base">
                        <a:lnSpc>
                          <a:spcPts val="1457"/>
                        </a:lnSpc>
                        <a:buNone/>
                      </a:pPr>
                      <a:r>
                        <a:rPr lang="en-IN" sz="1200" b="0" i="0">
                          <a:effectLst/>
                          <a:latin typeface="Times New Roman" panose="02020603050405020304" pitchFamily="18" charset="0"/>
                        </a:rPr>
                        <a:t>99.39% </a:t>
                      </a:r>
                      <a:endParaRPr lang="en-IN" b="0" i="0">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rtl="0" fontAlgn="base">
                        <a:lnSpc>
                          <a:spcPts val="1457"/>
                        </a:lnSpc>
                        <a:buNone/>
                      </a:pPr>
                      <a:r>
                        <a:rPr lang="en-IN" sz="1200" b="0" i="0">
                          <a:effectLst/>
                          <a:latin typeface="Times New Roman"/>
                        </a:rPr>
                        <a:t>19 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rtl="0" fontAlgn="base">
                        <a:lnSpc>
                          <a:spcPts val="1457"/>
                        </a:lnSpc>
                        <a:buNone/>
                      </a:pPr>
                      <a:r>
                        <a:rPr lang="en-IN" sz="1200" b="0" i="0">
                          <a:effectLst/>
                          <a:latin typeface="Times New Roman"/>
                        </a:rPr>
                        <a:t>29 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rtl="0" fontAlgn="base">
                        <a:lnSpc>
                          <a:spcPts val="1457"/>
                        </a:lnSpc>
                        <a:buNone/>
                      </a:pPr>
                      <a:r>
                        <a:rPr lang="en-IN" sz="1200" b="0" i="0">
                          <a:effectLst/>
                          <a:latin typeface="Times New Roman" panose="02020603050405020304" pitchFamily="18" charset="0"/>
                        </a:rPr>
                        <a:t>2.50×10⁻⁵ </a:t>
                      </a:r>
                      <a:endParaRPr lang="en-IN" b="0" i="0">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10895615"/>
                  </a:ext>
                </a:extLst>
              </a:tr>
              <a:tr h="190500">
                <a:tc>
                  <a:txBody>
                    <a:bodyPr/>
                    <a:lstStyle/>
                    <a:p>
                      <a:pPr algn="just" rtl="0" fontAlgn="base">
                        <a:lnSpc>
                          <a:spcPts val="1457"/>
                        </a:lnSpc>
                        <a:buNone/>
                      </a:pPr>
                      <a:r>
                        <a:rPr lang="en-IN" sz="1200" b="0" i="0">
                          <a:effectLst/>
                          <a:latin typeface="Times New Roman"/>
                        </a:rPr>
                        <a:t>3 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rtl="0" fontAlgn="base">
                        <a:lnSpc>
                          <a:spcPts val="1457"/>
                        </a:lnSpc>
                        <a:buNone/>
                      </a:pPr>
                      <a:r>
                        <a:rPr lang="en-IN" sz="1200" b="0" i="0">
                          <a:effectLst/>
                          <a:latin typeface="Times New Roman" panose="02020603050405020304" pitchFamily="18" charset="0"/>
                        </a:rPr>
                        <a:t>99.80% </a:t>
                      </a:r>
                      <a:endParaRPr lang="en-IN" b="0" i="0">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rtl="0" fontAlgn="base">
                        <a:lnSpc>
                          <a:spcPts val="1457"/>
                        </a:lnSpc>
                        <a:buNone/>
                      </a:pPr>
                      <a:r>
                        <a:rPr lang="en-IN" sz="1200" b="0" i="0">
                          <a:effectLst/>
                          <a:latin typeface="Times New Roman"/>
                        </a:rPr>
                        <a:t>39 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rtl="0" fontAlgn="base">
                        <a:lnSpc>
                          <a:spcPts val="1457"/>
                        </a:lnSpc>
                        <a:buNone/>
                      </a:pPr>
                      <a:r>
                        <a:rPr lang="en-IN" sz="1200" b="0" i="0">
                          <a:effectLst/>
                          <a:latin typeface="Times New Roman"/>
                        </a:rPr>
                        <a:t>49 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rtl="0" fontAlgn="base">
                        <a:lnSpc>
                          <a:spcPts val="1457"/>
                        </a:lnSpc>
                        <a:buNone/>
                      </a:pPr>
                      <a:r>
                        <a:rPr lang="en-IN" sz="1200" b="0" i="0">
                          <a:effectLst/>
                          <a:latin typeface="Times New Roman" panose="02020603050405020304" pitchFamily="18" charset="0"/>
                        </a:rPr>
                        <a:t>5.00×10⁻⁵ </a:t>
                      </a:r>
                      <a:endParaRPr lang="en-IN" b="0" i="0">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39153740"/>
                  </a:ext>
                </a:extLst>
              </a:tr>
              <a:tr h="190500">
                <a:tc>
                  <a:txBody>
                    <a:bodyPr/>
                    <a:lstStyle/>
                    <a:p>
                      <a:pPr algn="just" rtl="0" fontAlgn="base">
                        <a:lnSpc>
                          <a:spcPts val="1457"/>
                        </a:lnSpc>
                        <a:buNone/>
                      </a:pPr>
                      <a:r>
                        <a:rPr lang="en-IN" sz="1200" b="0" i="0">
                          <a:effectLst/>
                          <a:latin typeface="Times New Roman"/>
                        </a:rPr>
                        <a:t>4 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rtl="0" fontAlgn="base">
                        <a:lnSpc>
                          <a:spcPts val="1457"/>
                        </a:lnSpc>
                        <a:buNone/>
                      </a:pPr>
                      <a:r>
                        <a:rPr lang="en-IN" sz="1200" b="0" i="0">
                          <a:effectLst/>
                          <a:latin typeface="Times New Roman" panose="02020603050405020304" pitchFamily="18" charset="0"/>
                        </a:rPr>
                        <a:t>99.80% </a:t>
                      </a:r>
                      <a:endParaRPr lang="en-IN" b="0" i="0">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rtl="0" fontAlgn="base">
                        <a:lnSpc>
                          <a:spcPts val="1457"/>
                        </a:lnSpc>
                        <a:buNone/>
                      </a:pPr>
                      <a:r>
                        <a:rPr lang="en-IN" sz="1200" b="0" i="0">
                          <a:effectLst/>
                          <a:latin typeface="Times New Roman"/>
                        </a:rPr>
                        <a:t>39 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rtl="0" fontAlgn="base">
                        <a:lnSpc>
                          <a:spcPts val="1457"/>
                        </a:lnSpc>
                        <a:buNone/>
                      </a:pPr>
                      <a:r>
                        <a:rPr lang="en-IN" sz="1200" b="0" i="0">
                          <a:effectLst/>
                          <a:latin typeface="Times New Roman"/>
                        </a:rPr>
                        <a:t>49 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rtl="0" fontAlgn="base">
                        <a:lnSpc>
                          <a:spcPts val="1457"/>
                        </a:lnSpc>
                        <a:buNone/>
                      </a:pPr>
                      <a:r>
                        <a:rPr lang="en-IN" sz="1200" b="0" i="0">
                          <a:effectLst/>
                          <a:latin typeface="Times New Roman" panose="02020603050405020304" pitchFamily="18" charset="0"/>
                        </a:rPr>
                        <a:t>5.00×10⁻⁵ </a:t>
                      </a:r>
                      <a:endParaRPr lang="en-IN" b="0" i="0">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10001756"/>
                  </a:ext>
                </a:extLst>
              </a:tr>
              <a:tr h="190500">
                <a:tc>
                  <a:txBody>
                    <a:bodyPr/>
                    <a:lstStyle/>
                    <a:p>
                      <a:pPr algn="just" rtl="0" fontAlgn="base">
                        <a:lnSpc>
                          <a:spcPts val="1457"/>
                        </a:lnSpc>
                        <a:buNone/>
                      </a:pPr>
                      <a:r>
                        <a:rPr lang="en-IN" sz="1200" b="0" i="0">
                          <a:effectLst/>
                          <a:latin typeface="Times New Roman"/>
                        </a:rPr>
                        <a:t>5 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rtl="0" fontAlgn="base">
                        <a:lnSpc>
                          <a:spcPts val="1457"/>
                        </a:lnSpc>
                        <a:buNone/>
                      </a:pPr>
                      <a:r>
                        <a:rPr lang="en-IN" sz="1200" b="0" i="0">
                          <a:effectLst/>
                          <a:latin typeface="Times New Roman" panose="02020603050405020304" pitchFamily="18" charset="0"/>
                        </a:rPr>
                        <a:t>99.85% </a:t>
                      </a:r>
                      <a:endParaRPr lang="en-IN" b="0" i="0">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rtl="0" fontAlgn="base">
                        <a:lnSpc>
                          <a:spcPts val="1457"/>
                        </a:lnSpc>
                        <a:buNone/>
                      </a:pPr>
                      <a:r>
                        <a:rPr lang="en-IN" sz="1200" b="0" i="0">
                          <a:effectLst/>
                          <a:latin typeface="Times New Roman"/>
                        </a:rPr>
                        <a:t>35 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rtl="0" fontAlgn="base">
                        <a:lnSpc>
                          <a:spcPts val="1457"/>
                        </a:lnSpc>
                        <a:buNone/>
                      </a:pPr>
                      <a:r>
                        <a:rPr lang="en-IN" sz="1200" b="0" i="0">
                          <a:effectLst/>
                          <a:latin typeface="Times New Roman"/>
                        </a:rPr>
                        <a:t>45 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rtl="0" fontAlgn="base">
                        <a:lnSpc>
                          <a:spcPts val="1457"/>
                        </a:lnSpc>
                        <a:buNone/>
                      </a:pPr>
                      <a:r>
                        <a:rPr lang="en-IN" sz="1200" b="0" i="0">
                          <a:effectLst/>
                          <a:latin typeface="Times New Roman" panose="02020603050405020304" pitchFamily="18" charset="0"/>
                        </a:rPr>
                        <a:t>2.50×10⁻⁵ </a:t>
                      </a:r>
                      <a:endParaRPr lang="en-IN" b="0" i="0">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02735425"/>
                  </a:ext>
                </a:extLst>
              </a:tr>
            </a:tbl>
          </a:graphicData>
        </a:graphic>
      </p:graphicFrame>
      <p:sp>
        <p:nvSpPr>
          <p:cNvPr id="7" name="TextBox 6">
            <a:extLst>
              <a:ext uri="{FF2B5EF4-FFF2-40B4-BE49-F238E27FC236}">
                <a16:creationId xmlns:a16="http://schemas.microsoft.com/office/drawing/2014/main" id="{E9E0BB97-424D-9491-BE55-3CAC089D2917}"/>
              </a:ext>
            </a:extLst>
          </p:cNvPr>
          <p:cNvSpPr txBox="1"/>
          <p:nvPr/>
        </p:nvSpPr>
        <p:spPr>
          <a:xfrm>
            <a:off x="2632454" y="958173"/>
            <a:ext cx="5012756" cy="2824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IN" sz="1200" b="1">
                <a:latin typeface="Arial"/>
                <a:cs typeface="Times New Roman"/>
              </a:rPr>
              <a:t>Table 2: </a:t>
            </a:r>
            <a:r>
              <a:rPr lang="en-IN" sz="1200">
                <a:latin typeface="Arial"/>
                <a:cs typeface="Times New Roman"/>
              </a:rPr>
              <a:t>Detailed Results per Fold (Adam Optimizer)</a:t>
            </a:r>
            <a:endParaRPr lang="en-US" sz="1200">
              <a:latin typeface="Arial"/>
              <a:cs typeface="Times New Roman"/>
            </a:endParaRPr>
          </a:p>
        </p:txBody>
      </p:sp>
    </p:spTree>
    <p:extLst>
      <p:ext uri="{BB962C8B-B14F-4D97-AF65-F5344CB8AC3E}">
        <p14:creationId xmlns:p14="http://schemas.microsoft.com/office/powerpoint/2010/main" val="2562081080"/>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3D213-843F-F3CD-7C50-8F494BF8882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C47E32C-4E2C-2808-12E7-A2FE67999072}"/>
              </a:ext>
            </a:extLst>
          </p:cNvPr>
          <p:cNvSpPr txBox="1"/>
          <p:nvPr/>
        </p:nvSpPr>
        <p:spPr>
          <a:xfrm>
            <a:off x="8742933" y="128884"/>
            <a:ext cx="1955176" cy="1200329"/>
          </a:xfrm>
          <a:prstGeom prst="rect">
            <a:avLst/>
          </a:prstGeom>
          <a:noFill/>
        </p:spPr>
        <p:txBody>
          <a:bodyPr wrap="square" lIns="91440" tIns="45720" rIns="91440" bIns="45720" rtlCol="0" anchor="t">
            <a:spAutoFit/>
          </a:bodyPr>
          <a:lstStyle/>
          <a:p>
            <a:pPr algn="just"/>
            <a:r>
              <a:rPr lang="en-IN" sz="2400" b="1">
                <a:solidFill>
                  <a:srgbClr val="D47D26"/>
                </a:solidFill>
                <a:latin typeface="Times New Roman"/>
                <a:cs typeface="Times New Roman"/>
              </a:rPr>
              <a:t>RESULTS</a:t>
            </a:r>
            <a:endParaRPr lang="en-IN" sz="2400">
              <a:solidFill>
                <a:srgbClr val="000000"/>
              </a:solidFill>
              <a:latin typeface="Times New Roman"/>
              <a:cs typeface="Times New Roman"/>
            </a:endParaRPr>
          </a:p>
          <a:p>
            <a:pPr algn="ctr"/>
            <a:endParaRPr lang="en-IN" sz="2400">
              <a:solidFill>
                <a:srgbClr val="000000"/>
              </a:solidFill>
              <a:latin typeface="Times New Roman"/>
              <a:cs typeface="Times New Roman"/>
            </a:endParaRPr>
          </a:p>
          <a:p>
            <a:pPr algn="just"/>
            <a:endParaRPr lang="en-IN" sz="2400" b="1">
              <a:solidFill>
                <a:srgbClr val="D47D26"/>
              </a:solidFill>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0ADA32DC-81F6-1BA0-128C-0C7CF00E3FE2}"/>
              </a:ext>
            </a:extLst>
          </p:cNvPr>
          <p:cNvSpPr txBox="1"/>
          <p:nvPr/>
        </p:nvSpPr>
        <p:spPr>
          <a:xfrm>
            <a:off x="1759528" y="4695106"/>
            <a:ext cx="7431666"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IN" sz="1200" b="1">
                <a:latin typeface="Arial"/>
                <a:cs typeface="Times New Roman"/>
              </a:rPr>
              <a:t>Fig 2.  </a:t>
            </a:r>
            <a:r>
              <a:rPr lang="en-IN" sz="1200">
                <a:latin typeface="Arial"/>
                <a:cs typeface="Times New Roman"/>
              </a:rPr>
              <a:t>Validation</a:t>
            </a:r>
            <a:r>
              <a:rPr lang="en-IN" sz="1200" b="1">
                <a:latin typeface="Arial"/>
                <a:cs typeface="Times New Roman"/>
              </a:rPr>
              <a:t> </a:t>
            </a:r>
            <a:r>
              <a:rPr lang="en-IN" sz="1200">
                <a:latin typeface="Arial"/>
                <a:cs typeface="Times New Roman"/>
              </a:rPr>
              <a:t>Accuracy and Loss Curves Of All Folds for InceptionV3 with Adam Optimizer</a:t>
            </a:r>
            <a:endParaRPr lang="en-US" sz="1200">
              <a:latin typeface="Arial"/>
              <a:cs typeface="Times New Roman"/>
            </a:endParaRPr>
          </a:p>
        </p:txBody>
      </p:sp>
      <p:pic>
        <p:nvPicPr>
          <p:cNvPr id="5" name="Picture 4" descr="A graph of a graph&#10;&#10;AI-generated content may be incorrect.">
            <a:extLst>
              <a:ext uri="{FF2B5EF4-FFF2-40B4-BE49-F238E27FC236}">
                <a16:creationId xmlns:a16="http://schemas.microsoft.com/office/drawing/2014/main" id="{6DB348C4-9195-C5D1-A315-AFA493B249AF}"/>
              </a:ext>
            </a:extLst>
          </p:cNvPr>
          <p:cNvPicPr>
            <a:picLocks noChangeAspect="1"/>
          </p:cNvPicPr>
          <p:nvPr/>
        </p:nvPicPr>
        <p:blipFill>
          <a:blip r:embed="rId3"/>
          <a:stretch>
            <a:fillRect/>
          </a:stretch>
        </p:blipFill>
        <p:spPr>
          <a:xfrm>
            <a:off x="391510" y="1317505"/>
            <a:ext cx="5006754" cy="3230952"/>
          </a:xfrm>
          <a:prstGeom prst="rect">
            <a:avLst/>
          </a:prstGeom>
        </p:spPr>
      </p:pic>
      <p:pic>
        <p:nvPicPr>
          <p:cNvPr id="6" name="Picture 5" descr="A graph of loss of a graph&#10;&#10;AI-generated content may be incorrect.">
            <a:extLst>
              <a:ext uri="{FF2B5EF4-FFF2-40B4-BE49-F238E27FC236}">
                <a16:creationId xmlns:a16="http://schemas.microsoft.com/office/drawing/2014/main" id="{EC25D73A-58F7-3DE0-F830-C252EEAD1D29}"/>
              </a:ext>
            </a:extLst>
          </p:cNvPr>
          <p:cNvPicPr>
            <a:picLocks noChangeAspect="1"/>
          </p:cNvPicPr>
          <p:nvPr/>
        </p:nvPicPr>
        <p:blipFill>
          <a:blip r:embed="rId4"/>
          <a:stretch>
            <a:fillRect/>
          </a:stretch>
        </p:blipFill>
        <p:spPr>
          <a:xfrm>
            <a:off x="5568492" y="1317505"/>
            <a:ext cx="5021135" cy="3230952"/>
          </a:xfrm>
          <a:prstGeom prst="rect">
            <a:avLst/>
          </a:prstGeom>
        </p:spPr>
      </p:pic>
    </p:spTree>
    <p:extLst>
      <p:ext uri="{BB962C8B-B14F-4D97-AF65-F5344CB8AC3E}">
        <p14:creationId xmlns:p14="http://schemas.microsoft.com/office/powerpoint/2010/main" val="3803360941"/>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E0E5F5-BF09-907B-E42E-8B7EC085AAD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3B8C35E-664D-0123-DFDF-324BD9706E4B}"/>
              </a:ext>
            </a:extLst>
          </p:cNvPr>
          <p:cNvSpPr txBox="1"/>
          <p:nvPr/>
        </p:nvSpPr>
        <p:spPr>
          <a:xfrm>
            <a:off x="8591534" y="128884"/>
            <a:ext cx="2106575" cy="1200329"/>
          </a:xfrm>
          <a:prstGeom prst="rect">
            <a:avLst/>
          </a:prstGeom>
          <a:noFill/>
        </p:spPr>
        <p:txBody>
          <a:bodyPr wrap="square" lIns="91440" tIns="45720" rIns="91440" bIns="45720" rtlCol="0" anchor="t">
            <a:spAutoFit/>
          </a:bodyPr>
          <a:lstStyle/>
          <a:p>
            <a:pPr algn="just"/>
            <a:r>
              <a:rPr lang="en-IN" sz="2400" b="1">
                <a:solidFill>
                  <a:srgbClr val="D47D26"/>
                </a:solidFill>
                <a:latin typeface="Times New Roman"/>
                <a:cs typeface="Times New Roman"/>
              </a:rPr>
              <a:t>RESULTS</a:t>
            </a:r>
            <a:endParaRPr lang="en-IN" sz="2400">
              <a:solidFill>
                <a:srgbClr val="000000"/>
              </a:solidFill>
              <a:latin typeface="Times New Roman"/>
              <a:cs typeface="Times New Roman"/>
            </a:endParaRPr>
          </a:p>
          <a:p>
            <a:pPr algn="ctr"/>
            <a:endParaRPr lang="en-IN" sz="2400">
              <a:solidFill>
                <a:srgbClr val="000000"/>
              </a:solidFill>
              <a:latin typeface="Times New Roman"/>
              <a:cs typeface="Times New Roman"/>
            </a:endParaRPr>
          </a:p>
          <a:p>
            <a:pPr algn="just"/>
            <a:endParaRPr lang="en-IN" sz="2400" b="1">
              <a:solidFill>
                <a:srgbClr val="D47D26"/>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034C3426-C062-9404-1838-52F0ACEC9145}"/>
              </a:ext>
            </a:extLst>
          </p:cNvPr>
          <p:cNvSpPr txBox="1"/>
          <p:nvPr/>
        </p:nvSpPr>
        <p:spPr>
          <a:xfrm>
            <a:off x="99483" y="819073"/>
            <a:ext cx="10341674"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Arial"/>
                <a:cs typeface="Arial"/>
              </a:rPr>
              <a:t>InceptionV3 Performance (RMSprop Optimizer)</a:t>
            </a:r>
          </a:p>
          <a:p>
            <a:r>
              <a:rPr lang="en-US" b="1">
                <a:latin typeface="Arial"/>
                <a:cs typeface="Arial"/>
              </a:rPr>
              <a:t>Dataset &amp; Setup</a:t>
            </a:r>
          </a:p>
          <a:p>
            <a:pPr marL="685800" lvl="1" indent="-228600">
              <a:buFont typeface="Courier New"/>
              <a:buChar char="o"/>
            </a:pPr>
            <a:r>
              <a:rPr lang="en-US">
                <a:latin typeface="Arial"/>
                <a:cs typeface="Arial"/>
              </a:rPr>
              <a:t>LC25000: 9,810 images (</a:t>
            </a:r>
            <a:r>
              <a:rPr lang="en-US" err="1">
                <a:latin typeface="Arial"/>
                <a:cs typeface="Arial"/>
              </a:rPr>
              <a:t>lung_aca</a:t>
            </a:r>
            <a:r>
              <a:rPr lang="en-US">
                <a:latin typeface="Arial"/>
                <a:cs typeface="Arial"/>
              </a:rPr>
              <a:t> &amp; </a:t>
            </a:r>
            <a:r>
              <a:rPr lang="en-US" err="1">
                <a:latin typeface="Arial"/>
                <a:cs typeface="Arial"/>
              </a:rPr>
              <a:t>lung_scc</a:t>
            </a:r>
            <a:r>
              <a:rPr lang="en-US">
                <a:latin typeface="Arial"/>
                <a:cs typeface="Arial"/>
              </a:rPr>
              <a:t>)</a:t>
            </a:r>
          </a:p>
          <a:p>
            <a:pPr marL="685800" lvl="1" indent="-228600">
              <a:buFont typeface="Courier New"/>
              <a:buChar char="o"/>
            </a:pPr>
            <a:r>
              <a:rPr lang="en-US">
                <a:latin typeface="Arial"/>
                <a:cs typeface="Arial"/>
              </a:rPr>
              <a:t>Image size: 299×299, batch size: 32</a:t>
            </a:r>
          </a:p>
          <a:p>
            <a:pPr marL="685800" lvl="1" indent="-228600">
              <a:buFont typeface="Courier New"/>
              <a:buChar char="o"/>
            </a:pPr>
            <a:r>
              <a:rPr lang="en-US">
                <a:latin typeface="Arial"/>
                <a:cs typeface="Arial"/>
              </a:rPr>
              <a:t>Dropout: 0.5, Optimizer: RMSprop (LR=1e-4, rho=0.9)</a:t>
            </a:r>
          </a:p>
          <a:p>
            <a:r>
              <a:rPr lang="en-US" b="1">
                <a:latin typeface="Arial"/>
                <a:cs typeface="Arial"/>
              </a:rPr>
              <a:t>Overall Performance</a:t>
            </a:r>
          </a:p>
          <a:p>
            <a:pPr marL="685800" lvl="1" indent="-228600">
              <a:buFont typeface="Courier New"/>
              <a:buChar char="o"/>
            </a:pPr>
            <a:r>
              <a:rPr lang="en-US">
                <a:latin typeface="Arial"/>
                <a:cs typeface="Arial"/>
              </a:rPr>
              <a:t>Mean Validation Accuracy: 99.66% ±0.11%</a:t>
            </a:r>
          </a:p>
          <a:p>
            <a:pPr marL="685800" lvl="1" indent="-228600">
              <a:buFont typeface="Courier New"/>
              <a:buChar char="o"/>
            </a:pPr>
            <a:r>
              <a:rPr lang="en-US">
                <a:latin typeface="Arial"/>
                <a:cs typeface="Arial"/>
              </a:rPr>
              <a:t>Best Accuracy: 99.80% (Fold 2)</a:t>
            </a:r>
          </a:p>
          <a:p>
            <a:pPr marL="685800" lvl="1" indent="-228600">
              <a:buFont typeface="Courier New"/>
              <a:buChar char="o"/>
            </a:pPr>
            <a:r>
              <a:rPr lang="en-US">
                <a:latin typeface="Arial"/>
                <a:cs typeface="Arial"/>
              </a:rPr>
              <a:t>Lowest Accuracy: 99.49% (Fold 3)</a:t>
            </a:r>
          </a:p>
          <a:p>
            <a:pPr marL="685800" lvl="1" indent="-228600">
              <a:buFont typeface="Courier New"/>
              <a:buChar char="o"/>
            </a:pPr>
            <a:r>
              <a:rPr lang="en-US">
                <a:latin typeface="Arial"/>
                <a:cs typeface="Arial"/>
              </a:rPr>
              <a:t>AUC: &gt;0.999 for all folds</a:t>
            </a:r>
          </a:p>
          <a:p>
            <a:pPr marL="685800" lvl="1" indent="-228600">
              <a:buFont typeface="Courier New"/>
              <a:buChar char="o"/>
            </a:pPr>
            <a:r>
              <a:rPr lang="en-US">
                <a:latin typeface="Arial"/>
                <a:cs typeface="Arial"/>
              </a:rPr>
              <a:t>Few misclassifications (4–10 images/fold)</a:t>
            </a:r>
          </a:p>
          <a:p>
            <a:endParaRPr lang="en-US" b="1">
              <a:cs typeface="Arial"/>
            </a:endParaRPr>
          </a:p>
        </p:txBody>
      </p:sp>
      <p:graphicFrame>
        <p:nvGraphicFramePr>
          <p:cNvPr id="5" name="Table 4">
            <a:extLst>
              <a:ext uri="{FF2B5EF4-FFF2-40B4-BE49-F238E27FC236}">
                <a16:creationId xmlns:a16="http://schemas.microsoft.com/office/drawing/2014/main" id="{E6957F71-EADF-A2F5-89A3-939CA8D87AB3}"/>
              </a:ext>
            </a:extLst>
          </p:cNvPr>
          <p:cNvGraphicFramePr>
            <a:graphicFrameLocks noGrp="1"/>
          </p:cNvGraphicFramePr>
          <p:nvPr/>
        </p:nvGraphicFramePr>
        <p:xfrm>
          <a:off x="2374721" y="4489086"/>
          <a:ext cx="5791200" cy="1619062"/>
        </p:xfrm>
        <a:graphic>
          <a:graphicData uri="http://schemas.openxmlformats.org/drawingml/2006/table">
            <a:tbl>
              <a:tblPr bandRow="1">
                <a:tableStyleId>{5C22544A-7EE6-4342-B048-85BDC9FD1C3A}</a:tableStyleId>
              </a:tblPr>
              <a:tblGrid>
                <a:gridCol w="2552700">
                  <a:extLst>
                    <a:ext uri="{9D8B030D-6E8A-4147-A177-3AD203B41FA5}">
                      <a16:colId xmlns:a16="http://schemas.microsoft.com/office/drawing/2014/main" val="99197620"/>
                    </a:ext>
                  </a:extLst>
                </a:gridCol>
                <a:gridCol w="3238500">
                  <a:extLst>
                    <a:ext uri="{9D8B030D-6E8A-4147-A177-3AD203B41FA5}">
                      <a16:colId xmlns:a16="http://schemas.microsoft.com/office/drawing/2014/main" val="3546643486"/>
                    </a:ext>
                  </a:extLst>
                </a:gridCol>
              </a:tblGrid>
              <a:tr h="190500">
                <a:tc>
                  <a:txBody>
                    <a:bodyPr/>
                    <a:lstStyle/>
                    <a:p>
                      <a:pPr algn="ctr" rtl="0" fontAlgn="base">
                        <a:lnSpc>
                          <a:spcPts val="1457"/>
                        </a:lnSpc>
                        <a:buNone/>
                      </a:pPr>
                      <a:r>
                        <a:rPr lang="en-IN" sz="1200" b="1" i="0">
                          <a:effectLst/>
                          <a:latin typeface="Times New Roman" panose="02020603050405020304" pitchFamily="18" charset="0"/>
                        </a:rPr>
                        <a:t>Metric</a:t>
                      </a:r>
                      <a:r>
                        <a:rPr lang="en-IN" sz="1200" b="0" i="0">
                          <a:effectLst/>
                          <a:latin typeface="Times New Roman" panose="02020603050405020304" pitchFamily="18" charset="0"/>
                        </a:rPr>
                        <a:t> </a:t>
                      </a:r>
                      <a:endParaRPr lang="en-IN" b="0" i="0">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rtl="0" fontAlgn="base">
                        <a:lnSpc>
                          <a:spcPts val="1457"/>
                        </a:lnSpc>
                        <a:buNone/>
                      </a:pPr>
                      <a:r>
                        <a:rPr lang="en-IN" sz="1200" b="1" i="0">
                          <a:effectLst/>
                          <a:latin typeface="Times New Roman" panose="02020603050405020304" pitchFamily="18" charset="0"/>
                        </a:rPr>
                        <a:t>Value</a:t>
                      </a:r>
                      <a:r>
                        <a:rPr lang="en-IN" sz="1200" b="0" i="0">
                          <a:effectLst/>
                          <a:latin typeface="Times New Roman" panose="02020603050405020304" pitchFamily="18" charset="0"/>
                        </a:rPr>
                        <a:t> </a:t>
                      </a:r>
                      <a:endParaRPr lang="en-IN" b="0" i="0">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38218966"/>
                  </a:ext>
                </a:extLst>
              </a:tr>
              <a:tr h="190500">
                <a:tc>
                  <a:txBody>
                    <a:bodyPr/>
                    <a:lstStyle/>
                    <a:p>
                      <a:pPr algn="l" rtl="0" fontAlgn="base">
                        <a:lnSpc>
                          <a:spcPts val="1457"/>
                        </a:lnSpc>
                        <a:buNone/>
                      </a:pPr>
                      <a:r>
                        <a:rPr lang="en-IN" sz="1200" b="0" i="0">
                          <a:effectLst/>
                          <a:latin typeface="Times New Roman" panose="02020603050405020304" pitchFamily="18" charset="0"/>
                        </a:rPr>
                        <a:t>Mean Validation Accuracy </a:t>
                      </a:r>
                      <a:endParaRPr lang="en-IN" b="0" i="0">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457"/>
                        </a:lnSpc>
                        <a:buNone/>
                      </a:pPr>
                      <a:r>
                        <a:rPr lang="en-IN" sz="1200" b="0" i="0">
                          <a:effectLst/>
                          <a:latin typeface="Times New Roman" panose="02020603050405020304" pitchFamily="18" charset="0"/>
                        </a:rPr>
                        <a:t>99.66% </a:t>
                      </a:r>
                      <a:endParaRPr lang="en-IN" b="0" i="0">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74181221"/>
                  </a:ext>
                </a:extLst>
              </a:tr>
              <a:tr h="190500">
                <a:tc>
                  <a:txBody>
                    <a:bodyPr/>
                    <a:lstStyle/>
                    <a:p>
                      <a:pPr algn="l" rtl="0" fontAlgn="base">
                        <a:lnSpc>
                          <a:spcPts val="1457"/>
                        </a:lnSpc>
                        <a:buNone/>
                      </a:pPr>
                      <a:r>
                        <a:rPr lang="en-IN" sz="1200" b="0" i="0">
                          <a:effectLst/>
                          <a:latin typeface="Times New Roman" panose="02020603050405020304" pitchFamily="18" charset="0"/>
                        </a:rPr>
                        <a:t>Standard Deviation </a:t>
                      </a:r>
                      <a:endParaRPr lang="en-IN" b="0" i="0">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457"/>
                        </a:lnSpc>
                        <a:buNone/>
                      </a:pPr>
                      <a:r>
                        <a:rPr lang="en-IN" sz="1200" b="0" i="0">
                          <a:effectLst/>
                          <a:latin typeface="Times New Roman" panose="02020603050405020304" pitchFamily="18" charset="0"/>
                        </a:rPr>
                        <a:t>±0.11% </a:t>
                      </a:r>
                      <a:endParaRPr lang="en-IN" b="0" i="0">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03118228"/>
                  </a:ext>
                </a:extLst>
              </a:tr>
              <a:tr h="190500">
                <a:tc>
                  <a:txBody>
                    <a:bodyPr/>
                    <a:lstStyle/>
                    <a:p>
                      <a:pPr algn="l" rtl="0" fontAlgn="base">
                        <a:lnSpc>
                          <a:spcPts val="1457"/>
                        </a:lnSpc>
                        <a:buNone/>
                      </a:pPr>
                      <a:r>
                        <a:rPr lang="en-IN" sz="1200" b="0" i="0">
                          <a:effectLst/>
                          <a:latin typeface="Times New Roman" panose="02020603050405020304" pitchFamily="18" charset="0"/>
                        </a:rPr>
                        <a:t>Best Accuracy </a:t>
                      </a:r>
                      <a:endParaRPr lang="en-IN" b="0" i="0">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457"/>
                        </a:lnSpc>
                        <a:buNone/>
                      </a:pPr>
                      <a:r>
                        <a:rPr lang="en-IN" sz="1200" b="0" i="0">
                          <a:effectLst/>
                          <a:latin typeface="Times New Roman" panose="02020603050405020304" pitchFamily="18" charset="0"/>
                        </a:rPr>
                        <a:t>99.80% (Fold 2) </a:t>
                      </a:r>
                      <a:endParaRPr lang="en-IN" b="0" i="0">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49056704"/>
                  </a:ext>
                </a:extLst>
              </a:tr>
              <a:tr h="190500">
                <a:tc>
                  <a:txBody>
                    <a:bodyPr/>
                    <a:lstStyle/>
                    <a:p>
                      <a:pPr algn="l" rtl="0" fontAlgn="base">
                        <a:lnSpc>
                          <a:spcPts val="1457"/>
                        </a:lnSpc>
                        <a:buNone/>
                      </a:pPr>
                      <a:r>
                        <a:rPr lang="en-IN" sz="1200" b="0" i="0">
                          <a:effectLst/>
                          <a:latin typeface="Times New Roman" panose="02020603050405020304" pitchFamily="18" charset="0"/>
                        </a:rPr>
                        <a:t>Lowest Accuracy </a:t>
                      </a:r>
                      <a:endParaRPr lang="en-IN" b="0" i="0">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457"/>
                        </a:lnSpc>
                        <a:buNone/>
                      </a:pPr>
                      <a:r>
                        <a:rPr lang="en-IN" sz="1200" b="0" i="0">
                          <a:effectLst/>
                          <a:latin typeface="Times New Roman" panose="02020603050405020304" pitchFamily="18" charset="0"/>
                        </a:rPr>
                        <a:t>99.49% (Fold 3) </a:t>
                      </a:r>
                      <a:endParaRPr lang="en-IN" b="0" i="0">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88769691"/>
                  </a:ext>
                </a:extLst>
              </a:tr>
              <a:tr h="190500">
                <a:tc>
                  <a:txBody>
                    <a:bodyPr/>
                    <a:lstStyle/>
                    <a:p>
                      <a:pPr algn="l" rtl="0" fontAlgn="base">
                        <a:lnSpc>
                          <a:spcPts val="1457"/>
                        </a:lnSpc>
                        <a:buNone/>
                      </a:pPr>
                      <a:r>
                        <a:rPr lang="en-IN" sz="1200" b="0" i="0">
                          <a:effectLst/>
                          <a:latin typeface="Times New Roman" panose="02020603050405020304" pitchFamily="18" charset="0"/>
                        </a:rPr>
                        <a:t>Total Images Used </a:t>
                      </a:r>
                      <a:endParaRPr lang="en-IN" b="0" i="0">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457"/>
                        </a:lnSpc>
                        <a:buNone/>
                      </a:pPr>
                      <a:r>
                        <a:rPr lang="en-IN" sz="1200" b="0" i="0">
                          <a:effectLst/>
                          <a:latin typeface="Times New Roman"/>
                        </a:rPr>
                        <a:t>9,810 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87757892"/>
                  </a:ext>
                </a:extLst>
              </a:tr>
            </a:tbl>
          </a:graphicData>
        </a:graphic>
      </p:graphicFrame>
      <p:sp>
        <p:nvSpPr>
          <p:cNvPr id="6" name="TextBox 5">
            <a:extLst>
              <a:ext uri="{FF2B5EF4-FFF2-40B4-BE49-F238E27FC236}">
                <a16:creationId xmlns:a16="http://schemas.microsoft.com/office/drawing/2014/main" id="{862A6974-1202-C2D4-7331-E6553EC93B73}"/>
              </a:ext>
            </a:extLst>
          </p:cNvPr>
          <p:cNvSpPr txBox="1"/>
          <p:nvPr/>
        </p:nvSpPr>
        <p:spPr>
          <a:xfrm>
            <a:off x="2450905" y="4044498"/>
            <a:ext cx="5517058"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IN" sz="1200" b="1">
                <a:latin typeface="Arial"/>
                <a:cs typeface="Times New Roman"/>
              </a:rPr>
              <a:t>Table 3: </a:t>
            </a:r>
            <a:r>
              <a:rPr lang="en-IN" sz="1200">
                <a:latin typeface="Arial"/>
                <a:cs typeface="Times New Roman"/>
              </a:rPr>
              <a:t>Performance Summary (RMSprop Optimizer)</a:t>
            </a:r>
            <a:endParaRPr lang="en-US" sz="1200">
              <a:latin typeface="Arial"/>
              <a:cs typeface="Times New Roman"/>
            </a:endParaRPr>
          </a:p>
        </p:txBody>
      </p:sp>
    </p:spTree>
    <p:extLst>
      <p:ext uri="{BB962C8B-B14F-4D97-AF65-F5344CB8AC3E}">
        <p14:creationId xmlns:p14="http://schemas.microsoft.com/office/powerpoint/2010/main" val="2506331858"/>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6B3EBC-E4F5-06A8-BD7C-EBEA3691DC4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760C965-29F5-50CE-22FC-D12F4C82E8E0}"/>
              </a:ext>
            </a:extLst>
          </p:cNvPr>
          <p:cNvSpPr txBox="1"/>
          <p:nvPr/>
        </p:nvSpPr>
        <p:spPr>
          <a:xfrm>
            <a:off x="8288737" y="128884"/>
            <a:ext cx="2409372" cy="1200329"/>
          </a:xfrm>
          <a:prstGeom prst="rect">
            <a:avLst/>
          </a:prstGeom>
          <a:noFill/>
        </p:spPr>
        <p:txBody>
          <a:bodyPr wrap="square" lIns="91440" tIns="45720" rIns="91440" bIns="45720" rtlCol="0" anchor="t">
            <a:spAutoFit/>
          </a:bodyPr>
          <a:lstStyle/>
          <a:p>
            <a:pPr algn="just"/>
            <a:r>
              <a:rPr lang="en-IN" sz="2400" b="1">
                <a:solidFill>
                  <a:srgbClr val="D47D26"/>
                </a:solidFill>
                <a:latin typeface="Times New Roman"/>
                <a:cs typeface="Times New Roman"/>
              </a:rPr>
              <a:t>RESULTS</a:t>
            </a:r>
            <a:endParaRPr lang="en-IN" sz="2400">
              <a:solidFill>
                <a:srgbClr val="000000"/>
              </a:solidFill>
              <a:latin typeface="Times New Roman"/>
              <a:cs typeface="Times New Roman"/>
            </a:endParaRPr>
          </a:p>
          <a:p>
            <a:pPr algn="ctr"/>
            <a:endParaRPr lang="en-IN" sz="2400">
              <a:solidFill>
                <a:srgbClr val="000000"/>
              </a:solidFill>
              <a:latin typeface="Times New Roman"/>
              <a:cs typeface="Times New Roman"/>
            </a:endParaRPr>
          </a:p>
          <a:p>
            <a:pPr algn="just"/>
            <a:endParaRPr lang="en-IN" sz="2400" b="1">
              <a:solidFill>
                <a:srgbClr val="D47D26"/>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A4B54600-A2A0-4527-14A5-E90D47485CCA}"/>
              </a:ext>
            </a:extLst>
          </p:cNvPr>
          <p:cNvSpPr txBox="1"/>
          <p:nvPr/>
        </p:nvSpPr>
        <p:spPr>
          <a:xfrm>
            <a:off x="108737" y="3068053"/>
            <a:ext cx="10360183"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b="1">
              <a:latin typeface="Arial"/>
              <a:cs typeface="Segoe UI"/>
            </a:endParaRPr>
          </a:p>
          <a:p>
            <a:r>
              <a:rPr lang="en-US" b="1">
                <a:latin typeface="Arial"/>
                <a:cs typeface="Segoe UI"/>
              </a:rPr>
              <a:t>Training Behavior</a:t>
            </a:r>
            <a:r>
              <a:rPr lang="en-US">
                <a:latin typeface="Arial"/>
                <a:cs typeface="Segoe UI"/>
              </a:rPr>
              <a:t>​</a:t>
            </a:r>
            <a:endParaRPr lang="en-US">
              <a:latin typeface="Arial"/>
            </a:endParaRPr>
          </a:p>
          <a:p>
            <a:pPr marL="685800" lvl="1" indent="-228600">
              <a:buFont typeface="Courier New"/>
              <a:buChar char="o"/>
            </a:pPr>
            <a:r>
              <a:rPr lang="en-US">
                <a:latin typeface="Arial"/>
                <a:cs typeface="Arial"/>
              </a:rPr>
              <a:t>Fast initial learning: Epoch 1 → Training ~87–88%, Validation ~95–97%​</a:t>
            </a:r>
          </a:p>
          <a:p>
            <a:pPr marL="685800" lvl="1" indent="-228600">
              <a:buFont typeface="Courier New"/>
              <a:buChar char="o"/>
            </a:pPr>
            <a:r>
              <a:rPr lang="en-US">
                <a:latin typeface="Arial"/>
                <a:cs typeface="Arial"/>
              </a:rPr>
              <a:t>Steady improvement: Epochs 2–20 → Validation &gt;99%​</a:t>
            </a:r>
          </a:p>
          <a:p>
            <a:pPr marL="685800" lvl="1" indent="-228600">
              <a:buFont typeface="Courier New"/>
              <a:buChar char="o"/>
            </a:pPr>
            <a:r>
              <a:rPr lang="en-US">
                <a:latin typeface="Arial"/>
                <a:cs typeface="Arial"/>
              </a:rPr>
              <a:t>Fine-tuning: Epochs 20–50 with </a:t>
            </a:r>
            <a:r>
              <a:rPr lang="en-US" err="1">
                <a:latin typeface="Arial"/>
                <a:cs typeface="Arial"/>
              </a:rPr>
              <a:t>ReduceLROnPlateau</a:t>
            </a:r>
            <a:r>
              <a:rPr lang="en-US">
                <a:latin typeface="Arial"/>
                <a:cs typeface="Arial"/>
              </a:rPr>
              <a:t>​</a:t>
            </a:r>
          </a:p>
          <a:p>
            <a:pPr marL="685800" lvl="1" indent="-228600">
              <a:buFont typeface="Courier New"/>
              <a:buChar char="o"/>
            </a:pPr>
            <a:r>
              <a:rPr lang="en-US">
                <a:latin typeface="Arial"/>
                <a:cs typeface="Arial"/>
              </a:rPr>
              <a:t>Early stopping triggered: Epochs 20–56​</a:t>
            </a:r>
          </a:p>
          <a:p>
            <a:pPr marL="685800" lvl="1" indent="-228600">
              <a:buFont typeface="Courier New"/>
              <a:buChar char="o"/>
            </a:pPr>
            <a:r>
              <a:rPr lang="en-US">
                <a:latin typeface="Arial"/>
                <a:cs typeface="Arial"/>
              </a:rPr>
              <a:t>Validation loss decreased consistently; no overfitting​</a:t>
            </a:r>
          </a:p>
          <a:p>
            <a:r>
              <a:rPr lang="en-US" b="1">
                <a:latin typeface="Arial"/>
                <a:cs typeface="Segoe UI"/>
              </a:rPr>
              <a:t>Key Observations</a:t>
            </a:r>
            <a:r>
              <a:rPr lang="en-US">
                <a:latin typeface="Arial"/>
                <a:cs typeface="Segoe UI"/>
              </a:rPr>
              <a:t>​</a:t>
            </a:r>
          </a:p>
          <a:p>
            <a:pPr marL="685800" lvl="1" indent="-228600">
              <a:buFont typeface="Courier New"/>
              <a:buChar char="o"/>
            </a:pPr>
            <a:r>
              <a:rPr lang="en-US">
                <a:latin typeface="Arial"/>
                <a:cs typeface="Arial"/>
              </a:rPr>
              <a:t>Highly consistent: Std dev 0.11% across folds​</a:t>
            </a:r>
          </a:p>
          <a:p>
            <a:pPr marL="685800" lvl="1" indent="-228600">
              <a:buFont typeface="Courier New"/>
              <a:buChar char="o"/>
            </a:pPr>
            <a:r>
              <a:rPr lang="en-US">
                <a:latin typeface="Arial"/>
                <a:cs typeface="Arial"/>
              </a:rPr>
              <a:t>Fast convergence: High accuracy within 10–46 epochs​</a:t>
            </a:r>
          </a:p>
          <a:p>
            <a:pPr marL="685800" lvl="1" indent="-228600">
              <a:buFont typeface="Courier New"/>
              <a:buChar char="o"/>
            </a:pPr>
            <a:r>
              <a:rPr lang="en-US">
                <a:latin typeface="Arial"/>
                <a:cs typeface="Arial"/>
              </a:rPr>
              <a:t>Reliable &amp; efficient: Training ~38–40 min/fold, fast inference</a:t>
            </a:r>
          </a:p>
        </p:txBody>
      </p:sp>
      <p:graphicFrame>
        <p:nvGraphicFramePr>
          <p:cNvPr id="5" name="Table 4">
            <a:extLst>
              <a:ext uri="{FF2B5EF4-FFF2-40B4-BE49-F238E27FC236}">
                <a16:creationId xmlns:a16="http://schemas.microsoft.com/office/drawing/2014/main" id="{2FED1B29-4AF3-0F76-0A60-FAD04E1CE02E}"/>
              </a:ext>
            </a:extLst>
          </p:cNvPr>
          <p:cNvGraphicFramePr>
            <a:graphicFrameLocks noGrp="1"/>
          </p:cNvGraphicFramePr>
          <p:nvPr/>
        </p:nvGraphicFramePr>
        <p:xfrm>
          <a:off x="2235906" y="1441472"/>
          <a:ext cx="5791200" cy="1810322"/>
        </p:xfrm>
        <a:graphic>
          <a:graphicData uri="http://schemas.openxmlformats.org/drawingml/2006/table">
            <a:tbl>
              <a:tblPr bandRow="1">
                <a:tableStyleId>{5C22544A-7EE6-4342-B048-85BDC9FD1C3A}</a:tableStyleId>
              </a:tblPr>
              <a:tblGrid>
                <a:gridCol w="514350">
                  <a:extLst>
                    <a:ext uri="{9D8B030D-6E8A-4147-A177-3AD203B41FA5}">
                      <a16:colId xmlns:a16="http://schemas.microsoft.com/office/drawing/2014/main" val="1084684135"/>
                    </a:ext>
                  </a:extLst>
                </a:gridCol>
                <a:gridCol w="1466850">
                  <a:extLst>
                    <a:ext uri="{9D8B030D-6E8A-4147-A177-3AD203B41FA5}">
                      <a16:colId xmlns:a16="http://schemas.microsoft.com/office/drawing/2014/main" val="3045190104"/>
                    </a:ext>
                  </a:extLst>
                </a:gridCol>
                <a:gridCol w="723900">
                  <a:extLst>
                    <a:ext uri="{9D8B030D-6E8A-4147-A177-3AD203B41FA5}">
                      <a16:colId xmlns:a16="http://schemas.microsoft.com/office/drawing/2014/main" val="1203556910"/>
                    </a:ext>
                  </a:extLst>
                </a:gridCol>
                <a:gridCol w="1409700">
                  <a:extLst>
                    <a:ext uri="{9D8B030D-6E8A-4147-A177-3AD203B41FA5}">
                      <a16:colId xmlns:a16="http://schemas.microsoft.com/office/drawing/2014/main" val="2822434717"/>
                    </a:ext>
                  </a:extLst>
                </a:gridCol>
                <a:gridCol w="1676400">
                  <a:extLst>
                    <a:ext uri="{9D8B030D-6E8A-4147-A177-3AD203B41FA5}">
                      <a16:colId xmlns:a16="http://schemas.microsoft.com/office/drawing/2014/main" val="1659497611"/>
                    </a:ext>
                  </a:extLst>
                </a:gridCol>
              </a:tblGrid>
              <a:tr h="190500">
                <a:tc>
                  <a:txBody>
                    <a:bodyPr/>
                    <a:lstStyle/>
                    <a:p>
                      <a:pPr algn="ctr" rtl="0" fontAlgn="base">
                        <a:lnSpc>
                          <a:spcPts val="1457"/>
                        </a:lnSpc>
                        <a:buNone/>
                      </a:pPr>
                      <a:r>
                        <a:rPr lang="en-IN" sz="1200" b="1" i="0">
                          <a:effectLst/>
                          <a:latin typeface="Times New Roman" panose="02020603050405020304" pitchFamily="18" charset="0"/>
                        </a:rPr>
                        <a:t>Fold</a:t>
                      </a:r>
                      <a:r>
                        <a:rPr lang="en-IN" sz="1200" b="0" i="0">
                          <a:effectLst/>
                          <a:latin typeface="Times New Roman" panose="02020603050405020304" pitchFamily="18" charset="0"/>
                        </a:rPr>
                        <a:t> </a:t>
                      </a:r>
                      <a:endParaRPr lang="en-IN" b="0" i="0">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rtl="0" fontAlgn="base">
                        <a:lnSpc>
                          <a:spcPts val="1457"/>
                        </a:lnSpc>
                        <a:buNone/>
                      </a:pPr>
                      <a:r>
                        <a:rPr lang="en-IN" sz="1200" b="1" i="0">
                          <a:effectLst/>
                          <a:latin typeface="Times New Roman" panose="02020603050405020304" pitchFamily="18" charset="0"/>
                        </a:rPr>
                        <a:t>Validation Accuracy</a:t>
                      </a:r>
                      <a:r>
                        <a:rPr lang="en-IN" sz="1200" b="0" i="0">
                          <a:effectLst/>
                          <a:latin typeface="Times New Roman" panose="02020603050405020304" pitchFamily="18" charset="0"/>
                        </a:rPr>
                        <a:t> </a:t>
                      </a:r>
                      <a:endParaRPr lang="en-IN" b="0" i="0">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rtl="0" fontAlgn="base">
                        <a:lnSpc>
                          <a:spcPts val="1457"/>
                        </a:lnSpc>
                        <a:buNone/>
                      </a:pPr>
                      <a:r>
                        <a:rPr lang="en-IN" sz="1200" b="1" i="0">
                          <a:effectLst/>
                          <a:latin typeface="Times New Roman" panose="02020603050405020304" pitchFamily="18" charset="0"/>
                        </a:rPr>
                        <a:t>Best Epoch</a:t>
                      </a:r>
                      <a:r>
                        <a:rPr lang="en-IN" sz="1200" b="0" i="0">
                          <a:effectLst/>
                          <a:latin typeface="Times New Roman" panose="02020603050405020304" pitchFamily="18" charset="0"/>
                        </a:rPr>
                        <a:t> </a:t>
                      </a:r>
                      <a:endParaRPr lang="en-IN" b="0" i="0">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rtl="0" fontAlgn="base">
                        <a:lnSpc>
                          <a:spcPts val="1457"/>
                        </a:lnSpc>
                        <a:buNone/>
                      </a:pPr>
                      <a:r>
                        <a:rPr lang="en-IN" sz="1200" b="1" i="0">
                          <a:effectLst/>
                          <a:latin typeface="Times New Roman" panose="02020603050405020304" pitchFamily="18" charset="0"/>
                        </a:rPr>
                        <a:t>Total Epochs Trained</a:t>
                      </a:r>
                      <a:r>
                        <a:rPr lang="en-IN" sz="1200" b="0" i="0">
                          <a:effectLst/>
                          <a:latin typeface="Times New Roman" panose="02020603050405020304" pitchFamily="18" charset="0"/>
                        </a:rPr>
                        <a:t> </a:t>
                      </a:r>
                      <a:endParaRPr lang="en-IN" b="0" i="0">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rtl="0" fontAlgn="base">
                        <a:lnSpc>
                          <a:spcPts val="1457"/>
                        </a:lnSpc>
                        <a:buNone/>
                      </a:pPr>
                      <a:r>
                        <a:rPr lang="en-IN" sz="1200" b="1" i="0">
                          <a:effectLst/>
                          <a:latin typeface="Times New Roman" panose="02020603050405020304" pitchFamily="18" charset="0"/>
                        </a:rPr>
                        <a:t>Final Learning Rate</a:t>
                      </a:r>
                      <a:r>
                        <a:rPr lang="en-IN" sz="1200" b="0" i="0">
                          <a:effectLst/>
                          <a:latin typeface="Times New Roman" panose="02020603050405020304" pitchFamily="18" charset="0"/>
                        </a:rPr>
                        <a:t> </a:t>
                      </a:r>
                      <a:endParaRPr lang="en-IN" b="0" i="0">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19846316"/>
                  </a:ext>
                </a:extLst>
              </a:tr>
              <a:tr h="190500">
                <a:tc>
                  <a:txBody>
                    <a:bodyPr/>
                    <a:lstStyle/>
                    <a:p>
                      <a:pPr algn="l" rtl="0" fontAlgn="base">
                        <a:lnSpc>
                          <a:spcPts val="1457"/>
                        </a:lnSpc>
                        <a:buNone/>
                      </a:pPr>
                      <a:r>
                        <a:rPr lang="en-IN" sz="1200" b="0" i="0">
                          <a:effectLst/>
                          <a:latin typeface="Times New Roman"/>
                        </a:rPr>
                        <a:t>1 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457"/>
                        </a:lnSpc>
                        <a:buNone/>
                      </a:pPr>
                      <a:r>
                        <a:rPr lang="en-IN" sz="1200" b="0" i="0">
                          <a:effectLst/>
                          <a:latin typeface="Times New Roman" panose="02020603050405020304" pitchFamily="18" charset="0"/>
                        </a:rPr>
                        <a:t>99.59% </a:t>
                      </a:r>
                      <a:endParaRPr lang="en-IN" b="0" i="0">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457"/>
                        </a:lnSpc>
                        <a:buNone/>
                      </a:pPr>
                      <a:r>
                        <a:rPr lang="en-IN" sz="1200" b="0" i="0">
                          <a:effectLst/>
                          <a:latin typeface="Times New Roman"/>
                        </a:rPr>
                        <a:t>10 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457"/>
                        </a:lnSpc>
                        <a:buNone/>
                      </a:pPr>
                      <a:r>
                        <a:rPr lang="en-IN" sz="1200" b="0" i="0">
                          <a:effectLst/>
                          <a:latin typeface="Times New Roman"/>
                        </a:rPr>
                        <a:t>20 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457"/>
                        </a:lnSpc>
                        <a:buNone/>
                      </a:pPr>
                      <a:r>
                        <a:rPr lang="en-IN" sz="1200" b="0" i="0">
                          <a:effectLst/>
                          <a:latin typeface="Times New Roman" panose="02020603050405020304" pitchFamily="18" charset="0"/>
                        </a:rPr>
                        <a:t>2.50×10⁻⁵ </a:t>
                      </a:r>
                      <a:endParaRPr lang="en-IN" b="0" i="0">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79738540"/>
                  </a:ext>
                </a:extLst>
              </a:tr>
              <a:tr h="190500">
                <a:tc>
                  <a:txBody>
                    <a:bodyPr/>
                    <a:lstStyle/>
                    <a:p>
                      <a:pPr algn="l" rtl="0" fontAlgn="base">
                        <a:lnSpc>
                          <a:spcPts val="1457"/>
                        </a:lnSpc>
                        <a:buNone/>
                      </a:pPr>
                      <a:r>
                        <a:rPr lang="en-IN" sz="1200" b="0" i="0">
                          <a:effectLst/>
                          <a:latin typeface="Times New Roman"/>
                        </a:rPr>
                        <a:t>2 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457"/>
                        </a:lnSpc>
                        <a:buNone/>
                      </a:pPr>
                      <a:r>
                        <a:rPr lang="en-IN" sz="1200" b="0" i="0">
                          <a:effectLst/>
                          <a:latin typeface="Times New Roman" panose="02020603050405020304" pitchFamily="18" charset="0"/>
                        </a:rPr>
                        <a:t>99.80% </a:t>
                      </a:r>
                      <a:endParaRPr lang="en-IN" b="0" i="0">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457"/>
                        </a:lnSpc>
                        <a:buNone/>
                      </a:pPr>
                      <a:r>
                        <a:rPr lang="en-IN" sz="1200" b="0" i="0">
                          <a:effectLst/>
                          <a:latin typeface="Times New Roman"/>
                        </a:rPr>
                        <a:t>42 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457"/>
                        </a:lnSpc>
                        <a:buNone/>
                      </a:pPr>
                      <a:r>
                        <a:rPr lang="en-IN" sz="1200" b="0" i="0">
                          <a:effectLst/>
                          <a:latin typeface="Times New Roman"/>
                        </a:rPr>
                        <a:t>52 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457"/>
                        </a:lnSpc>
                        <a:buNone/>
                      </a:pPr>
                      <a:r>
                        <a:rPr lang="en-IN" sz="1200" b="0" i="0">
                          <a:effectLst/>
                          <a:latin typeface="Times New Roman" panose="02020603050405020304" pitchFamily="18" charset="0"/>
                        </a:rPr>
                        <a:t>3.13×10⁻⁶ </a:t>
                      </a:r>
                      <a:endParaRPr lang="en-IN" b="0" i="0">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2737613"/>
                  </a:ext>
                </a:extLst>
              </a:tr>
              <a:tr h="190500">
                <a:tc>
                  <a:txBody>
                    <a:bodyPr/>
                    <a:lstStyle/>
                    <a:p>
                      <a:pPr algn="l" rtl="0" fontAlgn="base">
                        <a:lnSpc>
                          <a:spcPts val="1457"/>
                        </a:lnSpc>
                        <a:buNone/>
                      </a:pPr>
                      <a:r>
                        <a:rPr lang="en-IN" sz="1200" b="0" i="0">
                          <a:effectLst/>
                          <a:latin typeface="Times New Roman"/>
                        </a:rPr>
                        <a:t>3 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457"/>
                        </a:lnSpc>
                        <a:buNone/>
                      </a:pPr>
                      <a:r>
                        <a:rPr lang="en-IN" sz="1200" b="0" i="0">
                          <a:effectLst/>
                          <a:latin typeface="Times New Roman" panose="02020603050405020304" pitchFamily="18" charset="0"/>
                        </a:rPr>
                        <a:t>99.49% </a:t>
                      </a:r>
                      <a:endParaRPr lang="en-IN" b="0" i="0">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457"/>
                        </a:lnSpc>
                        <a:buNone/>
                      </a:pPr>
                      <a:r>
                        <a:rPr lang="en-IN" sz="1200" b="0" i="0">
                          <a:effectLst/>
                          <a:latin typeface="Times New Roman"/>
                        </a:rPr>
                        <a:t>46 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457"/>
                        </a:lnSpc>
                        <a:buNone/>
                      </a:pPr>
                      <a:r>
                        <a:rPr lang="en-IN" sz="1200" b="0" i="0">
                          <a:effectLst/>
                          <a:latin typeface="Times New Roman"/>
                        </a:rPr>
                        <a:t>56 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457"/>
                        </a:lnSpc>
                        <a:buNone/>
                      </a:pPr>
                      <a:r>
                        <a:rPr lang="en-IN" sz="1200" b="0" i="0">
                          <a:effectLst/>
                          <a:latin typeface="Times New Roman" panose="02020603050405020304" pitchFamily="18" charset="0"/>
                        </a:rPr>
                        <a:t>3.13×10⁻⁶ </a:t>
                      </a:r>
                      <a:endParaRPr lang="en-IN" b="0" i="0">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35269569"/>
                  </a:ext>
                </a:extLst>
              </a:tr>
              <a:tr h="190500">
                <a:tc>
                  <a:txBody>
                    <a:bodyPr/>
                    <a:lstStyle/>
                    <a:p>
                      <a:pPr algn="l" rtl="0" fontAlgn="base">
                        <a:lnSpc>
                          <a:spcPts val="1457"/>
                        </a:lnSpc>
                        <a:buNone/>
                      </a:pPr>
                      <a:r>
                        <a:rPr lang="en-IN" sz="1200" b="0" i="0">
                          <a:effectLst/>
                          <a:latin typeface="Times New Roman"/>
                        </a:rPr>
                        <a:t>4 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457"/>
                        </a:lnSpc>
                        <a:buNone/>
                      </a:pPr>
                      <a:r>
                        <a:rPr lang="en-IN" sz="1200" b="0" i="0">
                          <a:effectLst/>
                          <a:latin typeface="Times New Roman" panose="02020603050405020304" pitchFamily="18" charset="0"/>
                        </a:rPr>
                        <a:t>99.69% </a:t>
                      </a:r>
                      <a:endParaRPr lang="en-IN" b="0" i="0">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457"/>
                        </a:lnSpc>
                        <a:buNone/>
                      </a:pPr>
                      <a:r>
                        <a:rPr lang="en-IN" sz="1200" b="0" i="0">
                          <a:effectLst/>
                          <a:latin typeface="Times New Roman"/>
                        </a:rPr>
                        <a:t>25 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457"/>
                        </a:lnSpc>
                        <a:buNone/>
                      </a:pPr>
                      <a:r>
                        <a:rPr lang="en-IN" sz="1200" b="0" i="0">
                          <a:effectLst/>
                          <a:latin typeface="Times New Roman"/>
                        </a:rPr>
                        <a:t>35 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457"/>
                        </a:lnSpc>
                        <a:buNone/>
                      </a:pPr>
                      <a:r>
                        <a:rPr lang="en-IN" sz="1200" b="0" i="0">
                          <a:effectLst/>
                          <a:latin typeface="Times New Roman" panose="02020603050405020304" pitchFamily="18" charset="0"/>
                        </a:rPr>
                        <a:t>2.50×10⁻⁵ </a:t>
                      </a:r>
                      <a:endParaRPr lang="en-IN" b="0" i="0">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92488521"/>
                  </a:ext>
                </a:extLst>
              </a:tr>
              <a:tr h="190500">
                <a:tc>
                  <a:txBody>
                    <a:bodyPr/>
                    <a:lstStyle/>
                    <a:p>
                      <a:pPr algn="l" rtl="0" fontAlgn="base">
                        <a:lnSpc>
                          <a:spcPts val="1457"/>
                        </a:lnSpc>
                        <a:buNone/>
                      </a:pPr>
                      <a:r>
                        <a:rPr lang="en-IN" sz="1200" b="0" i="0">
                          <a:effectLst/>
                          <a:latin typeface="Times New Roman"/>
                        </a:rPr>
                        <a:t>5 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457"/>
                        </a:lnSpc>
                        <a:buNone/>
                      </a:pPr>
                      <a:r>
                        <a:rPr lang="en-IN" sz="1200" b="0" i="0">
                          <a:effectLst/>
                          <a:latin typeface="Times New Roman" panose="02020603050405020304" pitchFamily="18" charset="0"/>
                        </a:rPr>
                        <a:t>99.75% </a:t>
                      </a:r>
                      <a:endParaRPr lang="en-IN" b="0" i="0">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457"/>
                        </a:lnSpc>
                        <a:buNone/>
                      </a:pPr>
                      <a:r>
                        <a:rPr lang="en-IN" sz="1200" b="0" i="0">
                          <a:effectLst/>
                          <a:latin typeface="Times New Roman"/>
                        </a:rPr>
                        <a:t>19 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457"/>
                        </a:lnSpc>
                        <a:buNone/>
                      </a:pPr>
                      <a:r>
                        <a:rPr lang="en-IN" sz="1200" b="0" i="0">
                          <a:effectLst/>
                          <a:latin typeface="Times New Roman"/>
                        </a:rPr>
                        <a:t>29 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457"/>
                        </a:lnSpc>
                        <a:buNone/>
                      </a:pPr>
                      <a:r>
                        <a:rPr lang="en-IN" sz="1200" b="0" i="0">
                          <a:effectLst/>
                          <a:latin typeface="Times New Roman" panose="02020603050405020304" pitchFamily="18" charset="0"/>
                        </a:rPr>
                        <a:t>2.50×10⁻⁵ </a:t>
                      </a:r>
                      <a:endParaRPr lang="en-IN" b="0" i="0">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37353025"/>
                  </a:ext>
                </a:extLst>
              </a:tr>
            </a:tbl>
          </a:graphicData>
        </a:graphic>
      </p:graphicFrame>
      <p:sp>
        <p:nvSpPr>
          <p:cNvPr id="6" name="TextBox 5">
            <a:extLst>
              <a:ext uri="{FF2B5EF4-FFF2-40B4-BE49-F238E27FC236}">
                <a16:creationId xmlns:a16="http://schemas.microsoft.com/office/drawing/2014/main" id="{F6667462-1A65-2E16-E48D-06F805FD6240}"/>
              </a:ext>
            </a:extLst>
          </p:cNvPr>
          <p:cNvSpPr txBox="1"/>
          <p:nvPr/>
        </p:nvSpPr>
        <p:spPr>
          <a:xfrm>
            <a:off x="2218926" y="917828"/>
            <a:ext cx="5759123"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IN" sz="1200" b="1">
                <a:latin typeface="Arial"/>
                <a:cs typeface="Arial"/>
              </a:rPr>
              <a:t>Table 4: </a:t>
            </a:r>
            <a:r>
              <a:rPr lang="en-IN" sz="1200">
                <a:latin typeface="Arial"/>
                <a:cs typeface="Arial"/>
              </a:rPr>
              <a:t>Detailed Results per Fold (RMSprop Optimizer)</a:t>
            </a:r>
            <a:endParaRPr lang="en-US" sz="1200">
              <a:latin typeface="Arial"/>
              <a:cs typeface="Arial"/>
            </a:endParaRPr>
          </a:p>
        </p:txBody>
      </p:sp>
    </p:spTree>
    <p:extLst>
      <p:ext uri="{BB962C8B-B14F-4D97-AF65-F5344CB8AC3E}">
        <p14:creationId xmlns:p14="http://schemas.microsoft.com/office/powerpoint/2010/main" val="2094020013"/>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1DDB40-8FCB-A220-95BF-E4FB945E93A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D51A479-F9EC-8F67-C56F-5BB6B2A8CAE3}"/>
              </a:ext>
            </a:extLst>
          </p:cNvPr>
          <p:cNvSpPr txBox="1"/>
          <p:nvPr/>
        </p:nvSpPr>
        <p:spPr>
          <a:xfrm>
            <a:off x="8581441" y="128884"/>
            <a:ext cx="2116668" cy="1200329"/>
          </a:xfrm>
          <a:prstGeom prst="rect">
            <a:avLst/>
          </a:prstGeom>
          <a:noFill/>
        </p:spPr>
        <p:txBody>
          <a:bodyPr wrap="square" lIns="91440" tIns="45720" rIns="91440" bIns="45720" rtlCol="0" anchor="t">
            <a:spAutoFit/>
          </a:bodyPr>
          <a:lstStyle/>
          <a:p>
            <a:pPr algn="just"/>
            <a:r>
              <a:rPr lang="en-IN" sz="2400" b="1">
                <a:solidFill>
                  <a:srgbClr val="D47D26"/>
                </a:solidFill>
                <a:latin typeface="Times New Roman"/>
                <a:cs typeface="Times New Roman"/>
              </a:rPr>
              <a:t>RESULTS</a:t>
            </a:r>
            <a:endParaRPr lang="en-IN" sz="2400">
              <a:solidFill>
                <a:srgbClr val="000000"/>
              </a:solidFill>
              <a:latin typeface="Times New Roman"/>
              <a:cs typeface="Times New Roman"/>
            </a:endParaRPr>
          </a:p>
          <a:p>
            <a:pPr algn="ctr"/>
            <a:endParaRPr lang="en-IN" sz="2400">
              <a:solidFill>
                <a:srgbClr val="000000"/>
              </a:solidFill>
              <a:latin typeface="Times New Roman"/>
              <a:cs typeface="Times New Roman"/>
            </a:endParaRPr>
          </a:p>
          <a:p>
            <a:pPr algn="just"/>
            <a:endParaRPr lang="en-IN" sz="2400" b="1">
              <a:solidFill>
                <a:srgbClr val="D47D26"/>
              </a:solidFill>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85FF623C-8C51-8A0F-6316-D9D58C527C0E}"/>
              </a:ext>
            </a:extLst>
          </p:cNvPr>
          <p:cNvSpPr txBox="1"/>
          <p:nvPr/>
        </p:nvSpPr>
        <p:spPr>
          <a:xfrm>
            <a:off x="1909665" y="4890089"/>
            <a:ext cx="7361704"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IN" sz="1200" b="1">
                <a:latin typeface="Arial"/>
                <a:cs typeface="Times New Roman"/>
              </a:rPr>
              <a:t>Fig 3. </a:t>
            </a:r>
            <a:r>
              <a:rPr lang="en-IN" sz="1200">
                <a:latin typeface="Arial"/>
                <a:cs typeface="Times New Roman"/>
              </a:rPr>
              <a:t>Validation</a:t>
            </a:r>
            <a:r>
              <a:rPr lang="en-IN" sz="1200" b="1">
                <a:latin typeface="Arial"/>
                <a:cs typeface="Times New Roman"/>
              </a:rPr>
              <a:t> </a:t>
            </a:r>
            <a:r>
              <a:rPr lang="en-IN" sz="1200">
                <a:latin typeface="Arial"/>
                <a:cs typeface="Times New Roman"/>
              </a:rPr>
              <a:t>Accuracy and Loss Curves Of All Folds for InceptionV3 with RMSprop Optimizer</a:t>
            </a:r>
            <a:endParaRPr lang="en-US" sz="1200">
              <a:latin typeface="Arial"/>
              <a:cs typeface="Times New Roman"/>
            </a:endParaRPr>
          </a:p>
        </p:txBody>
      </p:sp>
      <p:pic>
        <p:nvPicPr>
          <p:cNvPr id="14" name="Picture 13" descr="A graph with different colored lines&#10;&#10;AI-generated content may be incorrect.">
            <a:extLst>
              <a:ext uri="{FF2B5EF4-FFF2-40B4-BE49-F238E27FC236}">
                <a16:creationId xmlns:a16="http://schemas.microsoft.com/office/drawing/2014/main" id="{E9488855-F7B8-1318-D6D7-6D425BCBD9DE}"/>
              </a:ext>
            </a:extLst>
          </p:cNvPr>
          <p:cNvPicPr>
            <a:picLocks noChangeAspect="1"/>
          </p:cNvPicPr>
          <p:nvPr/>
        </p:nvPicPr>
        <p:blipFill>
          <a:blip r:embed="rId3"/>
          <a:stretch>
            <a:fillRect/>
          </a:stretch>
        </p:blipFill>
        <p:spPr>
          <a:xfrm>
            <a:off x="276465" y="1461279"/>
            <a:ext cx="4848568" cy="3101556"/>
          </a:xfrm>
          <a:prstGeom prst="rect">
            <a:avLst/>
          </a:prstGeom>
        </p:spPr>
      </p:pic>
      <p:pic>
        <p:nvPicPr>
          <p:cNvPr id="15" name="Picture 14" descr="A graph of loss of a number of fold&#10;&#10;AI-generated content may be incorrect.">
            <a:extLst>
              <a:ext uri="{FF2B5EF4-FFF2-40B4-BE49-F238E27FC236}">
                <a16:creationId xmlns:a16="http://schemas.microsoft.com/office/drawing/2014/main" id="{BC013AAF-9C23-6A5E-34E5-5D85FFCA6D68}"/>
              </a:ext>
            </a:extLst>
          </p:cNvPr>
          <p:cNvPicPr>
            <a:picLocks noChangeAspect="1"/>
          </p:cNvPicPr>
          <p:nvPr/>
        </p:nvPicPr>
        <p:blipFill>
          <a:blip r:embed="rId4"/>
          <a:stretch>
            <a:fillRect/>
          </a:stretch>
        </p:blipFill>
        <p:spPr>
          <a:xfrm>
            <a:off x="5395926" y="1461279"/>
            <a:ext cx="4963613" cy="3101556"/>
          </a:xfrm>
          <a:prstGeom prst="rect">
            <a:avLst/>
          </a:prstGeom>
        </p:spPr>
      </p:pic>
    </p:spTree>
    <p:extLst>
      <p:ext uri="{BB962C8B-B14F-4D97-AF65-F5344CB8AC3E}">
        <p14:creationId xmlns:p14="http://schemas.microsoft.com/office/powerpoint/2010/main" val="3263774109"/>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6F716-6118-7438-14D2-995066E9317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938D52A-925C-0F2B-6035-4DE97367CED1}"/>
              </a:ext>
            </a:extLst>
          </p:cNvPr>
          <p:cNvSpPr txBox="1"/>
          <p:nvPr/>
        </p:nvSpPr>
        <p:spPr>
          <a:xfrm>
            <a:off x="5396103" y="138139"/>
            <a:ext cx="6431030" cy="830997"/>
          </a:xfrm>
          <a:prstGeom prst="rect">
            <a:avLst/>
          </a:prstGeom>
          <a:noFill/>
        </p:spPr>
        <p:txBody>
          <a:bodyPr wrap="square" lIns="91440" tIns="45720" rIns="91440" bIns="45720" rtlCol="0" anchor="t">
            <a:spAutoFit/>
          </a:bodyPr>
          <a:lstStyle/>
          <a:p>
            <a:pPr algn="just"/>
            <a:r>
              <a:rPr lang="en-IN" sz="2400" b="1">
                <a:solidFill>
                  <a:srgbClr val="D47D26"/>
                </a:solidFill>
                <a:latin typeface="Times New Roman"/>
                <a:cs typeface="Times New Roman"/>
              </a:rPr>
              <a:t>IMPLEMENTATION &amp;WORK DONE</a:t>
            </a:r>
            <a:endParaRPr lang="en-IN" sz="2400">
              <a:solidFill>
                <a:srgbClr val="000000"/>
              </a:solidFill>
              <a:latin typeface="Times New Roman"/>
              <a:cs typeface="Times New Roman"/>
            </a:endParaRPr>
          </a:p>
          <a:p>
            <a:pPr algn="ctr"/>
            <a:endParaRPr lang="en-IN" sz="2400" b="1">
              <a:solidFill>
                <a:srgbClr val="D47D26"/>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B4165D61-758D-AE7E-2CA7-C04D3A064539}"/>
              </a:ext>
            </a:extLst>
          </p:cNvPr>
          <p:cNvSpPr txBox="1"/>
          <p:nvPr/>
        </p:nvSpPr>
        <p:spPr>
          <a:xfrm>
            <a:off x="721668" y="1408970"/>
            <a:ext cx="10083139" cy="48013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Arial"/>
                <a:cs typeface="Arial"/>
              </a:rPr>
              <a:t>1. Dataset Preparation</a:t>
            </a:r>
          </a:p>
          <a:p>
            <a:pPr marL="742950" lvl="1" indent="-285750">
              <a:buFont typeface="Arial"/>
              <a:buChar char="•"/>
            </a:pPr>
            <a:r>
              <a:rPr lang="en-US">
                <a:latin typeface="Arial"/>
                <a:cs typeface="Arial"/>
              </a:rPr>
              <a:t>Created a balanced subset (~4000 images: 2000 per class).</a:t>
            </a:r>
          </a:p>
          <a:p>
            <a:pPr marL="742950" lvl="1" indent="-285750">
              <a:buFont typeface="Arial"/>
              <a:buChar char="•"/>
            </a:pPr>
            <a:r>
              <a:rPr lang="en-US">
                <a:latin typeface="Arial"/>
                <a:cs typeface="Arial"/>
              </a:rPr>
              <a:t>Preprocessed images (resizing and cleaning).</a:t>
            </a:r>
            <a:endParaRPr lang="en-US">
              <a:cs typeface="Arial" charset="0"/>
            </a:endParaRPr>
          </a:p>
          <a:p>
            <a:r>
              <a:rPr lang="en-US" b="1">
                <a:latin typeface="Arial"/>
                <a:cs typeface="Arial"/>
              </a:rPr>
              <a:t>2. Model Building</a:t>
            </a:r>
          </a:p>
          <a:p>
            <a:pPr marL="742950" lvl="1" indent="-285750">
              <a:buFont typeface="Arial"/>
              <a:buChar char="•"/>
            </a:pPr>
            <a:r>
              <a:rPr lang="en-US">
                <a:latin typeface="Arial"/>
                <a:cs typeface="Arial"/>
              </a:rPr>
              <a:t>Used </a:t>
            </a:r>
            <a:r>
              <a:rPr lang="en-US" err="1">
                <a:latin typeface="Arial"/>
                <a:cs typeface="Arial"/>
              </a:rPr>
              <a:t>ConvNeXtTiny</a:t>
            </a:r>
            <a:r>
              <a:rPr lang="en-US">
                <a:latin typeface="Arial"/>
                <a:cs typeface="Arial"/>
              </a:rPr>
              <a:t> (pre-trained on ImageNet) with a custom classification head.</a:t>
            </a:r>
          </a:p>
          <a:p>
            <a:pPr marL="742950" lvl="1" indent="-285750">
              <a:buFont typeface="Arial"/>
              <a:buChar char="•"/>
            </a:pPr>
            <a:r>
              <a:rPr lang="en-US">
                <a:latin typeface="Arial"/>
                <a:cs typeface="Arial"/>
              </a:rPr>
              <a:t>Input → ConvNeXt-Tiny (pre-trained) → Global Average Pooling → Batch Normalization → Dense(256, ReLU) → Dropout(0.4,0.5) → Output</a:t>
            </a:r>
          </a:p>
          <a:p>
            <a:pPr marL="742950" lvl="1" indent="-285750">
              <a:buFont typeface="Arial"/>
              <a:buChar char="•"/>
            </a:pPr>
            <a:r>
              <a:rPr lang="en-US">
                <a:latin typeface="Arial"/>
                <a:cs typeface="Arial"/>
              </a:rPr>
              <a:t>Fine-tuned last 20 layers for better domain-specific learning.</a:t>
            </a:r>
          </a:p>
          <a:p>
            <a:r>
              <a:rPr lang="en-US" b="1">
                <a:latin typeface="Arial"/>
                <a:cs typeface="Arial"/>
              </a:rPr>
              <a:t>3. K-Fold Cross-Validation</a:t>
            </a:r>
          </a:p>
          <a:p>
            <a:pPr marL="742950" lvl="1" indent="-285750">
              <a:buFont typeface="Arial"/>
              <a:buChar char="•"/>
            </a:pPr>
            <a:r>
              <a:rPr lang="en-US">
                <a:latin typeface="Arial"/>
                <a:cs typeface="Arial"/>
              </a:rPr>
              <a:t>Applied 5-Fold Cross-Validation for robust evaluation.</a:t>
            </a:r>
          </a:p>
          <a:p>
            <a:pPr marL="742950" lvl="1" indent="-285750">
              <a:buFont typeface="Arial"/>
              <a:buChar char="•"/>
            </a:pPr>
            <a:r>
              <a:rPr lang="en-US">
                <a:latin typeface="Arial"/>
                <a:cs typeface="Arial"/>
              </a:rPr>
              <a:t>Used scikit-learn and </a:t>
            </a:r>
            <a:r>
              <a:rPr lang="en-US" err="1">
                <a:latin typeface="Arial"/>
                <a:cs typeface="Arial"/>
              </a:rPr>
              <a:t>ImageDataGenerator</a:t>
            </a:r>
            <a:r>
              <a:rPr lang="en-US">
                <a:latin typeface="Arial"/>
                <a:cs typeface="Arial"/>
              </a:rPr>
              <a:t> for splits.</a:t>
            </a:r>
          </a:p>
          <a:p>
            <a:r>
              <a:rPr lang="en-US" b="1">
                <a:latin typeface="Arial"/>
                <a:cs typeface="Arial"/>
              </a:rPr>
              <a:t>4. Training &amp; Hyperparameter Tuning</a:t>
            </a:r>
          </a:p>
          <a:p>
            <a:pPr marL="742950" lvl="1" indent="-285750">
              <a:buFont typeface="Arial"/>
              <a:buChar char="•"/>
            </a:pPr>
            <a:r>
              <a:rPr lang="en-US">
                <a:latin typeface="Arial"/>
                <a:cs typeface="Arial"/>
              </a:rPr>
              <a:t>Trained in 3 phases (25 epochs → 500 epochs → cleaned dataset).</a:t>
            </a:r>
          </a:p>
          <a:p>
            <a:pPr marL="742950" lvl="1" indent="-285750">
              <a:buFont typeface="Arial"/>
              <a:buChar char="•"/>
            </a:pPr>
            <a:r>
              <a:rPr lang="en-US">
                <a:latin typeface="Arial"/>
                <a:cs typeface="Arial"/>
              </a:rPr>
              <a:t>Tuned learning rates, optimizers, and used callbacks (</a:t>
            </a:r>
            <a:r>
              <a:rPr lang="en-US" err="1">
                <a:latin typeface="Arial"/>
                <a:cs typeface="Arial"/>
              </a:rPr>
              <a:t>EarlyStopping</a:t>
            </a:r>
            <a:r>
              <a:rPr lang="en-US">
                <a:latin typeface="Arial"/>
                <a:cs typeface="Arial"/>
              </a:rPr>
              <a:t>, </a:t>
            </a:r>
            <a:r>
              <a:rPr lang="en-US">
                <a:solidFill>
                  <a:srgbClr val="000000"/>
                </a:solidFill>
                <a:latin typeface="Arial"/>
                <a:cs typeface="Arial"/>
              </a:rPr>
              <a:t>ReduceLR on plateau.</a:t>
            </a:r>
            <a:endParaRPr lang="en-US">
              <a:cs typeface="Arial" charset="0"/>
            </a:endParaRPr>
          </a:p>
          <a:p>
            <a:r>
              <a:rPr lang="en-US" b="1">
                <a:latin typeface="Arial"/>
                <a:cs typeface="Arial"/>
              </a:rPr>
              <a:t>5. Implementation Environment</a:t>
            </a:r>
          </a:p>
          <a:p>
            <a:pPr marL="742950" lvl="1" indent="-285750">
              <a:buFont typeface="Arial"/>
              <a:buChar char="•"/>
            </a:pPr>
            <a:r>
              <a:rPr lang="en-US">
                <a:latin typeface="Arial"/>
                <a:cs typeface="Arial"/>
              </a:rPr>
              <a:t>Used Google </a:t>
            </a:r>
            <a:r>
              <a:rPr lang="en-US" err="1">
                <a:latin typeface="Arial"/>
                <a:cs typeface="Arial"/>
              </a:rPr>
              <a:t>Colab</a:t>
            </a:r>
            <a:r>
              <a:rPr lang="en-US">
                <a:latin typeface="Arial"/>
                <a:cs typeface="Arial"/>
              </a:rPr>
              <a:t> with TensorFlow/</a:t>
            </a:r>
            <a:r>
              <a:rPr lang="en-US" err="1">
                <a:latin typeface="Arial"/>
                <a:cs typeface="Arial"/>
              </a:rPr>
              <a:t>Keras</a:t>
            </a:r>
            <a:r>
              <a:rPr lang="en-US">
                <a:latin typeface="Arial"/>
                <a:cs typeface="Arial"/>
              </a:rPr>
              <a:t>, scikit-learn, and Matplotlib.</a:t>
            </a:r>
          </a:p>
        </p:txBody>
      </p:sp>
      <p:sp>
        <p:nvSpPr>
          <p:cNvPr id="4" name="TextBox 3">
            <a:extLst>
              <a:ext uri="{FF2B5EF4-FFF2-40B4-BE49-F238E27FC236}">
                <a16:creationId xmlns:a16="http://schemas.microsoft.com/office/drawing/2014/main" id="{7606FD8D-FF19-D2EE-C817-BBD49BB87452}"/>
              </a:ext>
            </a:extLst>
          </p:cNvPr>
          <p:cNvSpPr txBox="1"/>
          <p:nvPr/>
        </p:nvSpPr>
        <p:spPr>
          <a:xfrm>
            <a:off x="716348" y="897957"/>
            <a:ext cx="410639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Arial"/>
                <a:cs typeface="Arial"/>
              </a:rPr>
              <a:t>Model 2 – </a:t>
            </a:r>
            <a:r>
              <a:rPr lang="en-US" b="1" err="1">
                <a:latin typeface="Arial"/>
                <a:cs typeface="Arial"/>
              </a:rPr>
              <a:t>ConvNeXt</a:t>
            </a:r>
            <a:r>
              <a:rPr lang="en-US" b="1">
                <a:latin typeface="Arial"/>
                <a:cs typeface="Arial"/>
              </a:rPr>
              <a:t> </a:t>
            </a:r>
            <a:endParaRPr lang="en-US" b="1"/>
          </a:p>
        </p:txBody>
      </p:sp>
    </p:spTree>
    <p:extLst>
      <p:ext uri="{BB962C8B-B14F-4D97-AF65-F5344CB8AC3E}">
        <p14:creationId xmlns:p14="http://schemas.microsoft.com/office/powerpoint/2010/main" val="2745857315"/>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2DDB6E-8D1D-8775-A225-4A0B9345179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5436BAB-ADF4-E277-D620-60F32F84CFA9}"/>
              </a:ext>
            </a:extLst>
          </p:cNvPr>
          <p:cNvSpPr txBox="1"/>
          <p:nvPr/>
        </p:nvSpPr>
        <p:spPr>
          <a:xfrm>
            <a:off x="8430042" y="128884"/>
            <a:ext cx="2268067" cy="1200329"/>
          </a:xfrm>
          <a:prstGeom prst="rect">
            <a:avLst/>
          </a:prstGeom>
          <a:noFill/>
        </p:spPr>
        <p:txBody>
          <a:bodyPr wrap="square" lIns="91440" tIns="45720" rIns="91440" bIns="45720" rtlCol="0" anchor="t">
            <a:spAutoFit/>
          </a:bodyPr>
          <a:lstStyle/>
          <a:p>
            <a:pPr algn="just"/>
            <a:r>
              <a:rPr lang="en-IN" sz="2400" b="1">
                <a:solidFill>
                  <a:srgbClr val="D47D26"/>
                </a:solidFill>
                <a:latin typeface="Times New Roman"/>
                <a:cs typeface="Times New Roman"/>
              </a:rPr>
              <a:t>RESULTS</a:t>
            </a:r>
            <a:endParaRPr lang="en-IN" sz="2400">
              <a:solidFill>
                <a:srgbClr val="000000"/>
              </a:solidFill>
              <a:latin typeface="Times New Roman"/>
              <a:cs typeface="Times New Roman"/>
            </a:endParaRPr>
          </a:p>
          <a:p>
            <a:pPr algn="ctr"/>
            <a:endParaRPr lang="en-IN" sz="2400">
              <a:solidFill>
                <a:srgbClr val="000000"/>
              </a:solidFill>
              <a:latin typeface="Times New Roman"/>
              <a:cs typeface="Times New Roman"/>
            </a:endParaRPr>
          </a:p>
          <a:p>
            <a:pPr algn="just"/>
            <a:endParaRPr lang="en-IN" sz="2400" b="1">
              <a:solidFill>
                <a:srgbClr val="D47D26"/>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D26569C9-F9D1-695D-EA90-D81319101282}"/>
              </a:ext>
            </a:extLst>
          </p:cNvPr>
          <p:cNvSpPr txBox="1"/>
          <p:nvPr/>
        </p:nvSpPr>
        <p:spPr>
          <a:xfrm>
            <a:off x="377472" y="864547"/>
            <a:ext cx="9782392" cy="161582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b="1">
                <a:latin typeface="Arial"/>
                <a:cs typeface="Arial"/>
              </a:rPr>
              <a:t>Model:</a:t>
            </a:r>
            <a:r>
              <a:rPr lang="en-US">
                <a:latin typeface="Arial"/>
                <a:cs typeface="Arial"/>
              </a:rPr>
              <a:t> </a:t>
            </a:r>
            <a:r>
              <a:rPr lang="en-US" err="1">
                <a:latin typeface="Arial"/>
                <a:cs typeface="Arial"/>
              </a:rPr>
              <a:t>ConvNeXtTiny</a:t>
            </a:r>
            <a:r>
              <a:rPr lang="en-US">
                <a:latin typeface="Arial"/>
                <a:cs typeface="Arial"/>
              </a:rPr>
              <a:t> (pre-trained on ImageNet</a:t>
            </a:r>
            <a:br>
              <a:rPr lang="en-US"/>
            </a:br>
            <a:r>
              <a:rPr lang="en-US" b="1">
                <a:latin typeface="Arial"/>
                <a:cs typeface="Arial"/>
              </a:rPr>
              <a:t>Dataset:</a:t>
            </a:r>
            <a:r>
              <a:rPr lang="en-US">
                <a:latin typeface="Arial"/>
                <a:cs typeface="Arial"/>
              </a:rPr>
              <a:t> 4,000 images (</a:t>
            </a:r>
            <a:r>
              <a:rPr lang="en-US" err="1">
                <a:latin typeface="Arial"/>
                <a:cs typeface="Arial"/>
              </a:rPr>
              <a:t>lung_aca</a:t>
            </a:r>
            <a:r>
              <a:rPr lang="en-US">
                <a:latin typeface="Arial"/>
                <a:cs typeface="Arial"/>
              </a:rPr>
              <a:t> vs </a:t>
            </a:r>
            <a:r>
              <a:rPr lang="en-US" err="1">
                <a:latin typeface="Arial"/>
                <a:cs typeface="Arial"/>
              </a:rPr>
              <a:t>lung_scc</a:t>
            </a:r>
            <a:r>
              <a:rPr lang="en-US">
                <a:latin typeface="Arial"/>
                <a:cs typeface="Arial"/>
              </a:rPr>
              <a:t>)</a:t>
            </a:r>
            <a:br>
              <a:rPr lang="en-US"/>
            </a:br>
            <a:r>
              <a:rPr lang="en-US" b="1">
                <a:latin typeface="Arial"/>
                <a:cs typeface="Arial"/>
              </a:rPr>
              <a:t>Optimizer:</a:t>
            </a:r>
            <a:r>
              <a:rPr lang="en-US">
                <a:latin typeface="Arial"/>
                <a:cs typeface="Arial"/>
              </a:rPr>
              <a:t> Adam |  </a:t>
            </a:r>
            <a:r>
              <a:rPr lang="en-US" b="1">
                <a:latin typeface="Arial"/>
                <a:cs typeface="Arial"/>
              </a:rPr>
              <a:t>Batch Size:</a:t>
            </a:r>
            <a:r>
              <a:rPr lang="en-US">
                <a:latin typeface="Arial"/>
                <a:cs typeface="Arial"/>
              </a:rPr>
              <a:t> 32 | </a:t>
            </a:r>
            <a:r>
              <a:rPr lang="en-US" b="1">
                <a:latin typeface="Arial"/>
                <a:cs typeface="Arial"/>
              </a:rPr>
              <a:t>Input Size:</a:t>
            </a:r>
            <a:r>
              <a:rPr lang="en-US">
                <a:latin typeface="Arial"/>
                <a:cs typeface="Arial"/>
              </a:rPr>
              <a:t> 224×224</a:t>
            </a:r>
            <a:endParaRPr lang="en-US">
              <a:cs typeface="Arial"/>
            </a:endParaRPr>
          </a:p>
          <a:p>
            <a:r>
              <a:rPr lang="en-US" b="1">
                <a:latin typeface="Arial"/>
                <a:cs typeface="Arial"/>
              </a:rPr>
              <a:t>Performance Progression:</a:t>
            </a:r>
          </a:p>
        </p:txBody>
      </p:sp>
      <p:graphicFrame>
        <p:nvGraphicFramePr>
          <p:cNvPr id="8" name="Table 7">
            <a:extLst>
              <a:ext uri="{FF2B5EF4-FFF2-40B4-BE49-F238E27FC236}">
                <a16:creationId xmlns:a16="http://schemas.microsoft.com/office/drawing/2014/main" id="{F1976820-4E3E-88ED-2206-F387F97AF59C}"/>
              </a:ext>
            </a:extLst>
          </p:cNvPr>
          <p:cNvGraphicFramePr>
            <a:graphicFrameLocks noGrp="1"/>
          </p:cNvGraphicFramePr>
          <p:nvPr>
            <p:extLst>
              <p:ext uri="{D42A27DB-BD31-4B8C-83A1-F6EECF244321}">
                <p14:modId xmlns:p14="http://schemas.microsoft.com/office/powerpoint/2010/main" val="1261817358"/>
              </p:ext>
            </p:extLst>
          </p:nvPr>
        </p:nvGraphicFramePr>
        <p:xfrm>
          <a:off x="450734" y="2588696"/>
          <a:ext cx="10018092" cy="2651760"/>
        </p:xfrm>
        <a:graphic>
          <a:graphicData uri="http://schemas.openxmlformats.org/drawingml/2006/table">
            <a:tbl>
              <a:tblPr bandRow="1">
                <a:tableStyleId>{5C22544A-7EE6-4342-B048-85BDC9FD1C3A}</a:tableStyleId>
              </a:tblPr>
              <a:tblGrid>
                <a:gridCol w="3339364">
                  <a:extLst>
                    <a:ext uri="{9D8B030D-6E8A-4147-A177-3AD203B41FA5}">
                      <a16:colId xmlns:a16="http://schemas.microsoft.com/office/drawing/2014/main" val="1613835780"/>
                    </a:ext>
                  </a:extLst>
                </a:gridCol>
                <a:gridCol w="3339364">
                  <a:extLst>
                    <a:ext uri="{9D8B030D-6E8A-4147-A177-3AD203B41FA5}">
                      <a16:colId xmlns:a16="http://schemas.microsoft.com/office/drawing/2014/main" val="4112523617"/>
                    </a:ext>
                  </a:extLst>
                </a:gridCol>
                <a:gridCol w="3339364">
                  <a:extLst>
                    <a:ext uri="{9D8B030D-6E8A-4147-A177-3AD203B41FA5}">
                      <a16:colId xmlns:a16="http://schemas.microsoft.com/office/drawing/2014/main" val="4153456918"/>
                    </a:ext>
                  </a:extLst>
                </a:gridCol>
              </a:tblGrid>
              <a:tr h="0">
                <a:tc>
                  <a:txBody>
                    <a:bodyPr/>
                    <a:lstStyle/>
                    <a:p>
                      <a:pPr>
                        <a:buNone/>
                      </a:pPr>
                      <a:r>
                        <a:rPr lang="en-US"/>
                        <a:t>Training Stage</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a:t>Mean Val. Accuracy</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a:t>Std. Dev.</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256101563"/>
                  </a:ext>
                </a:extLst>
              </a:tr>
              <a:tr h="0">
                <a:tc>
                  <a:txBody>
                    <a:bodyPr/>
                    <a:lstStyle/>
                    <a:p>
                      <a:pPr>
                        <a:buNone/>
                      </a:pPr>
                      <a:r>
                        <a:rPr lang="en-US"/>
                        <a:t>Initial (25 Epochs, Frozen)</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a:t>89.97%</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a:t>±0.36%</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2314393178"/>
                  </a:ext>
                </a:extLst>
              </a:tr>
              <a:tr h="0">
                <a:tc>
                  <a:txBody>
                    <a:bodyPr/>
                    <a:lstStyle/>
                    <a:p>
                      <a:pPr>
                        <a:buNone/>
                      </a:pPr>
                      <a:r>
                        <a:rPr lang="en-US"/>
                        <a:t>Fine-Tuned (500 Epochs, 20 Layers)</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a:t>91.83%</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a:t>±1.63%</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878862348"/>
                  </a:ext>
                </a:extLst>
              </a:tr>
              <a:tr h="0">
                <a:tc>
                  <a:txBody>
                    <a:bodyPr/>
                    <a:lstStyle/>
                    <a:p>
                      <a:pPr>
                        <a:buNone/>
                      </a:pPr>
                      <a:r>
                        <a:rPr lang="en-US"/>
                        <a:t>Extended (Frozen Layers, 500 Epochs)</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a:t>92.60%</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a:t>±0.77%</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234264186"/>
                  </a:ext>
                </a:extLst>
              </a:tr>
              <a:tr h="0">
                <a:tc>
                  <a:txBody>
                    <a:bodyPr/>
                    <a:lstStyle/>
                    <a:p>
                      <a:pPr>
                        <a:buNone/>
                      </a:pPr>
                      <a:r>
                        <a:rPr lang="en-US"/>
                        <a:t>Cleaned Dataset (Frozen, 500 Epochs)</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b="1"/>
                        <a:t>93.02%</a:t>
                      </a:r>
                      <a:endParaRPr lang="en-US"/>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b="1"/>
                        <a:t>±0.70%</a:t>
                      </a:r>
                      <a:endParaRPr lang="en-US"/>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2682386166"/>
                  </a:ext>
                </a:extLst>
              </a:tr>
            </a:tbl>
          </a:graphicData>
        </a:graphic>
      </p:graphicFrame>
      <p:sp>
        <p:nvSpPr>
          <p:cNvPr id="9" name="TextBox 8">
            <a:extLst>
              <a:ext uri="{FF2B5EF4-FFF2-40B4-BE49-F238E27FC236}">
                <a16:creationId xmlns:a16="http://schemas.microsoft.com/office/drawing/2014/main" id="{E157114E-3937-6455-0E57-D123CA9F4A09}"/>
              </a:ext>
            </a:extLst>
          </p:cNvPr>
          <p:cNvSpPr txBox="1"/>
          <p:nvPr/>
        </p:nvSpPr>
        <p:spPr>
          <a:xfrm>
            <a:off x="375424" y="5346322"/>
            <a:ext cx="9907607"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Key Insight:</a:t>
            </a:r>
            <a:br>
              <a:rPr lang="en-US"/>
            </a:br>
            <a:r>
              <a:rPr lang="en-US"/>
              <a:t>Accuracy consistently improved across training phases — from </a:t>
            </a:r>
            <a:r>
              <a:rPr lang="en-US" b="1"/>
              <a:t>89.97% → 93.02%</a:t>
            </a:r>
            <a:r>
              <a:rPr lang="en-US"/>
              <a:t>, showing strong generalization and stability.</a:t>
            </a:r>
          </a:p>
        </p:txBody>
      </p:sp>
    </p:spTree>
    <p:extLst>
      <p:ext uri="{BB962C8B-B14F-4D97-AF65-F5344CB8AC3E}">
        <p14:creationId xmlns:p14="http://schemas.microsoft.com/office/powerpoint/2010/main" val="471661333"/>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B542BA-F72F-96ED-62B5-716E7D7D7B5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51CFE66-1D09-F14E-3A2C-827321C98F00}"/>
              </a:ext>
            </a:extLst>
          </p:cNvPr>
          <p:cNvSpPr txBox="1"/>
          <p:nvPr/>
        </p:nvSpPr>
        <p:spPr>
          <a:xfrm>
            <a:off x="8591534" y="128884"/>
            <a:ext cx="2106575" cy="1200329"/>
          </a:xfrm>
          <a:prstGeom prst="rect">
            <a:avLst/>
          </a:prstGeom>
          <a:noFill/>
        </p:spPr>
        <p:txBody>
          <a:bodyPr wrap="square" lIns="91440" tIns="45720" rIns="91440" bIns="45720" rtlCol="0" anchor="t">
            <a:spAutoFit/>
          </a:bodyPr>
          <a:lstStyle/>
          <a:p>
            <a:pPr algn="just"/>
            <a:r>
              <a:rPr lang="en-IN" sz="2400" b="1">
                <a:solidFill>
                  <a:srgbClr val="D47D26"/>
                </a:solidFill>
                <a:latin typeface="Times New Roman"/>
                <a:cs typeface="Times New Roman"/>
              </a:rPr>
              <a:t>RESULTS</a:t>
            </a:r>
            <a:endParaRPr lang="en-IN" sz="2400">
              <a:solidFill>
                <a:srgbClr val="000000"/>
              </a:solidFill>
              <a:latin typeface="Times New Roman"/>
              <a:cs typeface="Times New Roman"/>
            </a:endParaRPr>
          </a:p>
          <a:p>
            <a:pPr algn="ctr"/>
            <a:endParaRPr lang="en-IN" sz="2400">
              <a:solidFill>
                <a:srgbClr val="000000"/>
              </a:solidFill>
              <a:latin typeface="Times New Roman"/>
              <a:cs typeface="Times New Roman"/>
            </a:endParaRPr>
          </a:p>
          <a:p>
            <a:pPr algn="just"/>
            <a:endParaRPr lang="en-IN" sz="2400" b="1">
              <a:solidFill>
                <a:srgbClr val="D47D26"/>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E9328D2F-FA7C-B3FA-3542-A6E8625E9680}"/>
              </a:ext>
            </a:extLst>
          </p:cNvPr>
          <p:cNvSpPr txBox="1"/>
          <p:nvPr/>
        </p:nvSpPr>
        <p:spPr>
          <a:xfrm>
            <a:off x="623465" y="1414397"/>
            <a:ext cx="9803262" cy="36933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Arial"/>
                <a:cs typeface="Arial"/>
              </a:rPr>
              <a:t>Training Pattern:</a:t>
            </a:r>
            <a:endParaRPr lang="en-US">
              <a:cs typeface="Arial" charset="0"/>
            </a:endParaRPr>
          </a:p>
          <a:p>
            <a:pPr marL="742950" lvl="1" indent="-285750">
              <a:buFont typeface="Arial"/>
              <a:buChar char="•"/>
            </a:pPr>
            <a:r>
              <a:rPr lang="en-US">
                <a:latin typeface="Arial"/>
                <a:cs typeface="Arial"/>
              </a:rPr>
              <a:t>Rapid learning in early epochs (~87–90%)</a:t>
            </a:r>
          </a:p>
          <a:p>
            <a:pPr marL="742950" lvl="1" indent="-285750">
              <a:buFont typeface="Arial"/>
              <a:buChar char="•"/>
            </a:pPr>
            <a:r>
              <a:rPr lang="en-US">
                <a:latin typeface="Arial"/>
                <a:cs typeface="Arial"/>
              </a:rPr>
              <a:t>Gradual fine-tuning from epochs 20–500</a:t>
            </a:r>
          </a:p>
          <a:p>
            <a:pPr marL="742950" lvl="1" indent="-285750">
              <a:buFont typeface="Arial"/>
              <a:buChar char="•"/>
            </a:pPr>
            <a:r>
              <a:rPr lang="en-US">
                <a:latin typeface="Arial"/>
                <a:cs typeface="Arial"/>
              </a:rPr>
              <a:t>Consistent validation loss decrease (no overfitting)</a:t>
            </a:r>
          </a:p>
          <a:p>
            <a:pPr marL="285750" indent="-285750">
              <a:buFont typeface="Arial"/>
              <a:buChar char="•"/>
            </a:pPr>
            <a:endParaRPr lang="en-US">
              <a:latin typeface="Arial"/>
              <a:cs typeface="Arial"/>
            </a:endParaRPr>
          </a:p>
          <a:p>
            <a:r>
              <a:rPr lang="en-US" b="1">
                <a:latin typeface="Arial"/>
                <a:cs typeface="Arial"/>
              </a:rPr>
              <a:t>Learning Rate Strategy:</a:t>
            </a:r>
          </a:p>
          <a:p>
            <a:pPr marL="742950" lvl="1" indent="-285750">
              <a:buFont typeface="Arial"/>
              <a:buChar char="•"/>
            </a:pPr>
            <a:r>
              <a:rPr lang="en-US">
                <a:latin typeface="Arial"/>
                <a:cs typeface="Arial"/>
              </a:rPr>
              <a:t>Initial: 1×10⁻⁴ (or 3×10⁻⁵ for fine-tuning)</a:t>
            </a:r>
          </a:p>
          <a:p>
            <a:pPr marL="742950" lvl="1" indent="-285750">
              <a:buFont typeface="Arial"/>
              <a:buChar char="•"/>
            </a:pPr>
            <a:r>
              <a:rPr lang="en-US">
                <a:latin typeface="Arial"/>
                <a:cs typeface="Arial"/>
              </a:rPr>
              <a:t>Adaptive reduction (factor 0.3–0.5, patience 3–5)</a:t>
            </a:r>
          </a:p>
          <a:p>
            <a:pPr marL="285750" indent="-285750">
              <a:buFont typeface="Arial"/>
              <a:buChar char="•"/>
            </a:pPr>
            <a:endParaRPr lang="en-US">
              <a:latin typeface="Arial"/>
              <a:cs typeface="Arial"/>
            </a:endParaRPr>
          </a:p>
          <a:p>
            <a:r>
              <a:rPr lang="en-US" b="1">
                <a:latin typeface="Arial"/>
                <a:cs typeface="Arial"/>
              </a:rPr>
              <a:t>Overall Observations:</a:t>
            </a:r>
          </a:p>
          <a:p>
            <a:pPr marL="742950" lvl="1" indent="-285750">
              <a:buFont typeface="Arial"/>
              <a:buChar char="•"/>
            </a:pPr>
            <a:r>
              <a:rPr lang="en-US">
                <a:latin typeface="Arial"/>
                <a:cs typeface="Arial"/>
              </a:rPr>
              <a:t>Fine-tuning &amp; dataset cleaning improved accuracy and stability.</a:t>
            </a:r>
          </a:p>
          <a:p>
            <a:pPr marL="742950" lvl="1" indent="-285750">
              <a:buFont typeface="Arial"/>
              <a:buChar char="•"/>
            </a:pPr>
            <a:r>
              <a:rPr lang="en-US">
                <a:latin typeface="Arial"/>
                <a:cs typeface="Arial"/>
              </a:rPr>
              <a:t>Low variance across folds (≤1.63%) → reliable model behavior.</a:t>
            </a:r>
          </a:p>
          <a:p>
            <a:pPr marL="742950" lvl="1" indent="-285750">
              <a:buFont typeface="Arial"/>
              <a:buChar char="•"/>
            </a:pPr>
            <a:endParaRPr lang="en-US">
              <a:latin typeface="Arial"/>
              <a:cs typeface="Arial"/>
            </a:endParaRPr>
          </a:p>
        </p:txBody>
      </p:sp>
    </p:spTree>
    <p:extLst>
      <p:ext uri="{BB962C8B-B14F-4D97-AF65-F5344CB8AC3E}">
        <p14:creationId xmlns:p14="http://schemas.microsoft.com/office/powerpoint/2010/main" val="2805806656"/>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E6F7EF-90F7-C86D-E5B9-F66C4202D5B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37FF89E-8813-E465-8FB9-4DBC679CAFE8}"/>
              </a:ext>
            </a:extLst>
          </p:cNvPr>
          <p:cNvSpPr txBox="1"/>
          <p:nvPr/>
        </p:nvSpPr>
        <p:spPr>
          <a:xfrm>
            <a:off x="8874144" y="128884"/>
            <a:ext cx="1803779" cy="1200329"/>
          </a:xfrm>
          <a:prstGeom prst="rect">
            <a:avLst/>
          </a:prstGeom>
          <a:noFill/>
        </p:spPr>
        <p:txBody>
          <a:bodyPr wrap="square" lIns="91440" tIns="45720" rIns="91440" bIns="45720" rtlCol="0" anchor="t">
            <a:spAutoFit/>
          </a:bodyPr>
          <a:lstStyle/>
          <a:p>
            <a:pPr algn="just"/>
            <a:r>
              <a:rPr lang="en-IN" sz="2400" b="1">
                <a:solidFill>
                  <a:srgbClr val="D47D26"/>
                </a:solidFill>
                <a:latin typeface="Times New Roman"/>
                <a:cs typeface="Times New Roman"/>
              </a:rPr>
              <a:t>RESULTS</a:t>
            </a:r>
            <a:endParaRPr lang="en-IN" sz="2400">
              <a:solidFill>
                <a:srgbClr val="000000"/>
              </a:solidFill>
              <a:latin typeface="Times New Roman"/>
              <a:cs typeface="Times New Roman"/>
            </a:endParaRPr>
          </a:p>
          <a:p>
            <a:pPr algn="ctr"/>
            <a:endParaRPr lang="en-IN" sz="2400">
              <a:solidFill>
                <a:srgbClr val="000000"/>
              </a:solidFill>
              <a:latin typeface="Times New Roman"/>
              <a:cs typeface="Times New Roman"/>
            </a:endParaRPr>
          </a:p>
          <a:p>
            <a:pPr algn="just"/>
            <a:endParaRPr lang="en-IN" sz="2400" b="1">
              <a:solidFill>
                <a:srgbClr val="D47D26"/>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D66E97FE-88D0-479A-6CC7-CA08C02CA3C6}"/>
              </a:ext>
            </a:extLst>
          </p:cNvPr>
          <p:cNvPicPr>
            <a:picLocks noChangeAspect="1"/>
          </p:cNvPicPr>
          <p:nvPr/>
        </p:nvPicPr>
        <p:blipFill>
          <a:blip r:embed="rId3"/>
          <a:stretch>
            <a:fillRect/>
          </a:stretch>
        </p:blipFill>
        <p:spPr>
          <a:xfrm>
            <a:off x="5658854" y="1338980"/>
            <a:ext cx="5031803" cy="4180040"/>
          </a:xfrm>
          <a:prstGeom prst="rect">
            <a:avLst/>
          </a:prstGeom>
        </p:spPr>
      </p:pic>
      <p:pic>
        <p:nvPicPr>
          <p:cNvPr id="5" name="Picture 4">
            <a:extLst>
              <a:ext uri="{FF2B5EF4-FFF2-40B4-BE49-F238E27FC236}">
                <a16:creationId xmlns:a16="http://schemas.microsoft.com/office/drawing/2014/main" id="{3D7F85D4-5252-4F96-31CB-F1C3ADDDEF67}"/>
              </a:ext>
            </a:extLst>
          </p:cNvPr>
          <p:cNvPicPr>
            <a:picLocks noChangeAspect="1"/>
          </p:cNvPicPr>
          <p:nvPr/>
        </p:nvPicPr>
        <p:blipFill>
          <a:blip r:embed="rId4"/>
          <a:stretch>
            <a:fillRect/>
          </a:stretch>
        </p:blipFill>
        <p:spPr>
          <a:xfrm>
            <a:off x="457099" y="1334935"/>
            <a:ext cx="4823373" cy="4438650"/>
          </a:xfrm>
          <a:prstGeom prst="rect">
            <a:avLst/>
          </a:prstGeom>
        </p:spPr>
      </p:pic>
      <p:sp>
        <p:nvSpPr>
          <p:cNvPr id="6" name="TextBox 5">
            <a:extLst>
              <a:ext uri="{FF2B5EF4-FFF2-40B4-BE49-F238E27FC236}">
                <a16:creationId xmlns:a16="http://schemas.microsoft.com/office/drawing/2014/main" id="{062AEFA6-D821-0B89-6BF3-EA47C6E3C712}"/>
              </a:ext>
            </a:extLst>
          </p:cNvPr>
          <p:cNvSpPr txBox="1"/>
          <p:nvPr/>
        </p:nvSpPr>
        <p:spPr>
          <a:xfrm>
            <a:off x="795333" y="5921302"/>
            <a:ext cx="867829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rial"/>
                <a:cs typeface="Arial"/>
              </a:rPr>
              <a:t>               Training and validation accuracy and loss curves for </a:t>
            </a:r>
            <a:r>
              <a:rPr lang="en-US" err="1">
                <a:latin typeface="Arial"/>
                <a:cs typeface="Arial"/>
              </a:rPr>
              <a:t>ConvNeXtTiny</a:t>
            </a:r>
            <a:r>
              <a:rPr lang="en-US">
                <a:latin typeface="Arial"/>
                <a:cs typeface="Arial"/>
              </a:rPr>
              <a:t>.</a:t>
            </a:r>
            <a:endParaRPr lang="en-US">
              <a:latin typeface="Arial"/>
            </a:endParaRPr>
          </a:p>
        </p:txBody>
      </p:sp>
    </p:spTree>
    <p:extLst>
      <p:ext uri="{BB962C8B-B14F-4D97-AF65-F5344CB8AC3E}">
        <p14:creationId xmlns:p14="http://schemas.microsoft.com/office/powerpoint/2010/main" val="3168295711"/>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A74DC-D5CE-E259-DFE1-27C7D093572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5E8C438-CD4A-603A-FDAA-01C73D84BC0C}"/>
              </a:ext>
            </a:extLst>
          </p:cNvPr>
          <p:cNvSpPr txBox="1"/>
          <p:nvPr/>
        </p:nvSpPr>
        <p:spPr>
          <a:xfrm>
            <a:off x="8853958" y="128884"/>
            <a:ext cx="1844151" cy="1200329"/>
          </a:xfrm>
          <a:prstGeom prst="rect">
            <a:avLst/>
          </a:prstGeom>
          <a:noFill/>
        </p:spPr>
        <p:txBody>
          <a:bodyPr wrap="square" lIns="91440" tIns="45720" rIns="91440" bIns="45720" rtlCol="0" anchor="t">
            <a:spAutoFit/>
          </a:bodyPr>
          <a:lstStyle/>
          <a:p>
            <a:pPr algn="just"/>
            <a:r>
              <a:rPr lang="en-IN" sz="2400" b="1">
                <a:solidFill>
                  <a:srgbClr val="D47D26"/>
                </a:solidFill>
                <a:latin typeface="Times New Roman"/>
                <a:cs typeface="Times New Roman"/>
              </a:rPr>
              <a:t>RESULTS</a:t>
            </a:r>
            <a:endParaRPr lang="en-IN" sz="2400">
              <a:solidFill>
                <a:srgbClr val="000000"/>
              </a:solidFill>
              <a:latin typeface="Times New Roman"/>
              <a:cs typeface="Times New Roman"/>
            </a:endParaRPr>
          </a:p>
          <a:p>
            <a:pPr algn="ctr"/>
            <a:endParaRPr lang="en-IN" sz="2400">
              <a:solidFill>
                <a:srgbClr val="000000"/>
              </a:solidFill>
              <a:latin typeface="Times New Roman"/>
              <a:cs typeface="Times New Roman"/>
            </a:endParaRPr>
          </a:p>
          <a:p>
            <a:pPr algn="just"/>
            <a:endParaRPr lang="en-IN" sz="2400" b="1">
              <a:solidFill>
                <a:srgbClr val="D47D26"/>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D6D73E8C-7F8A-186A-4B88-B124B9CF6195}"/>
              </a:ext>
            </a:extLst>
          </p:cNvPr>
          <p:cNvPicPr>
            <a:picLocks noChangeAspect="1"/>
          </p:cNvPicPr>
          <p:nvPr/>
        </p:nvPicPr>
        <p:blipFill>
          <a:blip r:embed="rId3"/>
          <a:stretch>
            <a:fillRect/>
          </a:stretch>
        </p:blipFill>
        <p:spPr>
          <a:xfrm>
            <a:off x="938588" y="1334935"/>
            <a:ext cx="8399423" cy="4532595"/>
          </a:xfrm>
          <a:prstGeom prst="rect">
            <a:avLst/>
          </a:prstGeom>
        </p:spPr>
      </p:pic>
    </p:spTree>
    <p:extLst>
      <p:ext uri="{BB962C8B-B14F-4D97-AF65-F5344CB8AC3E}">
        <p14:creationId xmlns:p14="http://schemas.microsoft.com/office/powerpoint/2010/main" val="3963702121"/>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B406ED-08AD-5B68-3227-E353B3A0D35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824B79F-20FE-C0AA-9A8A-32B0DEBBF392}"/>
              </a:ext>
            </a:extLst>
          </p:cNvPr>
          <p:cNvSpPr txBox="1"/>
          <p:nvPr/>
        </p:nvSpPr>
        <p:spPr>
          <a:xfrm>
            <a:off x="5396103" y="138139"/>
            <a:ext cx="6431030" cy="830997"/>
          </a:xfrm>
          <a:prstGeom prst="rect">
            <a:avLst/>
          </a:prstGeom>
          <a:noFill/>
        </p:spPr>
        <p:txBody>
          <a:bodyPr wrap="square" lIns="91440" tIns="45720" rIns="91440" bIns="45720" rtlCol="0" anchor="t">
            <a:spAutoFit/>
          </a:bodyPr>
          <a:lstStyle/>
          <a:p>
            <a:pPr algn="just"/>
            <a:r>
              <a:rPr lang="en-IN" sz="2400" b="1">
                <a:solidFill>
                  <a:srgbClr val="D47D26"/>
                </a:solidFill>
                <a:latin typeface="Times New Roman"/>
                <a:cs typeface="Times New Roman"/>
              </a:rPr>
              <a:t>IMPLEMENTATION &amp;WORK DONE</a:t>
            </a:r>
            <a:endParaRPr lang="en-IN" sz="2400">
              <a:solidFill>
                <a:srgbClr val="000000"/>
              </a:solidFill>
              <a:latin typeface="Times New Roman"/>
              <a:cs typeface="Times New Roman"/>
            </a:endParaRPr>
          </a:p>
          <a:p>
            <a:pPr algn="ctr"/>
            <a:endParaRPr lang="en-IN" sz="2400" b="1">
              <a:solidFill>
                <a:srgbClr val="D47D26"/>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7B232750-1477-EC8C-B557-DCBA162366A4}"/>
              </a:ext>
            </a:extLst>
          </p:cNvPr>
          <p:cNvSpPr txBox="1"/>
          <p:nvPr/>
        </p:nvSpPr>
        <p:spPr>
          <a:xfrm>
            <a:off x="-196" y="557086"/>
            <a:ext cx="10561853" cy="63094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endParaRPr lang="en-US" sz="2000" b="1">
              <a:latin typeface="Arial"/>
              <a:cs typeface="Arial"/>
            </a:endParaRPr>
          </a:p>
          <a:p>
            <a:r>
              <a:rPr lang="en-US" sz="2400" b="1">
                <a:latin typeface="Arial"/>
                <a:cs typeface="Arial"/>
              </a:rPr>
              <a:t>Densenet121 Model</a:t>
            </a:r>
          </a:p>
          <a:p>
            <a:pPr marL="285750" indent="-285750">
              <a:buFont typeface="Arial"/>
              <a:buChar char="•"/>
            </a:pPr>
            <a:endParaRPr lang="en-US" sz="2000" b="1">
              <a:latin typeface="Arial"/>
              <a:cs typeface="Arial"/>
            </a:endParaRPr>
          </a:p>
          <a:p>
            <a:pPr marL="285750" indent="-285750">
              <a:buFont typeface="Arial"/>
              <a:buChar char="•"/>
            </a:pPr>
            <a:r>
              <a:rPr lang="en-US" sz="2000" b="1">
                <a:latin typeface="Arial"/>
                <a:cs typeface="Arial"/>
              </a:rPr>
              <a:t>Base Model:</a:t>
            </a:r>
            <a:r>
              <a:rPr lang="en-US" sz="2000">
                <a:latin typeface="Arial"/>
                <a:cs typeface="Arial"/>
              </a:rPr>
              <a:t> DenseNet121 (ImageNet weights, top removed, frozen layers).</a:t>
            </a:r>
            <a:endParaRPr lang="en-US">
              <a:cs typeface="Arial"/>
            </a:endParaRPr>
          </a:p>
          <a:p>
            <a:pPr marL="285750" indent="-285750">
              <a:buFont typeface="Arial"/>
              <a:buChar char="•"/>
            </a:pPr>
            <a:endParaRPr lang="en-US" sz="2000">
              <a:latin typeface="Arial"/>
              <a:cs typeface="Arial"/>
            </a:endParaRPr>
          </a:p>
          <a:p>
            <a:pPr marL="285750" indent="-285750">
              <a:buFont typeface="Arial"/>
              <a:buChar char="•"/>
            </a:pPr>
            <a:r>
              <a:rPr lang="en-US" sz="2000" b="1">
                <a:latin typeface="Arial"/>
                <a:cs typeface="Arial"/>
              </a:rPr>
              <a:t>Input:</a:t>
            </a:r>
            <a:r>
              <a:rPr lang="en-US" sz="2000">
                <a:latin typeface="Arial"/>
                <a:cs typeface="Arial"/>
              </a:rPr>
              <a:t> 224×224×3 RGB images.</a:t>
            </a:r>
            <a:endParaRPr lang="en-US" sz="2000"/>
          </a:p>
          <a:p>
            <a:pPr marL="285750" indent="-285750">
              <a:buFont typeface="Arial"/>
              <a:buChar char="•"/>
            </a:pPr>
            <a:endParaRPr lang="en-US" sz="2000">
              <a:latin typeface="Arial"/>
              <a:cs typeface="Arial"/>
            </a:endParaRPr>
          </a:p>
          <a:p>
            <a:pPr marL="285750" indent="-285750">
              <a:buFont typeface="Arial"/>
              <a:buChar char="•"/>
            </a:pPr>
            <a:r>
              <a:rPr lang="en-US" sz="2000" b="1">
                <a:latin typeface="Arial"/>
                <a:cs typeface="Arial"/>
              </a:rPr>
              <a:t>Feature Extractor:</a:t>
            </a:r>
            <a:r>
              <a:rPr lang="en-US" sz="2000">
                <a:latin typeface="Arial"/>
                <a:cs typeface="Arial"/>
              </a:rPr>
              <a:t> Dense and transition blocks for deep feature learning.</a:t>
            </a:r>
            <a:endParaRPr lang="en-US" sz="2000"/>
          </a:p>
          <a:p>
            <a:pPr marL="285750" indent="-285750">
              <a:buFont typeface="Arial"/>
              <a:buChar char="•"/>
            </a:pPr>
            <a:endParaRPr lang="en-US" sz="2000">
              <a:latin typeface="Arial"/>
              <a:cs typeface="Arial"/>
            </a:endParaRPr>
          </a:p>
          <a:p>
            <a:pPr marL="285750" indent="-285750">
              <a:buFont typeface="Arial"/>
              <a:buChar char="•"/>
            </a:pPr>
            <a:r>
              <a:rPr lang="en-US" sz="2000" b="1">
                <a:latin typeface="Arial"/>
                <a:cs typeface="Arial"/>
              </a:rPr>
              <a:t>Pooling:</a:t>
            </a:r>
            <a:r>
              <a:rPr lang="en-US" sz="2000">
                <a:latin typeface="Arial"/>
                <a:cs typeface="Arial"/>
              </a:rPr>
              <a:t> Global Average Pooling to flatten spatial features.</a:t>
            </a:r>
            <a:endParaRPr lang="en-US" sz="2000"/>
          </a:p>
          <a:p>
            <a:pPr marL="285750" indent="-285750">
              <a:buFont typeface="Arial"/>
              <a:buChar char="•"/>
            </a:pPr>
            <a:endParaRPr lang="en-US" sz="2000">
              <a:latin typeface="Arial"/>
              <a:cs typeface="Arial"/>
            </a:endParaRPr>
          </a:p>
          <a:p>
            <a:pPr marL="285750" indent="-285750">
              <a:buFont typeface="Arial"/>
              <a:buChar char="•"/>
            </a:pPr>
            <a:r>
              <a:rPr lang="en-US" sz="2000" b="1">
                <a:latin typeface="Arial"/>
                <a:cs typeface="Arial"/>
              </a:rPr>
              <a:t>Batch Normalization:</a:t>
            </a:r>
            <a:r>
              <a:rPr lang="en-US" sz="2000">
                <a:latin typeface="Arial"/>
                <a:cs typeface="Arial"/>
              </a:rPr>
              <a:t> Stabilizes and accelerates training.</a:t>
            </a:r>
            <a:endParaRPr lang="en-US"/>
          </a:p>
          <a:p>
            <a:pPr marL="285750" indent="-285750">
              <a:buFont typeface="Arial"/>
              <a:buChar char="•"/>
            </a:pPr>
            <a:endParaRPr lang="en-US" sz="2000">
              <a:latin typeface="Arial"/>
              <a:cs typeface="Arial"/>
            </a:endParaRPr>
          </a:p>
          <a:p>
            <a:pPr marL="285750" indent="-285750">
              <a:buFont typeface="Arial"/>
              <a:buChar char="•"/>
            </a:pPr>
            <a:r>
              <a:rPr lang="en-US" sz="2000" b="1">
                <a:latin typeface="Arial"/>
                <a:cs typeface="Arial"/>
              </a:rPr>
              <a:t>Dense Layer (512, </a:t>
            </a:r>
            <a:r>
              <a:rPr lang="en-US" sz="2000" b="1" err="1">
                <a:latin typeface="Arial"/>
                <a:cs typeface="Arial"/>
              </a:rPr>
              <a:t>ReLU</a:t>
            </a:r>
            <a:r>
              <a:rPr lang="en-US" sz="2000" b="1">
                <a:latin typeface="Arial"/>
                <a:cs typeface="Arial"/>
              </a:rPr>
              <a:t>):</a:t>
            </a:r>
            <a:r>
              <a:rPr lang="en-US" sz="2000">
                <a:latin typeface="Arial"/>
                <a:cs typeface="Arial"/>
              </a:rPr>
              <a:t> Learns complex feature interactions.</a:t>
            </a:r>
            <a:endParaRPr lang="en-US" sz="2000"/>
          </a:p>
          <a:p>
            <a:pPr marL="285750" indent="-285750">
              <a:buFont typeface="Arial"/>
              <a:buChar char="•"/>
            </a:pPr>
            <a:endParaRPr lang="en-US" sz="2000">
              <a:latin typeface="Arial"/>
              <a:cs typeface="Arial"/>
            </a:endParaRPr>
          </a:p>
          <a:p>
            <a:pPr marL="285750" indent="-285750">
              <a:buFont typeface="Arial"/>
              <a:buChar char="•"/>
            </a:pPr>
            <a:r>
              <a:rPr lang="en-US" sz="2000" b="1">
                <a:latin typeface="Arial"/>
                <a:cs typeface="Arial"/>
              </a:rPr>
              <a:t>Dropout (0.5):</a:t>
            </a:r>
            <a:r>
              <a:rPr lang="en-US" sz="2000">
                <a:latin typeface="Arial"/>
                <a:cs typeface="Arial"/>
              </a:rPr>
              <a:t> Prevents overfitting.</a:t>
            </a:r>
            <a:endParaRPr lang="en-US" sz="2000"/>
          </a:p>
          <a:p>
            <a:pPr marL="285750" indent="-285750">
              <a:buFont typeface="Arial"/>
              <a:buChar char="•"/>
            </a:pPr>
            <a:endParaRPr lang="en-US" sz="2000">
              <a:latin typeface="Arial"/>
              <a:cs typeface="Arial"/>
            </a:endParaRPr>
          </a:p>
          <a:p>
            <a:pPr marL="285750" indent="-285750">
              <a:buFont typeface="Arial"/>
              <a:buChar char="•"/>
            </a:pPr>
            <a:r>
              <a:rPr lang="en-US" sz="2000" b="1">
                <a:latin typeface="Arial"/>
                <a:cs typeface="Arial"/>
              </a:rPr>
              <a:t>Output Layer:</a:t>
            </a:r>
            <a:r>
              <a:rPr lang="en-US" sz="2000">
                <a:latin typeface="Arial"/>
                <a:cs typeface="Arial"/>
              </a:rPr>
              <a:t> Dense(1, Sigmoid) for binary classification (</a:t>
            </a:r>
            <a:r>
              <a:rPr lang="en-US" sz="2000" i="1" err="1">
                <a:latin typeface="Arial"/>
                <a:cs typeface="Arial"/>
              </a:rPr>
              <a:t>lung_aca</a:t>
            </a:r>
            <a:r>
              <a:rPr lang="en-US" sz="2000">
                <a:latin typeface="Arial"/>
                <a:cs typeface="Arial"/>
              </a:rPr>
              <a:t>, </a:t>
            </a:r>
            <a:r>
              <a:rPr lang="en-US" sz="2000" i="1" err="1">
                <a:latin typeface="Arial"/>
                <a:cs typeface="Arial"/>
              </a:rPr>
              <a:t>lung_scc</a:t>
            </a:r>
            <a:r>
              <a:rPr lang="en-US" sz="2000">
                <a:latin typeface="Arial"/>
                <a:cs typeface="Arial"/>
              </a:rPr>
              <a:t>).</a:t>
            </a:r>
            <a:endParaRPr lang="en-US" sz="2000"/>
          </a:p>
          <a:p>
            <a:pPr marL="285750" indent="-285750">
              <a:buFont typeface="Arial"/>
              <a:buChar char="•"/>
            </a:pPr>
            <a:endParaRPr lang="en-US" sz="2000">
              <a:cs typeface="Arial"/>
            </a:endParaRPr>
          </a:p>
          <a:p>
            <a:endParaRPr lang="en-US" sz="2000" b="1">
              <a:latin typeface="Arial"/>
              <a:cs typeface="Arial"/>
            </a:endParaRPr>
          </a:p>
        </p:txBody>
      </p:sp>
    </p:spTree>
    <p:extLst>
      <p:ext uri="{BB962C8B-B14F-4D97-AF65-F5344CB8AC3E}">
        <p14:creationId xmlns:p14="http://schemas.microsoft.com/office/powerpoint/2010/main" val="3786822603"/>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B4143A-97F5-9D28-F73A-0A2841217AE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00E2E85-4940-C33E-10CD-4FFA0A8E4247}"/>
              </a:ext>
            </a:extLst>
          </p:cNvPr>
          <p:cNvSpPr txBox="1"/>
          <p:nvPr/>
        </p:nvSpPr>
        <p:spPr>
          <a:xfrm>
            <a:off x="5237600" y="128884"/>
            <a:ext cx="5460509" cy="461665"/>
          </a:xfrm>
          <a:prstGeom prst="rect">
            <a:avLst/>
          </a:prstGeom>
          <a:noFill/>
        </p:spPr>
        <p:txBody>
          <a:bodyPr wrap="square" lIns="91440" tIns="45720" rIns="91440" bIns="45720" rtlCol="0" anchor="t">
            <a:spAutoFit/>
          </a:bodyPr>
          <a:lstStyle/>
          <a:p>
            <a:pPr algn="just"/>
            <a:r>
              <a:rPr lang="en-IN" sz="2400" b="1">
                <a:solidFill>
                  <a:srgbClr val="D47D26"/>
                </a:solidFill>
                <a:latin typeface="Times New Roman"/>
                <a:cs typeface="Times New Roman"/>
              </a:rPr>
              <a:t>IMPLEMENTATION &amp;WORK DONE</a:t>
            </a:r>
            <a:endParaRPr lang="en-US"/>
          </a:p>
        </p:txBody>
      </p:sp>
      <p:sp>
        <p:nvSpPr>
          <p:cNvPr id="2" name="TextBox 1">
            <a:extLst>
              <a:ext uri="{FF2B5EF4-FFF2-40B4-BE49-F238E27FC236}">
                <a16:creationId xmlns:a16="http://schemas.microsoft.com/office/drawing/2014/main" id="{CB0AB8D6-B784-3783-D981-F58A08B02CA1}"/>
              </a:ext>
            </a:extLst>
          </p:cNvPr>
          <p:cNvSpPr txBox="1"/>
          <p:nvPr/>
        </p:nvSpPr>
        <p:spPr>
          <a:xfrm>
            <a:off x="504631" y="1083111"/>
            <a:ext cx="9735692" cy="563231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latin typeface="Arial"/>
                <a:cs typeface="Arial"/>
              </a:rPr>
              <a:t>DenseNet121 Implementation </a:t>
            </a:r>
            <a:endParaRPr lang="en-US"/>
          </a:p>
          <a:p>
            <a:pPr marL="285750" indent="-285750">
              <a:buFont typeface="Arial"/>
              <a:buChar char="•"/>
            </a:pPr>
            <a:r>
              <a:rPr lang="en-US" sz="2400" b="1">
                <a:latin typeface="Arial"/>
                <a:cs typeface="Arial"/>
              </a:rPr>
              <a:t>Dataset:</a:t>
            </a:r>
            <a:r>
              <a:rPr lang="en-US" sz="2400">
                <a:latin typeface="Arial"/>
                <a:cs typeface="Arial"/>
              </a:rPr>
              <a:t> ~4,000 balanced images (</a:t>
            </a:r>
            <a:r>
              <a:rPr lang="en-US" sz="2400" err="1">
                <a:latin typeface="Arial"/>
                <a:cs typeface="Arial"/>
              </a:rPr>
              <a:t>lung_aca</a:t>
            </a:r>
            <a:r>
              <a:rPr lang="en-US" sz="2400">
                <a:latin typeface="Arial"/>
                <a:cs typeface="Arial"/>
              </a:rPr>
              <a:t> &amp; </a:t>
            </a:r>
            <a:r>
              <a:rPr lang="en-US" sz="2400" err="1">
                <a:latin typeface="Arial"/>
                <a:cs typeface="Arial"/>
              </a:rPr>
              <a:t>lung_scc</a:t>
            </a:r>
            <a:r>
              <a:rPr lang="en-US" sz="2400">
                <a:latin typeface="Arial"/>
                <a:cs typeface="Arial"/>
              </a:rPr>
              <a:t>), resized to 224×224.</a:t>
            </a:r>
            <a:endParaRPr lang="en-US"/>
          </a:p>
          <a:p>
            <a:pPr marL="285750" indent="-285750">
              <a:buFont typeface="Arial"/>
              <a:buChar char="•"/>
            </a:pPr>
            <a:endParaRPr lang="en-US" sz="2400">
              <a:latin typeface="Arial"/>
              <a:cs typeface="Arial"/>
            </a:endParaRPr>
          </a:p>
          <a:p>
            <a:pPr marL="285750" indent="-285750">
              <a:buFont typeface="Arial"/>
              <a:buChar char="•"/>
            </a:pPr>
            <a:r>
              <a:rPr lang="en-US" sz="2400" b="1">
                <a:latin typeface="Arial"/>
                <a:cs typeface="Arial"/>
              </a:rPr>
              <a:t>Model:</a:t>
            </a:r>
            <a:r>
              <a:rPr lang="en-US" sz="2400">
                <a:latin typeface="Arial"/>
                <a:cs typeface="Arial"/>
              </a:rPr>
              <a:t> DenseNet121 with custom classification head and dropout; progressively fine-tuned deeper layers for better feature adaptation.</a:t>
            </a:r>
            <a:endParaRPr lang="en-US"/>
          </a:p>
          <a:p>
            <a:pPr marL="285750" indent="-285750">
              <a:buFont typeface="Arial"/>
              <a:buChar char="•"/>
            </a:pPr>
            <a:endParaRPr lang="en-US" sz="2400">
              <a:latin typeface="Arial"/>
              <a:cs typeface="Arial"/>
            </a:endParaRPr>
          </a:p>
          <a:p>
            <a:pPr marL="285750" indent="-285750">
              <a:buFont typeface="Arial"/>
              <a:buChar char="•"/>
            </a:pPr>
            <a:r>
              <a:rPr lang="en-US" sz="2400" b="1">
                <a:latin typeface="Arial"/>
                <a:cs typeface="Arial"/>
              </a:rPr>
              <a:t>Validation:</a:t>
            </a:r>
            <a:r>
              <a:rPr lang="en-US" sz="2400">
                <a:latin typeface="Arial"/>
                <a:cs typeface="Arial"/>
              </a:rPr>
              <a:t> 5-Fold Cross-Validation </a:t>
            </a:r>
            <a:endParaRPr lang="en-US" sz="2400">
              <a:latin typeface="Consolas"/>
              <a:cs typeface="Arial" charset="0"/>
            </a:endParaRPr>
          </a:p>
          <a:p>
            <a:pPr marL="285750" indent="-285750">
              <a:buFont typeface="Arial"/>
              <a:buChar char="•"/>
            </a:pPr>
            <a:endParaRPr lang="en-US" sz="2400">
              <a:latin typeface="Consolas"/>
              <a:cs typeface="Arial"/>
            </a:endParaRPr>
          </a:p>
          <a:p>
            <a:pPr marL="285750" indent="-285750">
              <a:buFont typeface="Arial"/>
              <a:buChar char="•"/>
            </a:pPr>
            <a:r>
              <a:rPr lang="en-US" sz="2400" b="1">
                <a:latin typeface="Arial"/>
                <a:cs typeface="Arial"/>
              </a:rPr>
              <a:t>Training:</a:t>
            </a:r>
            <a:r>
              <a:rPr lang="en-US" sz="2400">
                <a:latin typeface="Arial"/>
                <a:cs typeface="Arial"/>
              </a:rPr>
              <a:t> Training1 used Adam, Training2 used </a:t>
            </a:r>
            <a:r>
              <a:rPr lang="en-US" sz="2400" err="1">
                <a:latin typeface="Arial"/>
                <a:cs typeface="Arial"/>
              </a:rPr>
              <a:t>AdamW</a:t>
            </a:r>
            <a:r>
              <a:rPr lang="en-US" sz="2400">
                <a:latin typeface="Arial"/>
                <a:cs typeface="Arial"/>
              </a:rPr>
              <a:t>; learning rate from 1×10⁻⁴ to 1×10⁻¹² with callbacks for early stopping &amp;  </a:t>
            </a:r>
            <a:r>
              <a:rPr lang="en-US" sz="2400" err="1">
                <a:latin typeface="Arial"/>
                <a:cs typeface="Arial"/>
              </a:rPr>
              <a:t>ReduceLRnplateau</a:t>
            </a:r>
          </a:p>
          <a:p>
            <a:pPr marL="285750" indent="-285750">
              <a:buFont typeface="Arial"/>
              <a:buChar char="•"/>
            </a:pPr>
            <a:endParaRPr lang="en-US" sz="2400">
              <a:latin typeface="Arial"/>
              <a:cs typeface="Arial"/>
            </a:endParaRPr>
          </a:p>
          <a:p>
            <a:pPr marL="285750" indent="-285750">
              <a:buFont typeface="Arial"/>
              <a:buChar char="•"/>
            </a:pPr>
            <a:r>
              <a:rPr lang="en-US" sz="2400" b="1">
                <a:latin typeface="Arial"/>
                <a:cs typeface="Arial"/>
              </a:rPr>
              <a:t>Environment:</a:t>
            </a:r>
            <a:r>
              <a:rPr lang="en-US" sz="2400">
                <a:latin typeface="Arial"/>
                <a:cs typeface="Arial"/>
              </a:rPr>
              <a:t> Google </a:t>
            </a:r>
            <a:r>
              <a:rPr lang="en-US" sz="2400" err="1">
                <a:latin typeface="Arial"/>
                <a:cs typeface="Arial"/>
              </a:rPr>
              <a:t>Colab</a:t>
            </a:r>
            <a:r>
              <a:rPr lang="en-US" sz="2400">
                <a:latin typeface="Arial"/>
                <a:cs typeface="Arial"/>
              </a:rPr>
              <a:t> with TensorFlow/</a:t>
            </a:r>
            <a:r>
              <a:rPr lang="en-US" sz="2400" err="1">
                <a:latin typeface="Arial"/>
                <a:cs typeface="Arial"/>
              </a:rPr>
              <a:t>Keras</a:t>
            </a:r>
            <a:r>
              <a:rPr lang="en-US" sz="2400">
                <a:latin typeface="Arial"/>
                <a:cs typeface="Arial"/>
              </a:rPr>
              <a:t>.</a:t>
            </a:r>
            <a:endParaRPr lang="en-US"/>
          </a:p>
          <a:p>
            <a:endParaRPr lang="en-US" sz="2400">
              <a:cs typeface="Arial"/>
            </a:endParaRPr>
          </a:p>
        </p:txBody>
      </p:sp>
    </p:spTree>
    <p:extLst>
      <p:ext uri="{BB962C8B-B14F-4D97-AF65-F5344CB8AC3E}">
        <p14:creationId xmlns:p14="http://schemas.microsoft.com/office/powerpoint/2010/main" val="1578544950"/>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1454D-4876-BD95-43C8-6131D4C4B1A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B216DCD-EE6B-C93F-5AD4-81E1A95E067F}"/>
              </a:ext>
            </a:extLst>
          </p:cNvPr>
          <p:cNvSpPr txBox="1"/>
          <p:nvPr/>
        </p:nvSpPr>
        <p:spPr>
          <a:xfrm>
            <a:off x="9227401" y="240760"/>
            <a:ext cx="2433174" cy="1569660"/>
          </a:xfrm>
          <a:prstGeom prst="rect">
            <a:avLst/>
          </a:prstGeom>
          <a:noFill/>
        </p:spPr>
        <p:txBody>
          <a:bodyPr wrap="square" lIns="91440" tIns="45720" rIns="91440" bIns="45720" rtlCol="0" anchor="t">
            <a:spAutoFit/>
          </a:bodyPr>
          <a:lstStyle/>
          <a:p>
            <a:pPr algn="just"/>
            <a:r>
              <a:rPr lang="en-IN" sz="2400" b="1">
                <a:solidFill>
                  <a:srgbClr val="D47D26"/>
                </a:solidFill>
                <a:latin typeface="Times New Roman"/>
                <a:cs typeface="Times New Roman"/>
              </a:rPr>
              <a:t>RESULTS</a:t>
            </a:r>
            <a:endParaRPr lang="en-IN" sz="2400">
              <a:solidFill>
                <a:srgbClr val="000000"/>
              </a:solidFill>
              <a:latin typeface="Times New Roman"/>
              <a:cs typeface="Times New Roman"/>
            </a:endParaRPr>
          </a:p>
          <a:p>
            <a:pPr algn="ctr"/>
            <a:endParaRPr lang="en-IN" sz="2400">
              <a:solidFill>
                <a:srgbClr val="000000"/>
              </a:solidFill>
              <a:latin typeface="Times New Roman"/>
              <a:cs typeface="Times New Roman"/>
            </a:endParaRPr>
          </a:p>
          <a:p>
            <a:pPr algn="just"/>
            <a:endParaRPr lang="en-IN" sz="2400">
              <a:solidFill>
                <a:srgbClr val="000000"/>
              </a:solidFill>
              <a:latin typeface="Times New Roman"/>
              <a:cs typeface="Times New Roman"/>
            </a:endParaRPr>
          </a:p>
          <a:p>
            <a:pPr algn="just"/>
            <a:endParaRPr lang="en-IN" sz="2400" b="1">
              <a:solidFill>
                <a:srgbClr val="D47D26"/>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FEB460AA-E54C-D619-98E6-0B04F25F47A6}"/>
              </a:ext>
            </a:extLst>
          </p:cNvPr>
          <p:cNvSpPr txBox="1"/>
          <p:nvPr/>
        </p:nvSpPr>
        <p:spPr>
          <a:xfrm>
            <a:off x="976455" y="1493545"/>
            <a:ext cx="9126638" cy="415498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latin typeface="Arial"/>
                <a:cs typeface="Arial"/>
              </a:rPr>
              <a:t>Training1 Configuration</a:t>
            </a:r>
          </a:p>
          <a:p>
            <a:endParaRPr lang="en-US" sz="2400" b="1">
              <a:latin typeface="Arial"/>
              <a:cs typeface="Arial"/>
            </a:endParaRPr>
          </a:p>
          <a:p>
            <a:pPr marL="228600" indent="-228600">
              <a:buFont typeface=""/>
              <a:buChar char="•"/>
            </a:pPr>
            <a:r>
              <a:rPr lang="en-US" sz="2400" b="1">
                <a:latin typeface="Arial"/>
                <a:cs typeface="Arial"/>
              </a:rPr>
              <a:t>Optimizer:</a:t>
            </a:r>
            <a:r>
              <a:rPr lang="en-US" sz="2400">
                <a:latin typeface="Arial"/>
                <a:cs typeface="Arial"/>
              </a:rPr>
              <a:t> Adam</a:t>
            </a:r>
            <a:br>
              <a:rPr lang="en-US" sz="2400"/>
            </a:br>
            <a:r>
              <a:rPr lang="en-US" sz="2400">
                <a:latin typeface="Arial"/>
                <a:cs typeface="Arial"/>
              </a:rPr>
              <a:t>Adaptive gradient algorithm combining momentum and </a:t>
            </a:r>
            <a:r>
              <a:rPr lang="en-US" sz="2400" err="1">
                <a:latin typeface="Arial"/>
                <a:cs typeface="Arial"/>
              </a:rPr>
              <a:t>RMSProp</a:t>
            </a:r>
            <a:r>
              <a:rPr lang="en-US" sz="2400">
                <a:latin typeface="Arial"/>
                <a:cs typeface="Arial"/>
              </a:rPr>
              <a:t> benefits.</a:t>
            </a:r>
          </a:p>
          <a:p>
            <a:pPr marL="228600" indent="-228600">
              <a:buFont typeface=""/>
              <a:buChar char="•"/>
            </a:pPr>
            <a:r>
              <a:rPr lang="en-US" sz="2400" b="1">
                <a:latin typeface="Arial"/>
                <a:cs typeface="Arial"/>
              </a:rPr>
              <a:t>Initial Learning Rate:</a:t>
            </a:r>
            <a:r>
              <a:rPr lang="en-US" sz="2400">
                <a:latin typeface="Arial"/>
                <a:cs typeface="Arial"/>
              </a:rPr>
              <a:t> 1×10⁻⁴  </a:t>
            </a:r>
            <a:r>
              <a:rPr lang="en-US" sz="2400" b="1">
                <a:latin typeface="Arial"/>
                <a:cs typeface="Arial"/>
              </a:rPr>
              <a:t>Minimum LR:</a:t>
            </a:r>
            <a:r>
              <a:rPr lang="en-US" sz="2400">
                <a:latin typeface="Arial"/>
                <a:cs typeface="Arial"/>
              </a:rPr>
              <a:t> 1×10⁻¹²</a:t>
            </a:r>
            <a:br>
              <a:rPr lang="en-US" sz="2400"/>
            </a:br>
            <a:r>
              <a:rPr lang="en-US" sz="2400">
                <a:latin typeface="Arial"/>
                <a:cs typeface="Arial"/>
              </a:rPr>
              <a:t>Balanced learning pace, gradually reduced during plateau phases.</a:t>
            </a:r>
          </a:p>
          <a:p>
            <a:endParaRPr lang="en-US" sz="2400">
              <a:cs typeface="Arial"/>
            </a:endParaRPr>
          </a:p>
          <a:p>
            <a:pPr marL="228600" indent="-228600">
              <a:buFont typeface=""/>
              <a:buChar char="•"/>
            </a:pPr>
            <a:endParaRPr lang="en-US" sz="2400">
              <a:cs typeface="Arial"/>
            </a:endParaRPr>
          </a:p>
          <a:p>
            <a:pPr marL="228600" indent="-228600">
              <a:buFont typeface=""/>
              <a:buChar char="•"/>
            </a:pPr>
            <a:endParaRPr lang="en-US" sz="2400">
              <a:cs typeface="Arial"/>
            </a:endParaRPr>
          </a:p>
        </p:txBody>
      </p:sp>
    </p:spTree>
    <p:extLst>
      <p:ext uri="{BB962C8B-B14F-4D97-AF65-F5344CB8AC3E}">
        <p14:creationId xmlns:p14="http://schemas.microsoft.com/office/powerpoint/2010/main" val="3745065089"/>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5085BBA0-570B-24E2-D539-658860D92E80}"/>
              </a:ext>
            </a:extLst>
          </p:cNvPr>
          <p:cNvGraphicFramePr>
            <a:graphicFrameLocks noGrp="1"/>
          </p:cNvGraphicFramePr>
          <p:nvPr>
            <p:extLst>
              <p:ext uri="{D42A27DB-BD31-4B8C-83A1-F6EECF244321}">
                <p14:modId xmlns:p14="http://schemas.microsoft.com/office/powerpoint/2010/main" val="3212761185"/>
              </p:ext>
            </p:extLst>
          </p:nvPr>
        </p:nvGraphicFramePr>
        <p:xfrm>
          <a:off x="201446" y="2013768"/>
          <a:ext cx="10282854" cy="2880360"/>
        </p:xfrm>
        <a:graphic>
          <a:graphicData uri="http://schemas.openxmlformats.org/drawingml/2006/table">
            <a:tbl>
              <a:tblPr bandRow="1">
                <a:tableStyleId>{5C22544A-7EE6-4342-B048-85BDC9FD1C3A}</a:tableStyleId>
              </a:tblPr>
              <a:tblGrid>
                <a:gridCol w="3427618">
                  <a:extLst>
                    <a:ext uri="{9D8B030D-6E8A-4147-A177-3AD203B41FA5}">
                      <a16:colId xmlns:a16="http://schemas.microsoft.com/office/drawing/2014/main" val="3095110461"/>
                    </a:ext>
                  </a:extLst>
                </a:gridCol>
                <a:gridCol w="3427618">
                  <a:extLst>
                    <a:ext uri="{9D8B030D-6E8A-4147-A177-3AD203B41FA5}">
                      <a16:colId xmlns:a16="http://schemas.microsoft.com/office/drawing/2014/main" val="2448452683"/>
                    </a:ext>
                  </a:extLst>
                </a:gridCol>
                <a:gridCol w="3427618">
                  <a:extLst>
                    <a:ext uri="{9D8B030D-6E8A-4147-A177-3AD203B41FA5}">
                      <a16:colId xmlns:a16="http://schemas.microsoft.com/office/drawing/2014/main" val="3908632501"/>
                    </a:ext>
                  </a:extLst>
                </a:gridCol>
              </a:tblGrid>
              <a:tr h="356957">
                <a:tc>
                  <a:txBody>
                    <a:bodyPr/>
                    <a:lstStyle/>
                    <a:p>
                      <a:pPr algn="l">
                        <a:buNone/>
                      </a:pPr>
                      <a:r>
                        <a:rPr lang="en-US" b="1"/>
                        <a:t>Training Stage</a:t>
                      </a:r>
                      <a:endParaRPr lang="en-US"/>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l">
                        <a:buNone/>
                      </a:pPr>
                      <a:r>
                        <a:rPr lang="en-US" b="1"/>
                        <a:t>Description</a:t>
                      </a:r>
                      <a:endParaRPr lang="en-US"/>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buNone/>
                      </a:pPr>
                      <a:r>
                        <a:rPr lang="en-US" b="1"/>
                        <a:t>Mean Validation Accuracy</a:t>
                      </a:r>
                      <a:endParaRPr lang="en-US"/>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4109198389"/>
                  </a:ext>
                </a:extLst>
              </a:tr>
              <a:tr h="885783">
                <a:tc>
                  <a:txBody>
                    <a:bodyPr/>
                    <a:lstStyle/>
                    <a:p>
                      <a:pPr algn="l">
                        <a:buNone/>
                      </a:pPr>
                      <a:r>
                        <a:rPr lang="en-US" b="1"/>
                        <a:t>Initial </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l">
                        <a:buNone/>
                      </a:pPr>
                      <a:r>
                        <a:rPr lang="en-US"/>
                        <a:t>DenseNet121 with frozen ImageNet weights trained only on top layers</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buNone/>
                      </a:pPr>
                      <a:r>
                        <a:rPr lang="en-US" b="1"/>
                        <a:t>97.45%</a:t>
                      </a:r>
                      <a:endParaRPr lang="en-US"/>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2484568735"/>
                  </a:ext>
                </a:extLst>
              </a:tr>
              <a:tr h="885783">
                <a:tc>
                  <a:txBody>
                    <a:bodyPr/>
                    <a:lstStyle/>
                    <a:p>
                      <a:pPr algn="l">
                        <a:buNone/>
                      </a:pPr>
                      <a:r>
                        <a:rPr lang="en-US" b="1"/>
                        <a:t>Fine-Tuned </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l">
                        <a:buNone/>
                      </a:pPr>
                      <a:r>
                        <a:rPr lang="en-US"/>
                        <a:t>Partial unfreezing of deeper </a:t>
                      </a:r>
                      <a:r>
                        <a:rPr lang="en-US" err="1"/>
                        <a:t>DenseNet</a:t>
                      </a:r>
                      <a:r>
                        <a:rPr lang="en-US"/>
                        <a:t> layers to adapt features</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buNone/>
                      </a:pPr>
                      <a:r>
                        <a:rPr lang="en-US" b="1"/>
                        <a:t>98.97%</a:t>
                      </a:r>
                      <a:r>
                        <a:rPr lang="en-US"/>
                        <a:t> </a:t>
                      </a:r>
                      <a:r>
                        <a:rPr lang="en-US" i="1"/>
                        <a:t>(Training1 – Adam)</a:t>
                      </a:r>
                      <a:endParaRPr lang="en-US"/>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2459538492"/>
                  </a:ext>
                </a:extLst>
              </a:tr>
              <a:tr h="685800">
                <a:tc>
                  <a:txBody>
                    <a:bodyPr/>
                    <a:lstStyle/>
                    <a:p>
                      <a:pPr algn="l">
                        <a:buNone/>
                      </a:pPr>
                      <a:r>
                        <a:rPr lang="en-US" b="1"/>
                        <a:t>Extended </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l">
                        <a:buNone/>
                      </a:pPr>
                      <a:r>
                        <a:rPr lang="en-US"/>
                        <a:t>Full layer unfreezing and optimized training with Adam</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buNone/>
                      </a:pPr>
                      <a:r>
                        <a:rPr lang="en-US" b="1"/>
                        <a:t>99.10%</a:t>
                      </a:r>
                      <a:endParaRPr lang="en-US"/>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3038941808"/>
                  </a:ext>
                </a:extLst>
              </a:tr>
            </a:tbl>
          </a:graphicData>
        </a:graphic>
      </p:graphicFrame>
      <p:sp>
        <p:nvSpPr>
          <p:cNvPr id="7" name="TextBox 6">
            <a:extLst>
              <a:ext uri="{FF2B5EF4-FFF2-40B4-BE49-F238E27FC236}">
                <a16:creationId xmlns:a16="http://schemas.microsoft.com/office/drawing/2014/main" id="{138517D3-26EE-50BA-11D4-5418380DC511}"/>
              </a:ext>
            </a:extLst>
          </p:cNvPr>
          <p:cNvSpPr txBox="1"/>
          <p:nvPr/>
        </p:nvSpPr>
        <p:spPr>
          <a:xfrm>
            <a:off x="356934" y="1255423"/>
            <a:ext cx="908336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Arial"/>
                <a:cs typeface="Arial"/>
              </a:rPr>
              <a:t>Training 1 Adam Optimizer </a:t>
            </a:r>
            <a:endParaRPr lang="en-US" b="1"/>
          </a:p>
        </p:txBody>
      </p:sp>
      <p:sp>
        <p:nvSpPr>
          <p:cNvPr id="3" name="TextBox 2">
            <a:extLst>
              <a:ext uri="{FF2B5EF4-FFF2-40B4-BE49-F238E27FC236}">
                <a16:creationId xmlns:a16="http://schemas.microsoft.com/office/drawing/2014/main" id="{5F8970BD-2DE3-F675-7852-ADAC3A8164CE}"/>
              </a:ext>
            </a:extLst>
          </p:cNvPr>
          <p:cNvSpPr txBox="1"/>
          <p:nvPr/>
        </p:nvSpPr>
        <p:spPr>
          <a:xfrm>
            <a:off x="9000734" y="229346"/>
            <a:ext cx="2053634" cy="12115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IN" sz="2400" b="1">
                <a:solidFill>
                  <a:srgbClr val="D47D26"/>
                </a:solidFill>
                <a:latin typeface="Times New Roman"/>
                <a:cs typeface="Segoe UI"/>
              </a:rPr>
              <a:t>RESULTS</a:t>
            </a:r>
            <a:r>
              <a:rPr lang="en-IN" sz="2400">
                <a:latin typeface="Times New Roman"/>
                <a:cs typeface="Segoe UI"/>
              </a:rPr>
              <a:t>​</a:t>
            </a:r>
          </a:p>
          <a:p>
            <a:pPr algn="ctr"/>
            <a:r>
              <a:rPr lang="en-IN" sz="2400">
                <a:latin typeface="Times New Roman"/>
                <a:cs typeface="Segoe UI"/>
              </a:rPr>
              <a:t>​</a:t>
            </a:r>
          </a:p>
          <a:p>
            <a:pPr algn="just"/>
            <a:r>
              <a:rPr lang="en-IN" sz="2400">
                <a:latin typeface="Times New Roman"/>
                <a:cs typeface="Segoe UI"/>
              </a:rPr>
              <a:t>​</a:t>
            </a:r>
          </a:p>
        </p:txBody>
      </p:sp>
    </p:spTree>
    <p:extLst>
      <p:ext uri="{BB962C8B-B14F-4D97-AF65-F5344CB8AC3E}">
        <p14:creationId xmlns:p14="http://schemas.microsoft.com/office/powerpoint/2010/main" val="3952821068"/>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graph with different colored lines&#10;&#10;AI-generated content may be incorrect.">
            <a:extLst>
              <a:ext uri="{FF2B5EF4-FFF2-40B4-BE49-F238E27FC236}">
                <a16:creationId xmlns:a16="http://schemas.microsoft.com/office/drawing/2014/main" id="{F7BFDB5A-F8C6-661F-4737-F61DE528009C}"/>
              </a:ext>
            </a:extLst>
          </p:cNvPr>
          <p:cNvPicPr>
            <a:picLocks noChangeAspect="1"/>
          </p:cNvPicPr>
          <p:nvPr/>
        </p:nvPicPr>
        <p:blipFill>
          <a:blip r:embed="rId2"/>
          <a:stretch>
            <a:fillRect/>
          </a:stretch>
        </p:blipFill>
        <p:spPr>
          <a:xfrm>
            <a:off x="0" y="995468"/>
            <a:ext cx="10795550" cy="4867063"/>
          </a:xfrm>
          <a:prstGeom prst="rect">
            <a:avLst/>
          </a:prstGeom>
        </p:spPr>
      </p:pic>
    </p:spTree>
    <p:extLst>
      <p:ext uri="{BB962C8B-B14F-4D97-AF65-F5344CB8AC3E}">
        <p14:creationId xmlns:p14="http://schemas.microsoft.com/office/powerpoint/2010/main" val="356380653"/>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graph with different colored lines&#10;&#10;AI-generated content may be incorrect.">
            <a:extLst>
              <a:ext uri="{FF2B5EF4-FFF2-40B4-BE49-F238E27FC236}">
                <a16:creationId xmlns:a16="http://schemas.microsoft.com/office/drawing/2014/main" id="{2256EE06-405D-D359-C29D-348C701F708D}"/>
              </a:ext>
            </a:extLst>
          </p:cNvPr>
          <p:cNvPicPr>
            <a:picLocks noChangeAspect="1"/>
          </p:cNvPicPr>
          <p:nvPr/>
        </p:nvPicPr>
        <p:blipFill>
          <a:blip r:embed="rId2"/>
          <a:stretch>
            <a:fillRect/>
          </a:stretch>
        </p:blipFill>
        <p:spPr>
          <a:xfrm>
            <a:off x="0" y="947881"/>
            <a:ext cx="10795550" cy="4962238"/>
          </a:xfrm>
          <a:prstGeom prst="rect">
            <a:avLst/>
          </a:prstGeom>
        </p:spPr>
      </p:pic>
    </p:spTree>
    <p:extLst>
      <p:ext uri="{BB962C8B-B14F-4D97-AF65-F5344CB8AC3E}">
        <p14:creationId xmlns:p14="http://schemas.microsoft.com/office/powerpoint/2010/main" val="2334660966"/>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71DF37B-3DA6-28E8-3D41-666847A5EB76}"/>
              </a:ext>
            </a:extLst>
          </p:cNvPr>
          <p:cNvSpPr txBox="1"/>
          <p:nvPr/>
        </p:nvSpPr>
        <p:spPr>
          <a:xfrm>
            <a:off x="332317" y="1181576"/>
            <a:ext cx="10166475" cy="7015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9" name="TextBox 8">
            <a:extLst>
              <a:ext uri="{FF2B5EF4-FFF2-40B4-BE49-F238E27FC236}">
                <a16:creationId xmlns:a16="http://schemas.microsoft.com/office/drawing/2014/main" id="{8DFD42B1-3A4A-5CCC-948D-F9D6EEFD4EFC}"/>
              </a:ext>
            </a:extLst>
          </p:cNvPr>
          <p:cNvSpPr txBox="1"/>
          <p:nvPr/>
        </p:nvSpPr>
        <p:spPr>
          <a:xfrm>
            <a:off x="406166" y="1193884"/>
            <a:ext cx="9341834" cy="276998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cs typeface="Arial" charset="0"/>
            </a:endParaRPr>
          </a:p>
          <a:p>
            <a:r>
              <a:rPr lang="en-US" sz="2400" b="1">
                <a:latin typeface="Arial"/>
                <a:cs typeface="Arial"/>
              </a:rPr>
              <a:t>Training2 Configuration</a:t>
            </a:r>
            <a:endParaRPr lang="en-US" sz="2400">
              <a:latin typeface="Arial"/>
              <a:cs typeface="Arial"/>
            </a:endParaRPr>
          </a:p>
          <a:p>
            <a:pPr marL="228600" indent="-228600">
              <a:buFont typeface="Arial"/>
              <a:buChar char="•"/>
            </a:pPr>
            <a:r>
              <a:rPr lang="en-US" sz="2400" b="1">
                <a:latin typeface="Arial"/>
                <a:cs typeface="Arial"/>
              </a:rPr>
              <a:t>Optimizer:</a:t>
            </a:r>
            <a:r>
              <a:rPr lang="en-US" sz="2400">
                <a:latin typeface="Arial"/>
                <a:cs typeface="Arial"/>
              </a:rPr>
              <a:t> </a:t>
            </a:r>
            <a:r>
              <a:rPr lang="en-US" sz="2400" err="1">
                <a:latin typeface="Arial"/>
                <a:cs typeface="Arial"/>
              </a:rPr>
              <a:t>Adamw</a:t>
            </a:r>
          </a:p>
          <a:p>
            <a:pPr marL="228600" indent="-228600">
              <a:buFont typeface="Arial"/>
              <a:buChar char="•"/>
            </a:pPr>
            <a:endParaRPr lang="en-US" sz="2400">
              <a:latin typeface="Arial"/>
              <a:cs typeface="Arial"/>
            </a:endParaRPr>
          </a:p>
          <a:p>
            <a:pPr marL="228600" indent="-228600">
              <a:buFont typeface="Arial"/>
              <a:buChar char="•"/>
            </a:pPr>
            <a:endParaRPr lang="en-US" sz="2400">
              <a:latin typeface="Arial"/>
              <a:cs typeface="Arial"/>
            </a:endParaRPr>
          </a:p>
          <a:p>
            <a:pPr marL="228600" indent="-228600">
              <a:buFont typeface="Arial"/>
              <a:buChar char="•"/>
            </a:pPr>
            <a:endParaRPr lang="en-US" sz="2400">
              <a:latin typeface="Arial"/>
              <a:cs typeface="Arial"/>
            </a:endParaRPr>
          </a:p>
          <a:p>
            <a:endParaRPr lang="en-US">
              <a:latin typeface="Arial"/>
              <a:cs typeface="Arial"/>
            </a:endParaRPr>
          </a:p>
          <a:p>
            <a:r>
              <a:rPr lang="en-US">
                <a:latin typeface="Arial"/>
                <a:cs typeface="Arial"/>
              </a:rPr>
              <a:t>  </a:t>
            </a:r>
            <a:endParaRPr lang="en-US">
              <a:cs typeface="Arial"/>
            </a:endParaRPr>
          </a:p>
        </p:txBody>
      </p:sp>
      <p:graphicFrame>
        <p:nvGraphicFramePr>
          <p:cNvPr id="11" name="Table 10">
            <a:extLst>
              <a:ext uri="{FF2B5EF4-FFF2-40B4-BE49-F238E27FC236}">
                <a16:creationId xmlns:a16="http://schemas.microsoft.com/office/drawing/2014/main" id="{6891CCE8-DCAE-75B3-9493-48F1DCAD1BAC}"/>
              </a:ext>
            </a:extLst>
          </p:cNvPr>
          <p:cNvGraphicFramePr>
            <a:graphicFrameLocks noGrp="1"/>
          </p:cNvGraphicFramePr>
          <p:nvPr>
            <p:extLst>
              <p:ext uri="{D42A27DB-BD31-4B8C-83A1-F6EECF244321}">
                <p14:modId xmlns:p14="http://schemas.microsoft.com/office/powerpoint/2010/main" val="630857297"/>
              </p:ext>
            </p:extLst>
          </p:nvPr>
        </p:nvGraphicFramePr>
        <p:xfrm>
          <a:off x="439461" y="2582740"/>
          <a:ext cx="9963435" cy="3017520"/>
        </p:xfrm>
        <a:graphic>
          <a:graphicData uri="http://schemas.openxmlformats.org/drawingml/2006/table">
            <a:tbl>
              <a:tblPr bandRow="1">
                <a:tableStyleId>{5C22544A-7EE6-4342-B048-85BDC9FD1C3A}</a:tableStyleId>
              </a:tblPr>
              <a:tblGrid>
                <a:gridCol w="3321145">
                  <a:extLst>
                    <a:ext uri="{9D8B030D-6E8A-4147-A177-3AD203B41FA5}">
                      <a16:colId xmlns:a16="http://schemas.microsoft.com/office/drawing/2014/main" val="3695625464"/>
                    </a:ext>
                  </a:extLst>
                </a:gridCol>
                <a:gridCol w="3321145">
                  <a:extLst>
                    <a:ext uri="{9D8B030D-6E8A-4147-A177-3AD203B41FA5}">
                      <a16:colId xmlns:a16="http://schemas.microsoft.com/office/drawing/2014/main" val="2858995929"/>
                    </a:ext>
                  </a:extLst>
                </a:gridCol>
                <a:gridCol w="3321145">
                  <a:extLst>
                    <a:ext uri="{9D8B030D-6E8A-4147-A177-3AD203B41FA5}">
                      <a16:colId xmlns:a16="http://schemas.microsoft.com/office/drawing/2014/main" val="3261903351"/>
                    </a:ext>
                  </a:extLst>
                </a:gridCol>
              </a:tblGrid>
              <a:tr h="0">
                <a:tc>
                  <a:txBody>
                    <a:bodyPr/>
                    <a:lstStyle/>
                    <a:p>
                      <a:pPr algn="l">
                        <a:buNone/>
                      </a:pPr>
                      <a:r>
                        <a:rPr lang="en-US" b="1"/>
                        <a:t>Training Stage</a:t>
                      </a:r>
                      <a:endParaRPr lang="en-US"/>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l">
                        <a:buNone/>
                      </a:pPr>
                      <a:r>
                        <a:rPr lang="en-US" b="1"/>
                        <a:t>Description</a:t>
                      </a:r>
                      <a:endParaRPr lang="en-US"/>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buNone/>
                      </a:pPr>
                      <a:r>
                        <a:rPr lang="en-US" b="1"/>
                        <a:t>Mean Validation Accuracy</a:t>
                      </a:r>
                      <a:endParaRPr lang="en-US"/>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3517450422"/>
                  </a:ext>
                </a:extLst>
              </a:tr>
              <a:tr h="0">
                <a:tc>
                  <a:txBody>
                    <a:bodyPr/>
                    <a:lstStyle/>
                    <a:p>
                      <a:pPr algn="l">
                        <a:buNone/>
                      </a:pPr>
                      <a:r>
                        <a:rPr lang="en-US" b="1"/>
                        <a:t>Cleaned Dataset (</a:t>
                      </a:r>
                      <a:r>
                        <a:rPr lang="en-US" b="1" err="1"/>
                        <a:t>AdamW</a:t>
                      </a:r>
                      <a:r>
                        <a:rPr lang="en-US" b="1"/>
                        <a:t> Optimizer)</a:t>
                      </a:r>
                      <a:endParaRPr lang="en-US"/>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l">
                        <a:buNone/>
                      </a:pPr>
                      <a:r>
                        <a:rPr lang="en-US"/>
                        <a:t>Training performed on cleaned dataset (reduced white patches in </a:t>
                      </a:r>
                      <a:r>
                        <a:rPr lang="en-US" i="1" err="1"/>
                        <a:t>lung_aca</a:t>
                      </a:r>
                      <a:r>
                        <a:rPr lang="en-US"/>
                        <a:t>) using </a:t>
                      </a:r>
                      <a:r>
                        <a:rPr lang="en-US" err="1"/>
                        <a:t>AdamW</a:t>
                      </a:r>
                      <a:r>
                        <a:rPr lang="en-US"/>
                        <a:t> for better weight decay and generalization</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buNone/>
                      </a:pPr>
                      <a:r>
                        <a:rPr lang="en-US" b="1"/>
                        <a:t>99.75%</a:t>
                      </a:r>
                      <a:endParaRPr lang="en-US"/>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3193925301"/>
                  </a:ext>
                </a:extLst>
              </a:tr>
              <a:tr h="0">
                <a:tc>
                  <a:txBody>
                    <a:bodyPr/>
                    <a:lstStyle/>
                    <a:p>
                      <a:pPr algn="l">
                        <a:buNone/>
                      </a:pPr>
                      <a:r>
                        <a:rPr lang="en-US" b="1"/>
                        <a:t>Final Fine-Tuned Stage</a:t>
                      </a:r>
                      <a:endParaRPr lang="en-US"/>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l">
                        <a:buNone/>
                      </a:pPr>
                      <a:r>
                        <a:rPr lang="en-US"/>
                        <a:t>Full fine-tuning of DenseNet121 with learning rate scheduling and early stopping for stability</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buNone/>
                      </a:pPr>
                      <a:r>
                        <a:rPr lang="en-US" b="1"/>
                        <a:t>99.75% (Training2 – </a:t>
                      </a:r>
                      <a:r>
                        <a:rPr lang="en-US" b="1" err="1"/>
                        <a:t>AdamW</a:t>
                      </a:r>
                      <a:r>
                        <a:rPr lang="en-US" b="1"/>
                        <a:t>)</a:t>
                      </a:r>
                      <a:endParaRPr lang="en-US"/>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1461444700"/>
                  </a:ext>
                </a:extLst>
              </a:tr>
            </a:tbl>
          </a:graphicData>
        </a:graphic>
      </p:graphicFrame>
    </p:spTree>
    <p:extLst>
      <p:ext uri="{BB962C8B-B14F-4D97-AF65-F5344CB8AC3E}">
        <p14:creationId xmlns:p14="http://schemas.microsoft.com/office/powerpoint/2010/main" val="2274684791"/>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graph with colored lines&#10;&#10;AI-generated content may be incorrect.">
            <a:extLst>
              <a:ext uri="{FF2B5EF4-FFF2-40B4-BE49-F238E27FC236}">
                <a16:creationId xmlns:a16="http://schemas.microsoft.com/office/drawing/2014/main" id="{92B35C06-8185-40AA-9EA4-B78C22DE3016}"/>
              </a:ext>
            </a:extLst>
          </p:cNvPr>
          <p:cNvPicPr>
            <a:picLocks noChangeAspect="1"/>
          </p:cNvPicPr>
          <p:nvPr/>
        </p:nvPicPr>
        <p:blipFill>
          <a:blip r:embed="rId2"/>
          <a:stretch>
            <a:fillRect/>
          </a:stretch>
        </p:blipFill>
        <p:spPr>
          <a:xfrm>
            <a:off x="0" y="989694"/>
            <a:ext cx="10795550" cy="4878611"/>
          </a:xfrm>
          <a:prstGeom prst="rect">
            <a:avLst/>
          </a:prstGeom>
        </p:spPr>
      </p:pic>
    </p:spTree>
    <p:extLst>
      <p:ext uri="{BB962C8B-B14F-4D97-AF65-F5344CB8AC3E}">
        <p14:creationId xmlns:p14="http://schemas.microsoft.com/office/powerpoint/2010/main" val="4069930164"/>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15A53AE-AE75-10C1-FBF9-CB67FA576512}"/>
              </a:ext>
            </a:extLst>
          </p:cNvPr>
          <p:cNvPicPr>
            <a:picLocks noChangeAspect="1"/>
          </p:cNvPicPr>
          <p:nvPr/>
        </p:nvPicPr>
        <p:blipFill>
          <a:blip r:embed="rId2"/>
          <a:stretch>
            <a:fillRect/>
          </a:stretch>
        </p:blipFill>
        <p:spPr>
          <a:xfrm>
            <a:off x="0" y="1084179"/>
            <a:ext cx="10795550" cy="4689641"/>
          </a:xfrm>
          <a:prstGeom prst="rect">
            <a:avLst/>
          </a:prstGeom>
        </p:spPr>
      </p:pic>
    </p:spTree>
    <p:extLst>
      <p:ext uri="{BB962C8B-B14F-4D97-AF65-F5344CB8AC3E}">
        <p14:creationId xmlns:p14="http://schemas.microsoft.com/office/powerpoint/2010/main" val="1487245508"/>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9181BE-596E-4B2D-31B7-4B453AEB71B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1EA5720-94B9-8AB8-4649-D8EF58A89638}"/>
              </a:ext>
            </a:extLst>
          </p:cNvPr>
          <p:cNvSpPr txBox="1"/>
          <p:nvPr/>
        </p:nvSpPr>
        <p:spPr>
          <a:xfrm>
            <a:off x="5474730" y="188640"/>
            <a:ext cx="5464198" cy="461665"/>
          </a:xfrm>
          <a:prstGeom prst="rect">
            <a:avLst/>
          </a:prstGeom>
          <a:noFill/>
        </p:spPr>
        <p:txBody>
          <a:bodyPr wrap="square" lIns="91440" tIns="45720" rIns="91440" bIns="45720" rtlCol="0" anchor="t">
            <a:spAutoFit/>
          </a:bodyPr>
          <a:lstStyle/>
          <a:p>
            <a:pPr algn="just"/>
            <a:r>
              <a:rPr lang="en-IN" sz="2400" b="1">
                <a:solidFill>
                  <a:srgbClr val="D47D26"/>
                </a:solidFill>
                <a:latin typeface="Times New Roman"/>
                <a:cs typeface="Times New Roman"/>
              </a:rPr>
              <a:t>IMPLEMENTATION &amp;WORK DONE</a:t>
            </a:r>
            <a:endParaRPr lang="en-IN">
              <a:latin typeface="Times New Roman"/>
              <a:cs typeface="Times New Roman"/>
            </a:endParaRPr>
          </a:p>
        </p:txBody>
      </p:sp>
      <p:sp>
        <p:nvSpPr>
          <p:cNvPr id="2" name="TextBox 1">
            <a:extLst>
              <a:ext uri="{FF2B5EF4-FFF2-40B4-BE49-F238E27FC236}">
                <a16:creationId xmlns:a16="http://schemas.microsoft.com/office/drawing/2014/main" id="{70510D76-C95D-68B1-450B-184052AB4CA6}"/>
              </a:ext>
            </a:extLst>
          </p:cNvPr>
          <p:cNvSpPr txBox="1"/>
          <p:nvPr/>
        </p:nvSpPr>
        <p:spPr>
          <a:xfrm>
            <a:off x="174885" y="926795"/>
            <a:ext cx="10452726"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Arial"/>
                <a:cs typeface="Arial"/>
              </a:rPr>
              <a:t>Model 4 – MobileNetV2</a:t>
            </a:r>
            <a:endParaRPr lang="en-US"/>
          </a:p>
          <a:p>
            <a:endParaRPr lang="en-US" b="1">
              <a:latin typeface="Arial"/>
              <a:cs typeface="Arial"/>
            </a:endParaRPr>
          </a:p>
          <a:p>
            <a:r>
              <a:rPr lang="en-US">
                <a:latin typeface="Arial"/>
                <a:cs typeface="Arial"/>
              </a:rPr>
              <a:t>1.</a:t>
            </a:r>
            <a:r>
              <a:rPr lang="en-US" b="1">
                <a:latin typeface="Arial"/>
                <a:cs typeface="Arial"/>
              </a:rPr>
              <a:t>Dataset &amp; Preprocessing</a:t>
            </a:r>
            <a:endParaRPr lang="en-US">
              <a:cs typeface="Arial"/>
            </a:endParaRPr>
          </a:p>
          <a:p>
            <a:pPr marL="742950" lvl="1" indent="-285750">
              <a:buFont typeface="Courier New"/>
              <a:buChar char="o"/>
            </a:pPr>
            <a:r>
              <a:rPr lang="en-US">
                <a:latin typeface="Arial"/>
                <a:cs typeface="Arial"/>
              </a:rPr>
              <a:t>LC25000: </a:t>
            </a:r>
            <a:r>
              <a:rPr lang="en-US" err="1">
                <a:latin typeface="Arial"/>
                <a:cs typeface="Arial"/>
              </a:rPr>
              <a:t>lung_aca</a:t>
            </a:r>
            <a:r>
              <a:rPr lang="en-US">
                <a:latin typeface="Arial"/>
                <a:cs typeface="Arial"/>
              </a:rPr>
              <a:t> &amp; </a:t>
            </a:r>
            <a:r>
              <a:rPr lang="en-US" err="1">
                <a:latin typeface="Arial"/>
                <a:cs typeface="Arial"/>
              </a:rPr>
              <a:t>lung_scc</a:t>
            </a:r>
            <a:r>
              <a:rPr lang="en-US">
                <a:latin typeface="Arial"/>
                <a:cs typeface="Arial"/>
              </a:rPr>
              <a:t> </a:t>
            </a:r>
            <a:endParaRPr lang="en-US" err="1">
              <a:cs typeface="Arial" charset="0"/>
            </a:endParaRPr>
          </a:p>
          <a:p>
            <a:pPr marL="742950" lvl="1" indent="-285750">
              <a:buFont typeface="Courier New"/>
              <a:buChar char="o"/>
            </a:pPr>
            <a:r>
              <a:rPr lang="en-US">
                <a:latin typeface="Arial"/>
                <a:cs typeface="Arial"/>
              </a:rPr>
              <a:t>Manual cleaning, resized 224x224, normalized</a:t>
            </a:r>
            <a:endParaRPr lang="en-US">
              <a:cs typeface="Arial" charset="0"/>
            </a:endParaRPr>
          </a:p>
          <a:p>
            <a:r>
              <a:rPr lang="en-US">
                <a:latin typeface="Arial"/>
                <a:cs typeface="Arial"/>
              </a:rPr>
              <a:t>2.</a:t>
            </a:r>
            <a:r>
              <a:rPr lang="en-US" b="1">
                <a:latin typeface="Arial"/>
                <a:cs typeface="Arial"/>
              </a:rPr>
              <a:t>Model Architecture</a:t>
            </a:r>
            <a:endParaRPr lang="en-US"/>
          </a:p>
          <a:p>
            <a:pPr marL="742950" lvl="1" indent="-285750">
              <a:buFont typeface="Courier New"/>
              <a:buChar char="o"/>
            </a:pPr>
            <a:r>
              <a:rPr lang="en-US">
                <a:latin typeface="Arial"/>
                <a:cs typeface="Arial"/>
              </a:rPr>
              <a:t>Pretrained MobileNetV2 (ImageNet)</a:t>
            </a:r>
            <a:endParaRPr lang="en-US">
              <a:cs typeface="Arial" charset="0"/>
            </a:endParaRPr>
          </a:p>
          <a:p>
            <a:pPr marL="742950" lvl="1" indent="-285750">
              <a:buFont typeface="Courier New"/>
              <a:buChar char="o"/>
            </a:pPr>
            <a:r>
              <a:rPr lang="en-US">
                <a:latin typeface="Arial"/>
                <a:cs typeface="Arial"/>
              </a:rPr>
              <a:t>Global Avg </a:t>
            </a:r>
            <a:r>
              <a:rPr lang="en-US" err="1">
                <a:latin typeface="Arial"/>
                <a:cs typeface="Arial"/>
              </a:rPr>
              <a:t>Pooling→Dropout</a:t>
            </a:r>
            <a:r>
              <a:rPr lang="en-US">
                <a:latin typeface="Arial"/>
                <a:cs typeface="Arial"/>
              </a:rPr>
              <a:t>(0.4) → Dense(128, </a:t>
            </a:r>
            <a:r>
              <a:rPr lang="en-US" err="1">
                <a:latin typeface="Arial"/>
                <a:cs typeface="Arial"/>
              </a:rPr>
              <a:t>ReLU</a:t>
            </a:r>
            <a:r>
              <a:rPr lang="en-US">
                <a:latin typeface="Arial"/>
                <a:cs typeface="Arial"/>
              </a:rPr>
              <a:t>) + Dropout(0.4)→Sigmoid output</a:t>
            </a:r>
            <a:endParaRPr lang="en-US">
              <a:cs typeface="Arial" charset="0"/>
            </a:endParaRPr>
          </a:p>
          <a:p>
            <a:r>
              <a:rPr lang="en-US">
                <a:latin typeface="Arial"/>
                <a:cs typeface="Arial"/>
              </a:rPr>
              <a:t>3.</a:t>
            </a:r>
            <a:r>
              <a:rPr lang="en-US" b="1">
                <a:latin typeface="Arial"/>
                <a:cs typeface="Arial"/>
              </a:rPr>
              <a:t>Training</a:t>
            </a:r>
            <a:endParaRPr lang="en-US"/>
          </a:p>
          <a:p>
            <a:pPr marL="742950" lvl="1" indent="-285750">
              <a:buFont typeface="Courier New"/>
              <a:buChar char="o"/>
            </a:pPr>
            <a:endParaRPr lang="en-US">
              <a:cs typeface="Arial" charset="0"/>
            </a:endParaRPr>
          </a:p>
          <a:p>
            <a:endParaRPr lang="en-US" b="1">
              <a:cs typeface="Arial"/>
            </a:endParaRPr>
          </a:p>
        </p:txBody>
      </p:sp>
      <p:graphicFrame>
        <p:nvGraphicFramePr>
          <p:cNvPr id="5" name="Table 4">
            <a:extLst>
              <a:ext uri="{FF2B5EF4-FFF2-40B4-BE49-F238E27FC236}">
                <a16:creationId xmlns:a16="http://schemas.microsoft.com/office/drawing/2014/main" id="{5CB1D88E-5B40-019E-10B2-744E1DD40A62}"/>
              </a:ext>
            </a:extLst>
          </p:cNvPr>
          <p:cNvGraphicFramePr>
            <a:graphicFrameLocks noGrp="1"/>
          </p:cNvGraphicFramePr>
          <p:nvPr>
            <p:extLst>
              <p:ext uri="{D42A27DB-BD31-4B8C-83A1-F6EECF244321}">
                <p14:modId xmlns:p14="http://schemas.microsoft.com/office/powerpoint/2010/main" val="1226317416"/>
              </p:ext>
            </p:extLst>
          </p:nvPr>
        </p:nvGraphicFramePr>
        <p:xfrm>
          <a:off x="1677774" y="3425911"/>
          <a:ext cx="7913300" cy="2595871"/>
        </p:xfrm>
        <a:graphic>
          <a:graphicData uri="http://schemas.openxmlformats.org/drawingml/2006/table">
            <a:tbl>
              <a:tblPr bandRow="1">
                <a:tableStyleId>{3B4B98B0-60AC-42C2-AFA5-B58CD77FA1E5}</a:tableStyleId>
              </a:tblPr>
              <a:tblGrid>
                <a:gridCol w="2258801">
                  <a:extLst>
                    <a:ext uri="{9D8B030D-6E8A-4147-A177-3AD203B41FA5}">
                      <a16:colId xmlns:a16="http://schemas.microsoft.com/office/drawing/2014/main" val="3802370962"/>
                    </a:ext>
                  </a:extLst>
                </a:gridCol>
                <a:gridCol w="5654499">
                  <a:extLst>
                    <a:ext uri="{9D8B030D-6E8A-4147-A177-3AD203B41FA5}">
                      <a16:colId xmlns:a16="http://schemas.microsoft.com/office/drawing/2014/main" val="192407774"/>
                    </a:ext>
                  </a:extLst>
                </a:gridCol>
              </a:tblGrid>
              <a:tr h="370840">
                <a:tc>
                  <a:txBody>
                    <a:bodyPr/>
                    <a:lstStyle/>
                    <a:p>
                      <a:pPr algn="ctr"/>
                      <a:r>
                        <a:rPr lang="en-US"/>
                        <a:t>Parameter</a:t>
                      </a: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endParaRPr lang="en-US"/>
                    </a:p>
                  </a:txBody>
                  <a:tcP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4107277169"/>
                  </a:ext>
                </a:extLst>
              </a:tr>
              <a:tr h="370840">
                <a:tc>
                  <a:txBody>
                    <a:bodyPr/>
                    <a:lstStyle/>
                    <a:p>
                      <a:r>
                        <a:rPr lang="en-US"/>
                        <a:t>Batch size</a:t>
                      </a:r>
                    </a:p>
                  </a:txBody>
                  <a:tcP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tcPr>
                </a:tc>
                <a:tc>
                  <a:txBody>
                    <a:bodyPr/>
                    <a:lstStyle/>
                    <a:p>
                      <a:r>
                        <a:rPr lang="en-US"/>
                        <a:t>32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tcPr>
                </a:tc>
                <a:extLst>
                  <a:ext uri="{0D108BD9-81ED-4DB2-BD59-A6C34878D82A}">
                    <a16:rowId xmlns:a16="http://schemas.microsoft.com/office/drawing/2014/main" val="3066889162"/>
                  </a:ext>
                </a:extLst>
              </a:tr>
              <a:tr h="370839">
                <a:tc>
                  <a:txBody>
                    <a:bodyPr/>
                    <a:lstStyle/>
                    <a:p>
                      <a:pPr lvl="0">
                        <a:buNone/>
                      </a:pPr>
                      <a:r>
                        <a:rPr lang="en-US"/>
                        <a:t>Epochs</a:t>
                      </a: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lvl="0">
                        <a:buNone/>
                      </a:pPr>
                      <a:r>
                        <a:rPr lang="en-US"/>
                        <a:t>500 (max) , 139(early stopping)</a:t>
                      </a:r>
                    </a:p>
                  </a:txBody>
                  <a:tcP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2862741609"/>
                  </a:ext>
                </a:extLst>
              </a:tr>
              <a:tr h="370838">
                <a:tc>
                  <a:txBody>
                    <a:bodyPr/>
                    <a:lstStyle/>
                    <a:p>
                      <a:pPr lvl="0">
                        <a:buNone/>
                      </a:pPr>
                      <a:r>
                        <a:rPr lang="en-US"/>
                        <a:t>Regularization</a:t>
                      </a: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lvl="0">
                        <a:buNone/>
                      </a:pPr>
                      <a:r>
                        <a:rPr lang="en-US"/>
                        <a:t>L2(0.01), dropout(0.4)</a:t>
                      </a:r>
                    </a:p>
                  </a:txBody>
                  <a:tcP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769661834"/>
                  </a:ext>
                </a:extLst>
              </a:tr>
              <a:tr h="370838">
                <a:tc>
                  <a:txBody>
                    <a:bodyPr/>
                    <a:lstStyle/>
                    <a:p>
                      <a:pPr lvl="0">
                        <a:buNone/>
                      </a:pPr>
                      <a:r>
                        <a:rPr lang="en-US"/>
                        <a:t>Learning rate</a:t>
                      </a: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lvl="0">
                        <a:buNone/>
                      </a:pPr>
                      <a:r>
                        <a:rPr lang="en-US"/>
                        <a:t>1e-4</a:t>
                      </a:r>
                    </a:p>
                  </a:txBody>
                  <a:tcP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2526121522"/>
                  </a:ext>
                </a:extLst>
              </a:tr>
              <a:tr h="370838">
                <a:tc>
                  <a:txBody>
                    <a:bodyPr/>
                    <a:lstStyle/>
                    <a:p>
                      <a:pPr lvl="0">
                        <a:buNone/>
                      </a:pPr>
                      <a:r>
                        <a:rPr lang="en-US"/>
                        <a:t>Min. LR</a:t>
                      </a: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lvl="0">
                        <a:buNone/>
                      </a:pPr>
                      <a:r>
                        <a:rPr lang="en-US"/>
                        <a:t>1e-8</a:t>
                      </a:r>
                    </a:p>
                  </a:txBody>
                  <a:tcP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1563180586"/>
                  </a:ext>
                </a:extLst>
              </a:tr>
              <a:tr h="370838">
                <a:tc>
                  <a:txBody>
                    <a:bodyPr/>
                    <a:lstStyle/>
                    <a:p>
                      <a:pPr lvl="0">
                        <a:buNone/>
                      </a:pPr>
                      <a:r>
                        <a:rPr lang="en-US"/>
                        <a:t>Callbacks</a:t>
                      </a: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lvl="0">
                        <a:buNone/>
                      </a:pPr>
                      <a:r>
                        <a:rPr lang="en-US" err="1"/>
                        <a:t>ReduceLROnPlateau</a:t>
                      </a:r>
                      <a:r>
                        <a:rPr lang="en-US"/>
                        <a:t>, </a:t>
                      </a:r>
                      <a:r>
                        <a:rPr lang="en-US" err="1"/>
                        <a:t>EarlyStopping</a:t>
                      </a:r>
                    </a:p>
                  </a:txBody>
                  <a:tcP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3971809636"/>
                  </a:ext>
                </a:extLst>
              </a:tr>
            </a:tbl>
          </a:graphicData>
        </a:graphic>
      </p:graphicFrame>
    </p:spTree>
    <p:extLst>
      <p:ext uri="{BB962C8B-B14F-4D97-AF65-F5344CB8AC3E}">
        <p14:creationId xmlns:p14="http://schemas.microsoft.com/office/powerpoint/2010/main" val="1488477422"/>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4541D-4FA5-1D0B-B5CF-BF90F02EA50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2224258-E487-D679-4822-D1DAD4A9DBF2}"/>
              </a:ext>
            </a:extLst>
          </p:cNvPr>
          <p:cNvSpPr txBox="1"/>
          <p:nvPr/>
        </p:nvSpPr>
        <p:spPr>
          <a:xfrm>
            <a:off x="5474730" y="188640"/>
            <a:ext cx="5464198" cy="461665"/>
          </a:xfrm>
          <a:prstGeom prst="rect">
            <a:avLst/>
          </a:prstGeom>
          <a:noFill/>
        </p:spPr>
        <p:txBody>
          <a:bodyPr wrap="square" lIns="91440" tIns="45720" rIns="91440" bIns="45720" rtlCol="0" anchor="t">
            <a:spAutoFit/>
          </a:bodyPr>
          <a:lstStyle/>
          <a:p>
            <a:pPr algn="just"/>
            <a:r>
              <a:rPr lang="en-IN" sz="2400" b="1">
                <a:solidFill>
                  <a:srgbClr val="D47D26"/>
                </a:solidFill>
                <a:latin typeface="Times New Roman"/>
                <a:cs typeface="Times New Roman"/>
              </a:rPr>
              <a:t>IMPLEMENTATION &amp;WORK DONE</a:t>
            </a:r>
            <a:endParaRPr lang="en-IN">
              <a:latin typeface="Times New Roman"/>
              <a:cs typeface="Times New Roman"/>
            </a:endParaRPr>
          </a:p>
        </p:txBody>
      </p:sp>
      <p:pic>
        <p:nvPicPr>
          <p:cNvPr id="2" name="Picture 1" descr="A graph of a graph of a graph of a graph of a graph of a graph of a graph of a graph of a graph of a graph of a graph of a graph of a graph of&#10;&#10;AI-generated content may be incorrect.">
            <a:extLst>
              <a:ext uri="{FF2B5EF4-FFF2-40B4-BE49-F238E27FC236}">
                <a16:creationId xmlns:a16="http://schemas.microsoft.com/office/drawing/2014/main" id="{1240E4DB-0540-4948-9D4B-7DEAD165E2B4}"/>
              </a:ext>
            </a:extLst>
          </p:cNvPr>
          <p:cNvPicPr>
            <a:picLocks noChangeAspect="1"/>
          </p:cNvPicPr>
          <p:nvPr/>
        </p:nvPicPr>
        <p:blipFill>
          <a:blip r:embed="rId3"/>
          <a:stretch>
            <a:fillRect/>
          </a:stretch>
        </p:blipFill>
        <p:spPr>
          <a:xfrm>
            <a:off x="417382" y="1372299"/>
            <a:ext cx="9973998" cy="4113403"/>
          </a:xfrm>
          <a:prstGeom prst="rect">
            <a:avLst/>
          </a:prstGeom>
        </p:spPr>
      </p:pic>
      <p:sp>
        <p:nvSpPr>
          <p:cNvPr id="5" name="TextBox 4">
            <a:extLst>
              <a:ext uri="{FF2B5EF4-FFF2-40B4-BE49-F238E27FC236}">
                <a16:creationId xmlns:a16="http://schemas.microsoft.com/office/drawing/2014/main" id="{6307452C-A377-2852-AD51-0E505ABAD91D}"/>
              </a:ext>
            </a:extLst>
          </p:cNvPr>
          <p:cNvSpPr txBox="1"/>
          <p:nvPr/>
        </p:nvSpPr>
        <p:spPr>
          <a:xfrm>
            <a:off x="2904790" y="5683891"/>
            <a:ext cx="498562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latin typeface="Arial"/>
                <a:cs typeface="Arial"/>
              </a:rPr>
              <a:t>Accuracy:97%</a:t>
            </a:r>
            <a:endParaRPr lang="en-US">
              <a:cs typeface="Arial" charset="0"/>
            </a:endParaRPr>
          </a:p>
        </p:txBody>
      </p:sp>
    </p:spTree>
    <p:extLst>
      <p:ext uri="{BB962C8B-B14F-4D97-AF65-F5344CB8AC3E}">
        <p14:creationId xmlns:p14="http://schemas.microsoft.com/office/powerpoint/2010/main" val="3504836484"/>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A09BE0-594A-94DB-9F30-7E2B524BB4E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E4D51B1-F058-39A1-CFE7-40A72EC9D6A8}"/>
              </a:ext>
            </a:extLst>
          </p:cNvPr>
          <p:cNvSpPr txBox="1"/>
          <p:nvPr/>
        </p:nvSpPr>
        <p:spPr>
          <a:xfrm>
            <a:off x="5474730" y="188640"/>
            <a:ext cx="5464198" cy="461665"/>
          </a:xfrm>
          <a:prstGeom prst="rect">
            <a:avLst/>
          </a:prstGeom>
          <a:noFill/>
        </p:spPr>
        <p:txBody>
          <a:bodyPr wrap="square" lIns="91440" tIns="45720" rIns="91440" bIns="45720" rtlCol="0" anchor="t">
            <a:spAutoFit/>
          </a:bodyPr>
          <a:lstStyle/>
          <a:p>
            <a:pPr algn="just"/>
            <a:r>
              <a:rPr lang="en-IN" sz="2400" b="1">
                <a:solidFill>
                  <a:srgbClr val="D47D26"/>
                </a:solidFill>
                <a:latin typeface="Times New Roman"/>
                <a:cs typeface="Times New Roman"/>
              </a:rPr>
              <a:t>IMPLEMENTATION &amp;WORK DONE</a:t>
            </a:r>
            <a:endParaRPr lang="en-IN">
              <a:latin typeface="Times New Roman"/>
              <a:cs typeface="Times New Roman"/>
            </a:endParaRPr>
          </a:p>
        </p:txBody>
      </p:sp>
      <p:pic>
        <p:nvPicPr>
          <p:cNvPr id="4" name="Picture 3">
            <a:extLst>
              <a:ext uri="{FF2B5EF4-FFF2-40B4-BE49-F238E27FC236}">
                <a16:creationId xmlns:a16="http://schemas.microsoft.com/office/drawing/2014/main" id="{0108172B-45D5-9AB3-1E6E-FB25BC72F798}"/>
              </a:ext>
            </a:extLst>
          </p:cNvPr>
          <p:cNvPicPr>
            <a:picLocks noChangeAspect="1"/>
          </p:cNvPicPr>
          <p:nvPr/>
        </p:nvPicPr>
        <p:blipFill>
          <a:blip r:embed="rId3"/>
          <a:stretch>
            <a:fillRect/>
          </a:stretch>
        </p:blipFill>
        <p:spPr>
          <a:xfrm>
            <a:off x="0" y="773307"/>
            <a:ext cx="10673113" cy="4528511"/>
          </a:xfrm>
          <a:prstGeom prst="rect">
            <a:avLst/>
          </a:prstGeom>
        </p:spPr>
      </p:pic>
      <p:sp>
        <p:nvSpPr>
          <p:cNvPr id="2" name="TextBox 1">
            <a:extLst>
              <a:ext uri="{FF2B5EF4-FFF2-40B4-BE49-F238E27FC236}">
                <a16:creationId xmlns:a16="http://schemas.microsoft.com/office/drawing/2014/main" id="{B445CBEC-2B2D-8FE7-35C7-20AD1A2957E4}"/>
              </a:ext>
            </a:extLst>
          </p:cNvPr>
          <p:cNvSpPr txBox="1"/>
          <p:nvPr/>
        </p:nvSpPr>
        <p:spPr>
          <a:xfrm>
            <a:off x="2695310" y="5558203"/>
            <a:ext cx="5697856"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a:solidFill>
                  <a:schemeClr val="tx1">
                    <a:lumMod val="95000"/>
                    <a:lumOff val="5000"/>
                  </a:schemeClr>
                </a:solidFill>
                <a:latin typeface="Arial"/>
                <a:cs typeface="Arial"/>
              </a:rPr>
              <a:t>Mean Validation Accuracy Across All Folds: 92.85%</a:t>
            </a:r>
          </a:p>
        </p:txBody>
      </p:sp>
    </p:spTree>
    <p:extLst>
      <p:ext uri="{BB962C8B-B14F-4D97-AF65-F5344CB8AC3E}">
        <p14:creationId xmlns:p14="http://schemas.microsoft.com/office/powerpoint/2010/main" val="22580177"/>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B3258-4EC7-67BD-6CFE-69C07431F9C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B32109D-736B-690C-1560-BC610AA1B921}"/>
              </a:ext>
            </a:extLst>
          </p:cNvPr>
          <p:cNvSpPr txBox="1"/>
          <p:nvPr/>
        </p:nvSpPr>
        <p:spPr>
          <a:xfrm>
            <a:off x="8029758" y="251948"/>
            <a:ext cx="3048861" cy="830997"/>
          </a:xfrm>
          <a:prstGeom prst="rect">
            <a:avLst/>
          </a:prstGeom>
          <a:noFill/>
        </p:spPr>
        <p:txBody>
          <a:bodyPr wrap="square" lIns="91440" tIns="45720" rIns="91440" bIns="45720" rtlCol="0" anchor="t">
            <a:spAutoFit/>
          </a:bodyPr>
          <a:lstStyle/>
          <a:p>
            <a:pPr algn="just"/>
            <a:r>
              <a:rPr lang="en-IN" sz="2400" b="1">
                <a:solidFill>
                  <a:srgbClr val="D47D26"/>
                </a:solidFill>
                <a:latin typeface="Times New Roman"/>
                <a:cs typeface="Times New Roman"/>
              </a:rPr>
              <a:t>FURTHER WORK</a:t>
            </a:r>
          </a:p>
          <a:p>
            <a:pPr algn="ctr"/>
            <a:endParaRPr lang="en-IN" sz="2400" b="1">
              <a:solidFill>
                <a:srgbClr val="D47D26"/>
              </a:solidFill>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5CED32FE-D843-65E3-38A0-77BD31F0A409}"/>
              </a:ext>
            </a:extLst>
          </p:cNvPr>
          <p:cNvGraphicFramePr>
            <a:graphicFrameLocks noGrp="1"/>
          </p:cNvGraphicFramePr>
          <p:nvPr>
            <p:extLst>
              <p:ext uri="{D42A27DB-BD31-4B8C-83A1-F6EECF244321}">
                <p14:modId xmlns:p14="http://schemas.microsoft.com/office/powerpoint/2010/main" val="1690286037"/>
              </p:ext>
            </p:extLst>
          </p:nvPr>
        </p:nvGraphicFramePr>
        <p:xfrm>
          <a:off x="393636" y="1222117"/>
          <a:ext cx="9465253" cy="4755627"/>
        </p:xfrm>
        <a:graphic>
          <a:graphicData uri="http://schemas.openxmlformats.org/drawingml/2006/table">
            <a:tbl>
              <a:tblPr bandRow="1">
                <a:tableStyleId>{5C22544A-7EE6-4342-B048-85BDC9FD1C3A}</a:tableStyleId>
              </a:tblPr>
              <a:tblGrid>
                <a:gridCol w="1435563">
                  <a:extLst>
                    <a:ext uri="{9D8B030D-6E8A-4147-A177-3AD203B41FA5}">
                      <a16:colId xmlns:a16="http://schemas.microsoft.com/office/drawing/2014/main" val="3682685256"/>
                    </a:ext>
                  </a:extLst>
                </a:gridCol>
                <a:gridCol w="8029690">
                  <a:extLst>
                    <a:ext uri="{9D8B030D-6E8A-4147-A177-3AD203B41FA5}">
                      <a16:colId xmlns:a16="http://schemas.microsoft.com/office/drawing/2014/main" val="2335224229"/>
                    </a:ext>
                  </a:extLst>
                </a:gridCol>
              </a:tblGrid>
              <a:tr h="364352">
                <a:tc>
                  <a:txBody>
                    <a:bodyPr/>
                    <a:lstStyle/>
                    <a:p>
                      <a:pPr algn="ctr" rtl="0" fontAlgn="base">
                        <a:lnSpc>
                          <a:spcPts val="1457"/>
                        </a:lnSpc>
                        <a:buNone/>
                      </a:pPr>
                      <a:r>
                        <a:rPr lang="en-IN" sz="1200" b="1">
                          <a:effectLst/>
                          <a:latin typeface="Times New Roman"/>
                        </a:rPr>
                        <a:t>Week</a:t>
                      </a:r>
                      <a:r>
                        <a:rPr lang="en-IN" sz="1200">
                          <a:effectLst/>
                          <a:latin typeface="Times New Roman"/>
                        </a:rPr>
                        <a:t> </a:t>
                      </a:r>
                      <a:endParaRPr lang="en-IN">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rtl="0" fontAlgn="base">
                        <a:lnSpc>
                          <a:spcPts val="1457"/>
                        </a:lnSpc>
                        <a:buNone/>
                      </a:pPr>
                      <a:r>
                        <a:rPr lang="en-IN" sz="1200" b="1">
                          <a:effectLst/>
                          <a:latin typeface="Times New Roman"/>
                        </a:rPr>
                        <a:t>Tasks</a:t>
                      </a:r>
                      <a:r>
                        <a:rPr lang="en-IN" sz="1200">
                          <a:effectLst/>
                          <a:latin typeface="Times New Roman"/>
                        </a:rPr>
                        <a:t> </a:t>
                      </a:r>
                      <a:endParaRPr lang="en-IN">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26897872"/>
                  </a:ext>
                </a:extLst>
              </a:tr>
              <a:tr h="1605427">
                <a:tc>
                  <a:txBody>
                    <a:bodyPr/>
                    <a:lstStyle/>
                    <a:p>
                      <a:pPr rtl="0" fontAlgn="base">
                        <a:lnSpc>
                          <a:spcPts val="1457"/>
                        </a:lnSpc>
                        <a:buNone/>
                      </a:pPr>
                      <a:r>
                        <a:rPr lang="en-IN" sz="1200">
                          <a:effectLst/>
                          <a:latin typeface="Times New Roman"/>
                        </a:rPr>
                        <a:t>Week 1–2 </a:t>
                      </a:r>
                      <a:endParaRPr lang="en-IN">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rtl="0" fontAlgn="base">
                        <a:lnSpc>
                          <a:spcPts val="1457"/>
                        </a:lnSpc>
                        <a:buNone/>
                      </a:pPr>
                      <a:r>
                        <a:rPr lang="en-IN" sz="1600">
                          <a:effectLst/>
                          <a:latin typeface="Times New Roman"/>
                        </a:rPr>
                        <a:t>Dataset Preparation and Model Training  </a:t>
                      </a:r>
                    </a:p>
                    <a:p>
                      <a:pPr rtl="0" fontAlgn="base">
                        <a:lnSpc>
                          <a:spcPts val="1457"/>
                        </a:lnSpc>
                        <a:buNone/>
                      </a:pPr>
                      <a:r>
                        <a:rPr lang="en-IN" sz="1600">
                          <a:effectLst/>
                          <a:latin typeface="Times New Roman"/>
                        </a:rPr>
                        <a:t>• Receive the main dataset from the college. </a:t>
                      </a:r>
                    </a:p>
                    <a:p>
                      <a:pPr rtl="0" fontAlgn="base">
                        <a:lnSpc>
                          <a:spcPts val="1457"/>
                        </a:lnSpc>
                        <a:buNone/>
                      </a:pPr>
                      <a:r>
                        <a:rPr lang="en-IN" sz="1600">
                          <a:effectLst/>
                          <a:latin typeface="Times New Roman"/>
                        </a:rPr>
                        <a:t>• Preprocess images: resizing, normalization, augmentation as needed.  </a:t>
                      </a:r>
                    </a:p>
                    <a:p>
                      <a:pPr rtl="0" fontAlgn="base">
                        <a:lnSpc>
                          <a:spcPts val="1457"/>
                        </a:lnSpc>
                        <a:buNone/>
                      </a:pPr>
                      <a:r>
                        <a:rPr lang="en-IN" sz="1600">
                          <a:effectLst/>
                          <a:latin typeface="Times New Roman"/>
                        </a:rPr>
                        <a:t>• Train all four models for both classification and grading using 5-fold cross-validation on college GPU.  </a:t>
                      </a:r>
                    </a:p>
                    <a:p>
                      <a:pPr rtl="0" fontAlgn="base">
                        <a:lnSpc>
                          <a:spcPts val="1457"/>
                        </a:lnSpc>
                        <a:buNone/>
                      </a:pPr>
                      <a:r>
                        <a:rPr lang="en-IN" sz="1600">
                          <a:effectLst/>
                          <a:latin typeface="Times New Roman"/>
                        </a:rPr>
                        <a:t>• Track metrics: accuracy, AUC, confusion matrices, misclassification rates. </a:t>
                      </a:r>
                    </a:p>
                    <a:p>
                      <a:pPr lvl="0">
                        <a:lnSpc>
                          <a:spcPts val="1457"/>
                        </a:lnSpc>
                        <a:buNone/>
                      </a:pPr>
                      <a:r>
                        <a:rPr lang="en-IN" sz="1600">
                          <a:effectLst/>
                          <a:latin typeface="Times New Roman"/>
                        </a:rPr>
                        <a:t>• Apply learning rate schedules and early stopping to optimize training. </a:t>
                      </a: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37945880"/>
                  </a:ext>
                </a:extLst>
              </a:tr>
              <a:tr h="1354939">
                <a:tc>
                  <a:txBody>
                    <a:bodyPr/>
                    <a:lstStyle/>
                    <a:p>
                      <a:pPr rtl="0" fontAlgn="base">
                        <a:lnSpc>
                          <a:spcPts val="1457"/>
                        </a:lnSpc>
                        <a:buNone/>
                      </a:pPr>
                      <a:r>
                        <a:rPr lang="en-IN" sz="1200">
                          <a:effectLst/>
                          <a:latin typeface="Times New Roman"/>
                        </a:rPr>
                        <a:t>Week 3 </a:t>
                      </a:r>
                      <a:endParaRPr lang="en-IN">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rtl="0" fontAlgn="base">
                        <a:lnSpc>
                          <a:spcPts val="1457"/>
                        </a:lnSpc>
                        <a:buNone/>
                      </a:pPr>
                      <a:r>
                        <a:rPr lang="en-IN" sz="1600">
                          <a:effectLst/>
                          <a:latin typeface="Times New Roman"/>
                        </a:rPr>
                        <a:t>Performance Analysis and Visualization  </a:t>
                      </a:r>
                    </a:p>
                    <a:p>
                      <a:pPr rtl="0" fontAlgn="base">
                        <a:lnSpc>
                          <a:spcPts val="1457"/>
                        </a:lnSpc>
                        <a:buNone/>
                      </a:pPr>
                      <a:r>
                        <a:rPr lang="en-IN" sz="1600">
                          <a:effectLst/>
                          <a:latin typeface="Times New Roman"/>
                        </a:rPr>
                        <a:t>• Compare performance across models for classification and grading tasks.  </a:t>
                      </a:r>
                    </a:p>
                    <a:p>
                      <a:pPr rtl="0" fontAlgn="base">
                        <a:lnSpc>
                          <a:spcPts val="1457"/>
                        </a:lnSpc>
                        <a:buNone/>
                      </a:pPr>
                      <a:r>
                        <a:rPr lang="en-IN" sz="1600">
                          <a:effectLst/>
                          <a:latin typeface="Times New Roman"/>
                        </a:rPr>
                        <a:t>• Generate and finalize plots: accuracy/loss curves, ROC curves, confusion matrices, grading accuracy charts.  </a:t>
                      </a:r>
                    </a:p>
                    <a:p>
                      <a:pPr rtl="0" fontAlgn="base">
                        <a:lnSpc>
                          <a:spcPts val="1457"/>
                        </a:lnSpc>
                        <a:buNone/>
                      </a:pPr>
                      <a:r>
                        <a:rPr lang="en-IN" sz="1600">
                          <a:effectLst/>
                          <a:latin typeface="Times New Roman"/>
                        </a:rPr>
                        <a:t>• Apply Grad-CAM or similar explainability methods to visualize which image regions contribute most to model predictions. </a:t>
                      </a:r>
                    </a:p>
                    <a:p>
                      <a:pPr rtl="0" fontAlgn="base">
                        <a:lnSpc>
                          <a:spcPts val="1457"/>
                        </a:lnSpc>
                        <a:buNone/>
                      </a:pPr>
                      <a:endParaRPr lang="en-IN">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1063080"/>
                  </a:ext>
                </a:extLst>
              </a:tr>
              <a:tr h="1354939">
                <a:tc>
                  <a:txBody>
                    <a:bodyPr/>
                    <a:lstStyle/>
                    <a:p>
                      <a:pPr rtl="0" fontAlgn="base">
                        <a:lnSpc>
                          <a:spcPts val="1457"/>
                        </a:lnSpc>
                        <a:buNone/>
                      </a:pPr>
                      <a:r>
                        <a:rPr lang="en-IN" sz="1200">
                          <a:effectLst/>
                          <a:latin typeface="Times New Roman"/>
                        </a:rPr>
                        <a:t>Week 4 </a:t>
                      </a:r>
                      <a:endParaRPr lang="en-IN">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rtl="0" fontAlgn="base">
                        <a:lnSpc>
                          <a:spcPts val="1457"/>
                        </a:lnSpc>
                        <a:buNone/>
                      </a:pPr>
                      <a:r>
                        <a:rPr lang="en-IN" sz="1600">
                          <a:effectLst/>
                          <a:latin typeface="Times New Roman"/>
                        </a:rPr>
                        <a:t>Final Report and Presentation Preparation  </a:t>
                      </a:r>
                    </a:p>
                    <a:p>
                      <a:pPr rtl="0" fontAlgn="base">
                        <a:lnSpc>
                          <a:spcPts val="1457"/>
                        </a:lnSpc>
                        <a:buNone/>
                      </a:pPr>
                      <a:r>
                        <a:rPr lang="en-IN" sz="1600">
                          <a:effectLst/>
                          <a:latin typeface="Times New Roman"/>
                        </a:rPr>
                        <a:t>• Write the final report, including methodology, results, analysis, conclusions, and future work.  </a:t>
                      </a:r>
                    </a:p>
                    <a:p>
                      <a:pPr rtl="0" fontAlgn="base">
                        <a:lnSpc>
                          <a:spcPts val="1457"/>
                        </a:lnSpc>
                        <a:buNone/>
                      </a:pPr>
                      <a:r>
                        <a:rPr lang="en-IN" sz="1600">
                          <a:effectLst/>
                          <a:latin typeface="Times New Roman"/>
                        </a:rPr>
                        <a:t>• Prepare PowerPoint slides summarizing objectives, methodology, results, and conclusions.  </a:t>
                      </a:r>
                    </a:p>
                    <a:p>
                      <a:pPr rtl="0" fontAlgn="base">
                        <a:lnSpc>
                          <a:spcPts val="1457"/>
                        </a:lnSpc>
                        <a:buNone/>
                      </a:pPr>
                      <a:r>
                        <a:rPr lang="en-IN" sz="1600">
                          <a:effectLst/>
                          <a:latin typeface="Times New Roman"/>
                        </a:rPr>
                        <a:t>• Rehearse presentation for 13–14 Nov. </a:t>
                      </a:r>
                    </a:p>
                    <a:p>
                      <a:pPr lvl="0">
                        <a:lnSpc>
                          <a:spcPts val="1457"/>
                        </a:lnSpc>
                        <a:buNone/>
                      </a:pPr>
                      <a:r>
                        <a:rPr lang="en-IN" sz="1600" b="0" i="0" u="none" strike="noStrike" noProof="0">
                          <a:solidFill>
                            <a:srgbClr val="000000"/>
                          </a:solidFill>
                          <a:effectLst/>
                          <a:latin typeface="Times New Roman"/>
                        </a:rPr>
                        <a:t>• Preparing the Research Paper.</a:t>
                      </a: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6846589"/>
                  </a:ext>
                </a:extLst>
              </a:tr>
            </a:tbl>
          </a:graphicData>
        </a:graphic>
      </p:graphicFrame>
    </p:spTree>
    <p:extLst>
      <p:ext uri="{BB962C8B-B14F-4D97-AF65-F5344CB8AC3E}">
        <p14:creationId xmlns:p14="http://schemas.microsoft.com/office/powerpoint/2010/main" val="3200432992"/>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5CBCF83-0D0B-3BF1-768F-DAE7448FA744}"/>
              </a:ext>
            </a:extLst>
          </p:cNvPr>
          <p:cNvSpPr txBox="1"/>
          <p:nvPr/>
        </p:nvSpPr>
        <p:spPr>
          <a:xfrm>
            <a:off x="8528672" y="306762"/>
            <a:ext cx="3099372" cy="11079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IN" sz="2400" b="1">
                <a:solidFill>
                  <a:srgbClr val="D47D26"/>
                </a:solidFill>
                <a:latin typeface="Times New Roman"/>
                <a:cs typeface="Times New Roman"/>
              </a:rPr>
              <a:t>CONCLUSION</a:t>
            </a:r>
            <a:endParaRPr lang="en-US" sz="2400">
              <a:latin typeface="Times New Roman"/>
              <a:cs typeface="Times New Roman"/>
            </a:endParaRPr>
          </a:p>
          <a:p>
            <a:pPr algn="ctr"/>
            <a:endParaRPr lang="en-IN" sz="2400">
              <a:latin typeface="Times New Roman"/>
              <a:cs typeface="Times New Roman"/>
            </a:endParaRPr>
          </a:p>
          <a:p>
            <a:pPr algn="l"/>
            <a:endParaRPr lang="en-US">
              <a:cs typeface="Arial"/>
            </a:endParaRPr>
          </a:p>
        </p:txBody>
      </p:sp>
      <p:sp>
        <p:nvSpPr>
          <p:cNvPr id="7" name="TextBox 6">
            <a:extLst>
              <a:ext uri="{FF2B5EF4-FFF2-40B4-BE49-F238E27FC236}">
                <a16:creationId xmlns:a16="http://schemas.microsoft.com/office/drawing/2014/main" id="{7A6F2256-A02C-0861-F0B5-E18711E51561}"/>
              </a:ext>
            </a:extLst>
          </p:cNvPr>
          <p:cNvSpPr txBox="1"/>
          <p:nvPr/>
        </p:nvSpPr>
        <p:spPr>
          <a:xfrm>
            <a:off x="329137" y="1374649"/>
            <a:ext cx="9915250" cy="501675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000" b="1">
                <a:latin typeface="Arial"/>
                <a:cs typeface="Arial"/>
              </a:rPr>
              <a:t>Good Performance:</a:t>
            </a:r>
            <a:r>
              <a:rPr lang="en-US" sz="2000">
                <a:latin typeface="Arial"/>
                <a:cs typeface="Arial"/>
              </a:rPr>
              <a:t> DenseNet121 with </a:t>
            </a:r>
            <a:r>
              <a:rPr lang="en-US" sz="2000" err="1">
                <a:latin typeface="Arial"/>
                <a:cs typeface="Arial"/>
              </a:rPr>
              <a:t>AdamW</a:t>
            </a:r>
            <a:r>
              <a:rPr lang="en-US" sz="2000">
                <a:latin typeface="Arial"/>
                <a:cs typeface="Arial"/>
              </a:rPr>
              <a:t> achieved 99.75% mean validation accuracy.</a:t>
            </a:r>
          </a:p>
          <a:p>
            <a:pPr marL="285750" indent="-285750">
              <a:buFont typeface="Arial"/>
              <a:buChar char="•"/>
            </a:pPr>
            <a:endParaRPr lang="en-US" sz="2000">
              <a:latin typeface="Arial"/>
              <a:cs typeface="Arial"/>
            </a:endParaRPr>
          </a:p>
          <a:p>
            <a:pPr marL="285750" indent="-285750">
              <a:buFont typeface="Arial"/>
              <a:buChar char="•"/>
            </a:pPr>
            <a:r>
              <a:rPr lang="en-US" sz="2000" b="1">
                <a:latin typeface="Arial"/>
                <a:cs typeface="Arial"/>
              </a:rPr>
              <a:t>Reliable Classification:</a:t>
            </a:r>
            <a:r>
              <a:rPr lang="en-US" sz="2000">
                <a:latin typeface="Arial"/>
                <a:cs typeface="Arial"/>
              </a:rPr>
              <a:t> InceptionV3 reached 99.72% mean accuracy </a:t>
            </a:r>
          </a:p>
          <a:p>
            <a:pPr marL="285750" indent="-285750">
              <a:buFont typeface="Arial"/>
              <a:buChar char="•"/>
            </a:pPr>
            <a:endParaRPr lang="en-US" sz="2000">
              <a:latin typeface="Arial"/>
              <a:cs typeface="Arial"/>
            </a:endParaRPr>
          </a:p>
          <a:p>
            <a:pPr>
              <a:buFont typeface="Arial"/>
              <a:buChar char="•"/>
            </a:pPr>
            <a:r>
              <a:rPr lang="en-US" sz="2000" b="1">
                <a:latin typeface="Arial"/>
                <a:cs typeface="Arial"/>
              </a:rPr>
              <a:t>  </a:t>
            </a:r>
            <a:r>
              <a:rPr lang="en-US" sz="2000" b="1" err="1">
                <a:latin typeface="Arial"/>
                <a:cs typeface="Arial"/>
              </a:rPr>
              <a:t>ConvNeXt</a:t>
            </a:r>
            <a:r>
              <a:rPr lang="en-US" sz="2000" b="1">
                <a:latin typeface="Arial"/>
                <a:cs typeface="Arial"/>
              </a:rPr>
              <a:t> Stability:</a:t>
            </a:r>
            <a:r>
              <a:rPr lang="en-US" sz="2000">
                <a:latin typeface="Arial"/>
                <a:cs typeface="Arial"/>
              </a:rPr>
              <a:t> The </a:t>
            </a:r>
            <a:r>
              <a:rPr lang="en-US" sz="2000" b="1" err="1">
                <a:latin typeface="Arial"/>
                <a:cs typeface="Arial"/>
              </a:rPr>
              <a:t>ConvNeXtTiny</a:t>
            </a:r>
            <a:r>
              <a:rPr lang="en-US" sz="2000">
                <a:latin typeface="Arial"/>
                <a:cs typeface="Arial"/>
              </a:rPr>
              <a:t> model, utilizing its modern architectural  design, </a:t>
            </a:r>
            <a:r>
              <a:rPr lang="en-US" sz="2000" b="1">
                <a:latin typeface="Arial"/>
                <a:cs typeface="Arial"/>
              </a:rPr>
              <a:t> Final Mean Validation Accuracy:</a:t>
            </a:r>
            <a:r>
              <a:rPr lang="en-US" sz="2000">
                <a:latin typeface="Arial"/>
                <a:cs typeface="Arial"/>
              </a:rPr>
              <a:t> </a:t>
            </a:r>
            <a:r>
              <a:rPr lang="en-US" sz="2000" b="1">
                <a:latin typeface="Arial"/>
                <a:cs typeface="Arial"/>
              </a:rPr>
              <a:t>93.02%</a:t>
            </a:r>
            <a:r>
              <a:rPr lang="en-US" sz="2000">
                <a:latin typeface="Arial"/>
                <a:cs typeface="Arial"/>
              </a:rPr>
              <a:t> </a:t>
            </a:r>
            <a:endParaRPr lang="en-US" sz="2000">
              <a:cs typeface="Arial"/>
            </a:endParaRPr>
          </a:p>
          <a:p>
            <a:pPr>
              <a:buFont typeface="Arial"/>
              <a:buChar char="•"/>
            </a:pPr>
            <a:endParaRPr lang="en-US" sz="2000" b="1">
              <a:cs typeface="Arial"/>
            </a:endParaRPr>
          </a:p>
          <a:p>
            <a:pPr marL="342900" indent="-342900">
              <a:buFont typeface="Arial"/>
              <a:buChar char="•"/>
            </a:pPr>
            <a:r>
              <a:rPr lang="en-US" sz="2000" b="1">
                <a:latin typeface="Arial"/>
                <a:cs typeface="Arial"/>
              </a:rPr>
              <a:t>MobileNetV2:</a:t>
            </a:r>
            <a:r>
              <a:rPr lang="en-US" sz="2000">
                <a:latin typeface="Arial"/>
                <a:cs typeface="Arial"/>
              </a:rPr>
              <a:t> Achieved accuracy of 97%. The model performed very well in distinguishing between the two types of lung images on the validation set. </a:t>
            </a:r>
            <a:endParaRPr lang="en-US" sz="2000">
              <a:cs typeface="Arial" charset="0"/>
            </a:endParaRPr>
          </a:p>
          <a:p>
            <a:pPr marL="285750" indent="-285750">
              <a:buFont typeface="Arial"/>
              <a:buChar char="•"/>
            </a:pPr>
            <a:endParaRPr lang="en-US" sz="2000">
              <a:latin typeface="Arial"/>
              <a:cs typeface="Arial"/>
            </a:endParaRPr>
          </a:p>
          <a:p>
            <a:pPr marL="285750" indent="-285750">
              <a:buFont typeface="Arial"/>
              <a:buChar char="•"/>
            </a:pPr>
            <a:r>
              <a:rPr lang="en-US" sz="2000" b="1">
                <a:latin typeface="Arial"/>
                <a:cs typeface="Arial"/>
              </a:rPr>
              <a:t>Consistency:</a:t>
            </a:r>
            <a:r>
              <a:rPr lang="en-US" sz="2000">
                <a:latin typeface="Arial"/>
                <a:cs typeface="Arial"/>
              </a:rPr>
              <a:t> models showed fast convergence, low variance, and strong generalization across 5-fold CV.</a:t>
            </a:r>
          </a:p>
          <a:p>
            <a:pPr marL="285750" indent="-285750">
              <a:buFont typeface="Arial"/>
              <a:buChar char="•"/>
            </a:pPr>
            <a:endParaRPr lang="en-US" sz="2000">
              <a:latin typeface="Arial"/>
              <a:cs typeface="Arial"/>
            </a:endParaRPr>
          </a:p>
          <a:p>
            <a:pPr marL="285750" indent="-285750">
              <a:buFont typeface="Arial"/>
              <a:buChar char="•"/>
            </a:pPr>
            <a:endParaRPr lang="en-US" sz="2000">
              <a:latin typeface="Arial"/>
              <a:cs typeface="Arial"/>
            </a:endParaRPr>
          </a:p>
          <a:p>
            <a:pPr algn="l"/>
            <a:endParaRPr lang="en-US" sz="2000">
              <a:cs typeface="Arial"/>
            </a:endParaRPr>
          </a:p>
        </p:txBody>
      </p:sp>
    </p:spTree>
    <p:extLst>
      <p:ext uri="{BB962C8B-B14F-4D97-AF65-F5344CB8AC3E}">
        <p14:creationId xmlns:p14="http://schemas.microsoft.com/office/powerpoint/2010/main" val="3087535780"/>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0A313F9-BB8D-44F1-9DB3-B36A5B02C958}"/>
              </a:ext>
            </a:extLst>
          </p:cNvPr>
          <p:cNvSpPr txBox="1"/>
          <p:nvPr/>
        </p:nvSpPr>
        <p:spPr>
          <a:xfrm>
            <a:off x="7344097" y="188640"/>
            <a:ext cx="3594831" cy="461665"/>
          </a:xfrm>
          <a:prstGeom prst="rect">
            <a:avLst/>
          </a:prstGeom>
          <a:noFill/>
        </p:spPr>
        <p:txBody>
          <a:bodyPr wrap="square" rtlCol="0">
            <a:spAutoFit/>
          </a:bodyPr>
          <a:lstStyle/>
          <a:p>
            <a:pPr algn="ctr"/>
            <a:r>
              <a:rPr lang="en-IN" sz="2400" b="1">
                <a:solidFill>
                  <a:srgbClr val="D47D26"/>
                </a:solidFill>
                <a:latin typeface="Times New Roman" panose="02020603050405020304" pitchFamily="18" charset="0"/>
                <a:cs typeface="Times New Roman" panose="02020603050405020304" pitchFamily="18" charset="0"/>
              </a:rPr>
              <a:t>REFERENCES</a:t>
            </a:r>
          </a:p>
        </p:txBody>
      </p:sp>
      <p:sp>
        <p:nvSpPr>
          <p:cNvPr id="2" name="TextBox 1">
            <a:extLst>
              <a:ext uri="{FF2B5EF4-FFF2-40B4-BE49-F238E27FC236}">
                <a16:creationId xmlns:a16="http://schemas.microsoft.com/office/drawing/2014/main" id="{EA6BD11A-3D04-6AB3-8E10-005B0E560C41}"/>
              </a:ext>
            </a:extLst>
          </p:cNvPr>
          <p:cNvSpPr txBox="1"/>
          <p:nvPr/>
        </p:nvSpPr>
        <p:spPr>
          <a:xfrm>
            <a:off x="479429" y="964565"/>
            <a:ext cx="9992302" cy="535531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buAutoNum type="arabicPeriod"/>
            </a:pPr>
            <a:r>
              <a:rPr lang="en-IN">
                <a:latin typeface="Arial"/>
                <a:cs typeface="Arial"/>
              </a:rPr>
              <a:t>P. </a:t>
            </a:r>
            <a:r>
              <a:rPr lang="en-IN" err="1">
                <a:latin typeface="Arial"/>
                <a:cs typeface="Arial"/>
              </a:rPr>
              <a:t>Patharia</a:t>
            </a:r>
            <a:r>
              <a:rPr lang="en-IN">
                <a:latin typeface="Arial"/>
                <a:cs typeface="Arial"/>
              </a:rPr>
              <a:t> and P. K. Sethy, “</a:t>
            </a:r>
            <a:r>
              <a:rPr lang="en-IN" err="1">
                <a:latin typeface="Arial"/>
                <a:cs typeface="Arial"/>
              </a:rPr>
              <a:t>LungCarcinoGrade-EffNetSVM</a:t>
            </a:r>
            <a:r>
              <a:rPr lang="en-IN">
                <a:latin typeface="Arial"/>
                <a:cs typeface="Arial"/>
              </a:rPr>
              <a:t>: A Novel Approach to Lung Carcinoma Grading using EfficientNetB0 and Support Vector Machine,” in </a:t>
            </a:r>
            <a:r>
              <a:rPr lang="en-IN" i="1">
                <a:latin typeface="Arial"/>
                <a:cs typeface="Arial"/>
              </a:rPr>
              <a:t>Proc. 8th Int. Conf. I-SMAC – IoT in Social, Mobile, Analytics and Cloud</a:t>
            </a:r>
            <a:r>
              <a:rPr lang="en-IN">
                <a:latin typeface="Arial"/>
                <a:cs typeface="Arial"/>
              </a:rPr>
              <a:t>, IEEE, 2024.</a:t>
            </a:r>
            <a:r>
              <a:rPr lang="en-US">
                <a:latin typeface="Arial"/>
                <a:cs typeface="Times New Roman"/>
              </a:rPr>
              <a:t> </a:t>
            </a:r>
          </a:p>
          <a:p>
            <a:pPr marL="228600" indent="-228600">
              <a:buAutoNum type="arabicPeriod"/>
            </a:pPr>
            <a:endParaRPr lang="en-US">
              <a:latin typeface="Arial"/>
              <a:cs typeface="Times New Roman"/>
            </a:endParaRPr>
          </a:p>
          <a:p>
            <a:pPr marL="228600" indent="-228600">
              <a:buAutoNum type="arabicPeriod"/>
            </a:pPr>
            <a:r>
              <a:rPr lang="en-IN">
                <a:latin typeface="Arial"/>
                <a:cs typeface="Times New Roman"/>
              </a:rPr>
              <a:t>A. S. N. Raju, K. Venkatesh, R. K. </a:t>
            </a:r>
            <a:r>
              <a:rPr lang="en-IN" err="1">
                <a:latin typeface="Arial"/>
                <a:cs typeface="Times New Roman"/>
              </a:rPr>
              <a:t>Gatla</a:t>
            </a:r>
            <a:r>
              <a:rPr lang="en-IN">
                <a:latin typeface="Arial"/>
                <a:cs typeface="Times New Roman"/>
              </a:rPr>
              <a:t>, E. P. </a:t>
            </a:r>
            <a:r>
              <a:rPr lang="en-IN" err="1">
                <a:latin typeface="Arial"/>
                <a:cs typeface="Times New Roman"/>
              </a:rPr>
              <a:t>Konakalla</a:t>
            </a:r>
            <a:r>
              <a:rPr lang="en-IN">
                <a:latin typeface="Arial"/>
                <a:cs typeface="Times New Roman"/>
              </a:rPr>
              <a:t>, M. M. Eid, N. Titova, S. S. M. Ghoneim, and R. N. R. Ghaly, “Colorectal cancer detection with enhanced precision using a hybrid supervised and unsupervised learning approach,” </a:t>
            </a:r>
            <a:r>
              <a:rPr lang="en-IN" i="1">
                <a:latin typeface="Arial"/>
                <a:cs typeface="Times New Roman"/>
              </a:rPr>
              <a:t>Scientific Reports</a:t>
            </a:r>
            <a:r>
              <a:rPr lang="en-IN">
                <a:latin typeface="Arial"/>
                <a:cs typeface="Times New Roman"/>
              </a:rPr>
              <a:t>, vol. 15, no. 1, pp. 1–14, Jan. 2025.</a:t>
            </a:r>
          </a:p>
          <a:p>
            <a:pPr marL="228600" indent="-228600">
              <a:buAutoNum type="arabicPeriod"/>
            </a:pPr>
            <a:endParaRPr lang="en-IN">
              <a:latin typeface="Arial"/>
              <a:cs typeface="Times New Roman"/>
            </a:endParaRPr>
          </a:p>
          <a:p>
            <a:pPr marL="228600" indent="-228600">
              <a:buAutoNum type="arabicPeriod"/>
            </a:pPr>
            <a:r>
              <a:rPr lang="en-IN">
                <a:latin typeface="Arial"/>
                <a:cs typeface="Times New Roman"/>
              </a:rPr>
              <a:t>S.-Y. Park, G. Ayana, and S.-w. Choe, “Squamous Cell Carcinoma Margin Classification Using Vision Transformers from Digital Histopathology Images,” in </a:t>
            </a:r>
            <a:r>
              <a:rPr lang="en-IN" i="1">
                <a:latin typeface="Arial"/>
                <a:cs typeface="Times New Roman"/>
              </a:rPr>
              <a:t>Proc. 2025 Int. Conf. Artificial Intelligence in Information and Communication (ICAIIC)</a:t>
            </a:r>
            <a:r>
              <a:rPr lang="en-IN">
                <a:latin typeface="Arial"/>
                <a:cs typeface="Times New Roman"/>
              </a:rPr>
              <a:t>, IEEE, 2025.</a:t>
            </a:r>
          </a:p>
          <a:p>
            <a:pPr marL="228600" indent="-228600">
              <a:buAutoNum type="arabicPeriod"/>
            </a:pPr>
            <a:endParaRPr lang="en-IN">
              <a:latin typeface="Arial"/>
              <a:cs typeface="Times New Roman"/>
            </a:endParaRPr>
          </a:p>
          <a:p>
            <a:pPr marL="228600" indent="-228600">
              <a:buAutoNum type="arabicPeriod"/>
            </a:pPr>
            <a:r>
              <a:rPr lang="en-IN">
                <a:latin typeface="Arial"/>
                <a:cs typeface="Times New Roman"/>
              </a:rPr>
              <a:t>C. Yang, X. Yu, H. Yang, Z. An, C. Yu, L. Huang, and Y. Xu, “Multi-Teacher Knowledge Distillation with Reinforcement Learning for Visual Recognition,” in </a:t>
            </a:r>
            <a:r>
              <a:rPr lang="en-IN" i="1">
                <a:latin typeface="Arial"/>
                <a:cs typeface="Times New Roman"/>
              </a:rPr>
              <a:t>AAAI 2025 (Oral Presentation)</a:t>
            </a:r>
            <a:r>
              <a:rPr lang="en-IN">
                <a:latin typeface="Arial"/>
                <a:cs typeface="Times New Roman"/>
              </a:rPr>
              <a:t>, 2025.</a:t>
            </a:r>
          </a:p>
          <a:p>
            <a:pPr marL="228600" indent="-228600">
              <a:buAutoNum type="arabicPeriod"/>
            </a:pPr>
            <a:endParaRPr lang="en-IN">
              <a:latin typeface="Arial"/>
              <a:cs typeface="Times New Roman"/>
            </a:endParaRPr>
          </a:p>
          <a:p>
            <a:pPr marL="228600" indent="-228600">
              <a:buAutoNum type="arabicPeriod"/>
            </a:pPr>
            <a:r>
              <a:rPr lang="en-IN">
                <a:latin typeface="Arial"/>
                <a:cs typeface="Times New Roman"/>
              </a:rPr>
              <a:t>Z. Kang, M. Chen, H. Zhang, and X. Liao, “</a:t>
            </a:r>
            <a:r>
              <a:rPr lang="en-IN" err="1">
                <a:latin typeface="Arial"/>
                <a:cs typeface="Times New Roman"/>
              </a:rPr>
              <a:t>EsccNet</a:t>
            </a:r>
            <a:r>
              <a:rPr lang="en-IN">
                <a:latin typeface="Arial"/>
                <a:cs typeface="Times New Roman"/>
              </a:rPr>
              <a:t>: A Hybrid CNN and Transformers Model for Classification of Whole Slide Images of </a:t>
            </a:r>
            <a:r>
              <a:rPr lang="en-IN" err="1">
                <a:latin typeface="Arial"/>
                <a:cs typeface="Times New Roman"/>
              </a:rPr>
              <a:t>Esophageal</a:t>
            </a:r>
            <a:r>
              <a:rPr lang="en-IN">
                <a:latin typeface="Arial"/>
                <a:cs typeface="Times New Roman"/>
              </a:rPr>
              <a:t> SCC.”</a:t>
            </a:r>
          </a:p>
        </p:txBody>
      </p:sp>
    </p:spTree>
    <p:extLst>
      <p:ext uri="{BB962C8B-B14F-4D97-AF65-F5344CB8AC3E}">
        <p14:creationId xmlns:p14="http://schemas.microsoft.com/office/powerpoint/2010/main" val="2126352998"/>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825539" y="1982450"/>
            <a:ext cx="7148684" cy="1446550"/>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800" b="1">
                <a:solidFill>
                  <a:srgbClr val="D47D26"/>
                </a:solidFill>
                <a:latin typeface="Times New Roman" panose="02020603050405020304" pitchFamily="18" charset="0"/>
                <a:cs typeface="Times New Roman" panose="02020603050405020304" pitchFamily="18" charset="0"/>
              </a:rPr>
              <a:t>THANK</a:t>
            </a:r>
            <a:r>
              <a:rPr lang="en-US" sz="8800">
                <a:latin typeface="Times New Roman" panose="02020603050405020304" pitchFamily="18" charset="0"/>
                <a:cs typeface="Times New Roman" panose="02020603050405020304" pitchFamily="18" charset="0"/>
              </a:rPr>
              <a:t> </a:t>
            </a:r>
            <a:r>
              <a:rPr lang="en-US" sz="4800" b="1">
                <a:solidFill>
                  <a:srgbClr val="D47D26"/>
                </a:solidFill>
                <a:latin typeface="Times New Roman" panose="02020603050405020304" pitchFamily="18" charset="0"/>
                <a:cs typeface="Times New Roman" panose="02020603050405020304" pitchFamily="18" charset="0"/>
              </a:rPr>
              <a:t>YOU</a:t>
            </a:r>
            <a:endParaRPr lang="en-US" sz="4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60984619"/>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0A313F9-BB8D-44F1-9DB3-B36A5B02C958}"/>
              </a:ext>
            </a:extLst>
          </p:cNvPr>
          <p:cNvSpPr txBox="1"/>
          <p:nvPr/>
        </p:nvSpPr>
        <p:spPr>
          <a:xfrm>
            <a:off x="5428798" y="188640"/>
            <a:ext cx="4818967" cy="461665"/>
          </a:xfrm>
          <a:prstGeom prst="rect">
            <a:avLst/>
          </a:prstGeom>
          <a:noFill/>
        </p:spPr>
        <p:txBody>
          <a:bodyPr wrap="square" rtlCol="0">
            <a:spAutoFit/>
          </a:bodyPr>
          <a:lstStyle/>
          <a:p>
            <a:r>
              <a:rPr lang="en-IN" sz="2400" b="1">
                <a:solidFill>
                  <a:srgbClr val="D47D26"/>
                </a:solidFill>
                <a:latin typeface="Times New Roman" panose="02020603050405020304" pitchFamily="18" charset="0"/>
                <a:cs typeface="Times New Roman" panose="02020603050405020304" pitchFamily="18" charset="0"/>
              </a:rPr>
              <a:t>FUNCTIONAL REQUIREMENTS</a:t>
            </a:r>
          </a:p>
        </p:txBody>
      </p:sp>
      <p:sp>
        <p:nvSpPr>
          <p:cNvPr id="2" name="TextBox 1">
            <a:extLst>
              <a:ext uri="{FF2B5EF4-FFF2-40B4-BE49-F238E27FC236}">
                <a16:creationId xmlns:a16="http://schemas.microsoft.com/office/drawing/2014/main" id="{B2671F72-D2D6-7D06-F841-96F349F47B46}"/>
              </a:ext>
            </a:extLst>
          </p:cNvPr>
          <p:cNvSpPr txBox="1"/>
          <p:nvPr/>
        </p:nvSpPr>
        <p:spPr>
          <a:xfrm>
            <a:off x="550081" y="1095866"/>
            <a:ext cx="9689505" cy="50783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Arial"/>
                <a:cs typeface="Arial"/>
              </a:rPr>
              <a:t>1. Image Data Preprocessing</a:t>
            </a:r>
          </a:p>
          <a:p>
            <a:pPr marL="742950" lvl="1" indent="-285750">
              <a:buFont typeface="Arial"/>
              <a:buChar char="•"/>
            </a:pPr>
            <a:r>
              <a:rPr lang="en-US">
                <a:latin typeface="Arial"/>
                <a:cs typeface="Arial"/>
              </a:rPr>
              <a:t>Load and Preprocess LC25000 histopathology images</a:t>
            </a:r>
          </a:p>
          <a:p>
            <a:pPr marL="742950" lvl="2" indent="-285750">
              <a:buFont typeface="Arial"/>
              <a:buChar char="•"/>
            </a:pPr>
            <a:r>
              <a:rPr lang="en-US">
                <a:latin typeface="Arial"/>
                <a:cs typeface="Arial"/>
              </a:rPr>
              <a:t>Resize images to 224x224 pixels</a:t>
            </a:r>
          </a:p>
          <a:p>
            <a:pPr marL="742950" lvl="2" indent="-285750">
              <a:buFont typeface="Arial"/>
              <a:buChar char="•"/>
            </a:pPr>
            <a:r>
              <a:rPr lang="en-US">
                <a:latin typeface="Arial"/>
                <a:cs typeface="Arial"/>
              </a:rPr>
              <a:t>Normalize pixel values to the range [0, 1]</a:t>
            </a:r>
          </a:p>
          <a:p>
            <a:pPr marL="742950" lvl="2" indent="-285750">
              <a:buFont typeface="Arial"/>
              <a:buChar char="•"/>
            </a:pPr>
            <a:r>
              <a:rPr lang="en-US">
                <a:latin typeface="Arial"/>
                <a:cs typeface="Arial"/>
              </a:rPr>
              <a:t>Apply data augmentation techniques (rotation, flipping, zoom, brightness)</a:t>
            </a:r>
          </a:p>
          <a:p>
            <a:r>
              <a:rPr lang="en-US" b="1">
                <a:latin typeface="Arial"/>
                <a:cs typeface="Arial"/>
              </a:rPr>
              <a:t>2. Model Training</a:t>
            </a:r>
          </a:p>
          <a:p>
            <a:pPr marL="742950" lvl="1" indent="-285750">
              <a:buFont typeface="Arial"/>
              <a:buChar char="•"/>
            </a:pPr>
            <a:r>
              <a:rPr lang="en-US">
                <a:latin typeface="Arial"/>
                <a:cs typeface="Arial"/>
              </a:rPr>
              <a:t>Train Multiple Deep Learning Models for binary classification</a:t>
            </a:r>
          </a:p>
          <a:p>
            <a:pPr marL="742950" lvl="2" indent="-285750">
              <a:buFont typeface="Arial"/>
              <a:buChar char="•"/>
            </a:pPr>
            <a:r>
              <a:rPr lang="en-US">
                <a:latin typeface="Arial"/>
                <a:cs typeface="Arial"/>
              </a:rPr>
              <a:t>Utilize models like </a:t>
            </a:r>
            <a:r>
              <a:rPr lang="en-US" err="1">
                <a:latin typeface="Arial"/>
                <a:cs typeface="Arial"/>
              </a:rPr>
              <a:t>DenseNet</a:t>
            </a:r>
            <a:r>
              <a:rPr lang="en-US">
                <a:latin typeface="Arial"/>
                <a:cs typeface="Arial"/>
              </a:rPr>
              <a:t>, </a:t>
            </a:r>
            <a:r>
              <a:rPr lang="en-US" err="1">
                <a:latin typeface="Arial"/>
                <a:cs typeface="Arial"/>
              </a:rPr>
              <a:t>ConvNeXt</a:t>
            </a:r>
            <a:r>
              <a:rPr lang="en-US">
                <a:latin typeface="Arial"/>
                <a:cs typeface="Arial"/>
              </a:rPr>
              <a:t>, EfficientNetB3, InceptionV3</a:t>
            </a:r>
          </a:p>
          <a:p>
            <a:pPr marL="742950" lvl="2" indent="-285750">
              <a:buFont typeface="Arial"/>
              <a:buChar char="•"/>
            </a:pPr>
            <a:r>
              <a:rPr lang="en-US">
                <a:latin typeface="Arial"/>
                <a:cs typeface="Arial"/>
              </a:rPr>
              <a:t>Implement Hyperparameter Tuning (learning rates, batch sizes, optimizers)</a:t>
            </a:r>
          </a:p>
          <a:p>
            <a:r>
              <a:rPr lang="en-US" b="1">
                <a:latin typeface="Arial"/>
                <a:cs typeface="Arial"/>
              </a:rPr>
              <a:t>3. Evaluation and Metrics</a:t>
            </a:r>
          </a:p>
          <a:p>
            <a:pPr marL="742950" lvl="1" indent="-285750">
              <a:buFont typeface="Arial"/>
              <a:buChar char="•"/>
            </a:pPr>
            <a:r>
              <a:rPr lang="en-US">
                <a:latin typeface="Arial"/>
                <a:cs typeface="Arial"/>
              </a:rPr>
              <a:t>Evaluate Models with standard metrics</a:t>
            </a:r>
          </a:p>
          <a:p>
            <a:pPr marL="742950" lvl="2" indent="-285750">
              <a:buFont typeface="Arial"/>
              <a:buChar char="•"/>
            </a:pPr>
            <a:r>
              <a:rPr lang="en-US">
                <a:latin typeface="Arial"/>
                <a:cs typeface="Arial"/>
              </a:rPr>
              <a:t>Accuracy, Precision, Recall (Sensitivity), F1-score</a:t>
            </a:r>
          </a:p>
          <a:p>
            <a:pPr marL="742950" lvl="2" indent="-285750">
              <a:buFont typeface="Arial"/>
              <a:buChar char="•"/>
            </a:pPr>
            <a:r>
              <a:rPr lang="en-US">
                <a:latin typeface="Arial"/>
                <a:cs typeface="Arial"/>
              </a:rPr>
              <a:t>Confusion Matrix for class-wise performance</a:t>
            </a:r>
          </a:p>
          <a:p>
            <a:r>
              <a:rPr lang="en-US" b="1">
                <a:latin typeface="Arial"/>
                <a:cs typeface="Arial"/>
              </a:rPr>
              <a:t>4. Visualization of Results</a:t>
            </a:r>
          </a:p>
          <a:p>
            <a:pPr marL="742950" lvl="1" indent="-285750">
              <a:buFont typeface="Arial"/>
              <a:buChar char="•"/>
            </a:pPr>
            <a:r>
              <a:rPr lang="en-US">
                <a:latin typeface="Arial"/>
                <a:cs typeface="Arial"/>
              </a:rPr>
              <a:t>Visualize results with:</a:t>
            </a:r>
          </a:p>
          <a:p>
            <a:pPr marL="742950" lvl="2" indent="-285750">
              <a:buFont typeface="Arial"/>
              <a:buChar char="•"/>
            </a:pPr>
            <a:r>
              <a:rPr lang="en-US">
                <a:latin typeface="Arial"/>
                <a:cs typeface="Arial"/>
              </a:rPr>
              <a:t>Performance plots (Accuracy, Loss)</a:t>
            </a:r>
          </a:p>
          <a:p>
            <a:pPr marL="742950" lvl="2" indent="-285750">
              <a:buFont typeface="Arial"/>
              <a:buChar char="•"/>
            </a:pPr>
            <a:r>
              <a:rPr lang="en-US">
                <a:latin typeface="Arial"/>
                <a:cs typeface="Arial"/>
              </a:rPr>
              <a:t>Confusion Matrices</a:t>
            </a:r>
          </a:p>
          <a:p>
            <a:pPr marL="742950" lvl="2" indent="-285750">
              <a:buFont typeface="Arial"/>
              <a:buChar char="•"/>
            </a:pPr>
            <a:r>
              <a:rPr lang="en-US">
                <a:latin typeface="Arial"/>
                <a:cs typeface="Arial"/>
              </a:rPr>
              <a:t>Training curves for comparison</a:t>
            </a:r>
          </a:p>
        </p:txBody>
      </p:sp>
    </p:spTree>
    <p:extLst>
      <p:ext uri="{BB962C8B-B14F-4D97-AF65-F5344CB8AC3E}">
        <p14:creationId xmlns:p14="http://schemas.microsoft.com/office/powerpoint/2010/main" val="30425119"/>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Custom</PresentationFormat>
  <Slides>38</Slides>
  <Notes>24</Notes>
  <HiddenSlides>3</HiddenSlides>
  <ScaleCrop>false</ScaleCrop>
  <HeadingPairs>
    <vt:vector size="4" baseType="variant">
      <vt:variant>
        <vt:lpstr>Theme</vt:lpstr>
      </vt:variant>
      <vt:variant>
        <vt:i4>1</vt:i4>
      </vt:variant>
      <vt:variant>
        <vt:lpstr>Slide Titles</vt:lpstr>
      </vt:variant>
      <vt:variant>
        <vt:i4>38</vt:i4>
      </vt:variant>
    </vt:vector>
  </HeadingPairs>
  <TitlesOfParts>
    <vt:vector size="39" baseType="lpstr">
      <vt:lpstr>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MAHE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MAHE</dc:creator>
  <cp:revision>2</cp:revision>
  <dcterms:created xsi:type="dcterms:W3CDTF">2007-08-14T09:37:21Z</dcterms:created>
  <dcterms:modified xsi:type="dcterms:W3CDTF">2025-11-17T16:32:31Z</dcterms:modified>
</cp:coreProperties>
</file>